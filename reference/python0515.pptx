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5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8" r:id="rId14"/>
    <p:sldId id="309" r:id="rId15"/>
    <p:sldId id="310" r:id="rId16"/>
    <p:sldId id="311" r:id="rId17"/>
    <p:sldId id="312" r:id="rId18"/>
    <p:sldId id="313" r:id="rId19"/>
    <p:sldId id="323" r:id="rId20"/>
    <p:sldId id="314" r:id="rId21"/>
    <p:sldId id="315" r:id="rId22"/>
    <p:sldId id="324" r:id="rId23"/>
    <p:sldId id="326" r:id="rId24"/>
    <p:sldId id="317" r:id="rId25"/>
    <p:sldId id="318" r:id="rId26"/>
    <p:sldId id="319" r:id="rId27"/>
    <p:sldId id="320" r:id="rId28"/>
    <p:sldId id="321" r:id="rId29"/>
    <p:sldId id="279" r:id="rId30"/>
    <p:sldId id="32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규란" initials="김" lastIdx="2" clrIdx="0">
    <p:extLst>
      <p:ext uri="{19B8F6BF-5375-455C-9EA6-DF929625EA0E}">
        <p15:presenceInfo xmlns:p15="http://schemas.microsoft.com/office/powerpoint/2012/main" userId="d425e500-409d-4ea4-9f39-fde5a3d8c6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8"/>
    <p:restoredTop sz="94580"/>
  </p:normalViewPr>
  <p:slideViewPr>
    <p:cSldViewPr snapToGrid="0" snapToObjects="1">
      <p:cViewPr>
        <p:scale>
          <a:sx n="65" d="100"/>
          <a:sy n="65" d="100"/>
        </p:scale>
        <p:origin x="-16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A81DE-25F3-DC44-B9D3-A5E7D749502C}" type="datetimeFigureOut">
              <a:rPr lang="en-US" smtClean="0"/>
              <a:t>4/29/18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B462C-2B31-3E40-8A70-11BBFD977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4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4/29/18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4/29/18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4/29/18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4/29/18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C218-B073-B744-B1FE-F7294467A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A2082-793E-9F49-B197-110F562F2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20180515</a:t>
            </a:r>
          </a:p>
        </p:txBody>
      </p:sp>
    </p:spTree>
    <p:extLst>
      <p:ext uri="{BB962C8B-B14F-4D97-AF65-F5344CB8AC3E}">
        <p14:creationId xmlns:p14="http://schemas.microsoft.com/office/powerpoint/2010/main" val="137766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FE63-82B6-C541-9C02-68F7B6E3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F507-A2E4-6546-A3C8-4EB99796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84417"/>
            <a:ext cx="10178322" cy="4395176"/>
          </a:xfrm>
        </p:spPr>
        <p:txBody>
          <a:bodyPr>
            <a:normAutofit/>
          </a:bodyPr>
          <a:lstStyle/>
          <a:p>
            <a:r>
              <a:rPr lang="ko-KR" altLang="en-US" sz="2800" dirty="0" err="1">
                <a:solidFill>
                  <a:schemeClr val="tx1"/>
                </a:solidFill>
              </a:rPr>
              <a:t>제어문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</a:rPr>
              <a:t>1)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Boolean</a:t>
            </a: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   2) </a:t>
            </a:r>
            <a:r>
              <a:rPr lang="ko-KR" altLang="en-US" sz="2800" dirty="0">
                <a:solidFill>
                  <a:schemeClr val="tx1"/>
                </a:solidFill>
              </a:rPr>
              <a:t>논리 연산자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</a:rPr>
              <a:t>3)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if </a:t>
            </a:r>
            <a:r>
              <a:rPr lang="ko-KR" altLang="en-US" sz="2800" dirty="0">
                <a:solidFill>
                  <a:schemeClr val="tx1"/>
                </a:solidFill>
              </a:rPr>
              <a:t>문 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</a:rPr>
              <a:t>4)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for </a:t>
            </a:r>
            <a:r>
              <a:rPr lang="ko-KR" altLang="en-US" sz="2800" dirty="0">
                <a:solidFill>
                  <a:schemeClr val="tx1"/>
                </a:solidFill>
              </a:rPr>
              <a:t>문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</a:rPr>
              <a:t>5)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while </a:t>
            </a:r>
            <a:r>
              <a:rPr lang="ko-KR" altLang="en-US" sz="2800" dirty="0">
                <a:solidFill>
                  <a:schemeClr val="tx1"/>
                </a:solidFill>
              </a:rPr>
              <a:t>문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>
                <a:solidFill>
                  <a:schemeClr val="tx1"/>
                </a:solidFill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</a:rPr>
              <a:t>6)</a:t>
            </a:r>
            <a:r>
              <a:rPr lang="ko-KR" altLang="en-US" sz="2800" dirty="0">
                <a:solidFill>
                  <a:schemeClr val="tx1"/>
                </a:solidFill>
              </a:rPr>
              <a:t> 중첩 </a:t>
            </a:r>
            <a:r>
              <a:rPr lang="en-US" altLang="ko-KR" sz="2800" dirty="0">
                <a:solidFill>
                  <a:schemeClr val="tx1"/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62244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제어문이</a:t>
            </a:r>
            <a:r>
              <a:rPr lang="ko-KR" altLang="en-US" b="1" dirty="0"/>
              <a:t> 뭘까</a:t>
            </a:r>
            <a:r>
              <a:rPr lang="en-US" altLang="ko-KR" b="1" dirty="0"/>
              <a:t>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알고리즘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비가 온다 </a:t>
            </a:r>
            <a:r>
              <a:rPr lang="en-US" altLang="ko-KR" sz="3200" b="1" dirty="0">
                <a:solidFill>
                  <a:schemeClr val="tx1"/>
                </a:solidFill>
              </a:rPr>
              <a:t>-&gt;</a:t>
            </a:r>
            <a:r>
              <a:rPr lang="ko-KR" altLang="en-US" sz="3200" b="1" dirty="0">
                <a:solidFill>
                  <a:schemeClr val="tx1"/>
                </a:solidFill>
              </a:rPr>
              <a:t> 우산을 챙긴다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비가 안 온다 </a:t>
            </a:r>
            <a:r>
              <a:rPr lang="en-US" altLang="ko-KR" sz="3200" b="1" dirty="0">
                <a:solidFill>
                  <a:schemeClr val="tx1"/>
                </a:solidFill>
              </a:rPr>
              <a:t>-&gt;</a:t>
            </a:r>
            <a:r>
              <a:rPr lang="ko-KR" altLang="en-US" sz="3200" b="1" dirty="0">
                <a:solidFill>
                  <a:schemeClr val="tx1"/>
                </a:solidFill>
              </a:rPr>
              <a:t> 우산을 챙기지 않는다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3200" b="1" dirty="0" err="1">
                <a:solidFill>
                  <a:schemeClr val="tx1"/>
                </a:solidFill>
              </a:rPr>
              <a:t>제어문중에</a:t>
            </a:r>
            <a:r>
              <a:rPr lang="ko-KR" altLang="en-US" sz="3200" b="1" dirty="0">
                <a:solidFill>
                  <a:schemeClr val="tx1"/>
                </a:solidFill>
              </a:rPr>
              <a:t> 반복적으로 코드를 수행하는 것은 </a:t>
            </a:r>
            <a:r>
              <a:rPr lang="ko-KR" altLang="en-US" sz="3200" b="1" dirty="0" err="1">
                <a:solidFill>
                  <a:schemeClr val="tx1"/>
                </a:solidFill>
              </a:rPr>
              <a:t>반복문</a:t>
            </a:r>
            <a:endParaRPr lang="en-US" altLang="ko-KR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84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1)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en-US" altLang="ko-KR" cap="none" dirty="0">
                <a:latin typeface="Arial Rounded MT Bold" panose="020F0704030504030204" pitchFamily="34" charset="77"/>
              </a:rPr>
              <a:t>Boolean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Boolean</a:t>
            </a:r>
            <a:r>
              <a:rPr lang="ko-KR" altLang="en-US" sz="2800" dirty="0">
                <a:solidFill>
                  <a:schemeClr val="tx1"/>
                </a:solidFill>
              </a:rPr>
              <a:t>은 </a:t>
            </a:r>
            <a:r>
              <a:rPr lang="en-US" altLang="ko-KR" sz="2800" dirty="0" err="1">
                <a:solidFill>
                  <a:schemeClr val="tx1"/>
                </a:solidFill>
              </a:rPr>
              <a:t>str</a:t>
            </a:r>
            <a:r>
              <a:rPr lang="en-US" altLang="ko-KR" sz="2800" dirty="0">
                <a:solidFill>
                  <a:schemeClr val="tx1"/>
                </a:solidFill>
              </a:rPr>
              <a:t>,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 err="1">
                <a:solidFill>
                  <a:schemeClr val="tx1"/>
                </a:solidFill>
              </a:rPr>
              <a:t>int</a:t>
            </a:r>
            <a:r>
              <a:rPr lang="en-US" altLang="ko-KR" sz="2800" dirty="0">
                <a:solidFill>
                  <a:schemeClr val="tx1"/>
                </a:solidFill>
              </a:rPr>
              <a:t> </a:t>
            </a:r>
            <a:r>
              <a:rPr lang="ko-KR" altLang="en-US" sz="2800" dirty="0">
                <a:solidFill>
                  <a:schemeClr val="tx1"/>
                </a:solidFill>
              </a:rPr>
              <a:t>같은 기본 </a:t>
            </a:r>
            <a:r>
              <a:rPr lang="ko-KR" altLang="en-US" sz="2800" dirty="0" err="1">
                <a:solidFill>
                  <a:schemeClr val="tx1"/>
                </a:solidFill>
              </a:rPr>
              <a:t>자료형이다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Boolean</a:t>
            </a:r>
            <a:r>
              <a:rPr lang="ko-KR" altLang="en-US" sz="2800" dirty="0">
                <a:solidFill>
                  <a:schemeClr val="tx1"/>
                </a:solidFill>
              </a:rPr>
              <a:t>은 </a:t>
            </a:r>
            <a:r>
              <a:rPr lang="en-US" altLang="ko-KR" sz="2800" dirty="0">
                <a:solidFill>
                  <a:schemeClr val="tx1"/>
                </a:solidFill>
              </a:rPr>
              <a:t>True, False 2</a:t>
            </a:r>
            <a:r>
              <a:rPr lang="ko-KR" altLang="en-US" sz="2800" dirty="0">
                <a:solidFill>
                  <a:schemeClr val="tx1"/>
                </a:solidFill>
              </a:rPr>
              <a:t>가지 값만 </a:t>
            </a:r>
            <a:r>
              <a:rPr lang="en-US" altLang="ko-KR" sz="2800" dirty="0">
                <a:solidFill>
                  <a:schemeClr val="tx1"/>
                </a:solidFill>
              </a:rPr>
              <a:t>binding</a:t>
            </a:r>
            <a:r>
              <a:rPr lang="ko-KR" altLang="en-US" sz="2800" dirty="0">
                <a:solidFill>
                  <a:schemeClr val="tx1"/>
                </a:solidFill>
              </a:rPr>
              <a:t> 할 수 있다</a:t>
            </a:r>
            <a:r>
              <a:rPr lang="en-US" altLang="ko-KR" sz="2800" dirty="0">
                <a:solidFill>
                  <a:schemeClr val="tx1"/>
                </a:solidFill>
              </a:rPr>
              <a:t>.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1800" dirty="0">
                <a:solidFill>
                  <a:schemeClr val="tx1"/>
                </a:solidFill>
              </a:rPr>
              <a:t>(</a:t>
            </a:r>
            <a:r>
              <a:rPr lang="ko-KR" altLang="en-US" sz="1800" dirty="0">
                <a:solidFill>
                  <a:schemeClr val="tx1"/>
                </a:solidFill>
              </a:rPr>
              <a:t>대소문자 주의</a:t>
            </a:r>
            <a:r>
              <a:rPr lang="en-US" altLang="ko-KR" sz="18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  <a:r>
              <a:rPr lang="ko-KR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와 </a:t>
            </a:r>
            <a:r>
              <a:rPr lang="en-US" altLang="ko-KR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 </a:t>
            </a:r>
            <a:r>
              <a:rPr lang="ko-KR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변수에 각각 </a:t>
            </a:r>
            <a:r>
              <a:rPr lang="en-US" altLang="ko-KR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True</a:t>
            </a:r>
            <a:r>
              <a:rPr lang="ko-KR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와 </a:t>
            </a:r>
            <a:r>
              <a:rPr lang="en-US" altLang="ko-KR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False </a:t>
            </a:r>
            <a:r>
              <a:rPr lang="ko-KR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값을 </a:t>
            </a:r>
            <a:r>
              <a:rPr lang="en-US" altLang="ko-KR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binding</a:t>
            </a:r>
            <a:r>
              <a:rPr lang="ko-KR" alt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해보세요</a:t>
            </a:r>
            <a:r>
              <a:rPr lang="en-US" altLang="ko-KR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!</a:t>
            </a: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type(a)</a:t>
            </a:r>
            <a:r>
              <a:rPr lang="ko-KR" altLang="en-US" sz="2800" dirty="0" err="1">
                <a:solidFill>
                  <a:schemeClr val="tx1"/>
                </a:solidFill>
              </a:rPr>
              <a:t>를</a:t>
            </a:r>
            <a:r>
              <a:rPr lang="ko-KR" altLang="en-US" sz="2800" dirty="0">
                <a:solidFill>
                  <a:schemeClr val="tx1"/>
                </a:solidFill>
              </a:rPr>
              <a:t> 해보면 </a:t>
            </a:r>
            <a:r>
              <a:rPr lang="en-US" altLang="ko-KR" sz="2800" dirty="0">
                <a:solidFill>
                  <a:schemeClr val="tx1"/>
                </a:solidFill>
              </a:rPr>
              <a:t>a </a:t>
            </a:r>
            <a:r>
              <a:rPr lang="ko-KR" altLang="en-US" sz="2800" dirty="0">
                <a:solidFill>
                  <a:schemeClr val="tx1"/>
                </a:solidFill>
              </a:rPr>
              <a:t>값의 </a:t>
            </a:r>
            <a:r>
              <a:rPr lang="en-US" altLang="ko-KR" sz="2800" dirty="0">
                <a:solidFill>
                  <a:schemeClr val="tx1"/>
                </a:solidFill>
              </a:rPr>
              <a:t>class</a:t>
            </a:r>
            <a:r>
              <a:rPr lang="ko-KR" altLang="en-US" sz="2800" dirty="0" err="1">
                <a:solidFill>
                  <a:schemeClr val="tx1"/>
                </a:solidFill>
              </a:rPr>
              <a:t>를</a:t>
            </a:r>
            <a:r>
              <a:rPr lang="ko-KR" altLang="en-US" sz="2800" dirty="0">
                <a:solidFill>
                  <a:schemeClr val="tx1"/>
                </a:solidFill>
              </a:rPr>
              <a:t> 알 수 있어요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r>
              <a:rPr lang="ko-KR" altLang="en-US" sz="3200" dirty="0"/>
              <a:t> 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93168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scalloped circle">
            <a:extLst>
              <a:ext uri="{FF2B5EF4-FFF2-40B4-BE49-F238E27FC236}">
                <a16:creationId xmlns:a16="http://schemas.microsoft.com/office/drawing/2014/main" id="{B217C2AD-51B4-40CE-A71F-F5D3F846D9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 title="left edge border">
            <a:extLst>
              <a:ext uri="{FF2B5EF4-FFF2-40B4-BE49-F238E27FC236}">
                <a16:creationId xmlns:a16="http://schemas.microsoft.com/office/drawing/2014/main" id="{6F1BF92E-23CF-4BFE-9E1F-C359BACFA3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93D87A-7818-4594-B3D1-C9CF3747B78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75529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2" title="right scallop background shape">
            <a:extLst>
              <a:ext uri="{FF2B5EF4-FFF2-40B4-BE49-F238E27FC236}">
                <a16:creationId xmlns:a16="http://schemas.microsoft.com/office/drawing/2014/main" id="{29BA41EB-EC8E-4167-987C-F07347C193D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 flipH="1">
            <a:off x="6909478" y="0"/>
            <a:ext cx="5282519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C24073-62C6-614B-BB5D-8FDE7984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212" y="643464"/>
            <a:ext cx="3777053" cy="5574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9" y="954923"/>
            <a:ext cx="5875694" cy="4656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ko-KR" sz="6600" spc="800" dirty="0">
                <a:solidFill>
                  <a:srgbClr val="2A1A00"/>
                </a:solidFill>
              </a:rPr>
              <a:t>Boolean </a:t>
            </a:r>
            <a:r>
              <a:rPr lang="ko-KR" altLang="en-US" sz="6600" spc="800" dirty="0">
                <a:solidFill>
                  <a:srgbClr val="2A1A00"/>
                </a:solidFill>
              </a:rPr>
              <a:t>언제 쓰나</a:t>
            </a:r>
            <a:r>
              <a:rPr lang="en-US" altLang="ko-KR" sz="6600" spc="800" dirty="0">
                <a:solidFill>
                  <a:srgbClr val="2A1A00"/>
                </a:solidFill>
              </a:rPr>
              <a:t>?</a:t>
            </a:r>
            <a:endParaRPr lang="en-US" sz="6600" spc="800" dirty="0">
              <a:solidFill>
                <a:srgbClr val="2A1A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58" y="5236315"/>
            <a:ext cx="6157049" cy="80299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ko-KR" sz="2400" b="1" cap="all" spc="400" dirty="0">
                <a:solidFill>
                  <a:srgbClr val="F3F3F2"/>
                </a:solidFill>
              </a:rPr>
              <a:t>Boolean </a:t>
            </a:r>
            <a:r>
              <a:rPr lang="ko-KR" altLang="en-US" sz="2400" b="1" cap="all" spc="400" dirty="0" err="1">
                <a:solidFill>
                  <a:srgbClr val="F3F3F2"/>
                </a:solidFill>
              </a:rPr>
              <a:t>자료형은</a:t>
            </a:r>
            <a:r>
              <a:rPr lang="en-US" altLang="ko-KR" sz="2400" b="1" cap="all" spc="400" dirty="0">
                <a:solidFill>
                  <a:srgbClr val="F3F3F2"/>
                </a:solidFill>
              </a:rPr>
              <a:t> python</a:t>
            </a:r>
            <a:r>
              <a:rPr lang="ko-KR" altLang="en-US" sz="2400" b="1" cap="all" spc="400" dirty="0">
                <a:solidFill>
                  <a:srgbClr val="F3F3F2"/>
                </a:solidFill>
              </a:rPr>
              <a:t>의 비교 연산자에서 많이 사용된다</a:t>
            </a:r>
            <a:r>
              <a:rPr lang="en-US" altLang="ko-KR" sz="2400" b="1" cap="all" spc="400" dirty="0">
                <a:solidFill>
                  <a:srgbClr val="F3F3F2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94506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Arial Rounded MT Bold" panose="020F0704030504030204" pitchFamily="34" charset="77"/>
              </a:rPr>
              <a:t>비교연산자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/>
              <a:t> </a:t>
            </a:r>
            <a:r>
              <a:rPr lang="ko-KR" altLang="en-US" sz="2800" dirty="0">
                <a:solidFill>
                  <a:schemeClr val="tx1"/>
                </a:solidFill>
              </a:rPr>
              <a:t>비교 연산자를 기준으로 왼쪽과 오른쪽에 비교할 값이 있다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D4F77-8D64-7444-B918-F136AEB2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079" y="2394098"/>
            <a:ext cx="1887870" cy="40454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96D0A-ACC9-4942-85CC-9A85C12D3D57}"/>
              </a:ext>
            </a:extLst>
          </p:cNvPr>
          <p:cNvSpPr txBox="1"/>
          <p:nvPr/>
        </p:nvSpPr>
        <p:spPr>
          <a:xfrm>
            <a:off x="3750350" y="2394098"/>
            <a:ext cx="5339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boolean</a:t>
            </a:r>
            <a:r>
              <a:rPr lang="ko-KR" altLang="en-US" dirty="0" err="1"/>
              <a:t>자료형은</a:t>
            </a:r>
            <a:r>
              <a:rPr lang="ko-KR" altLang="en-US" dirty="0"/>
              <a:t> 연산자의 </a:t>
            </a:r>
            <a:r>
              <a:rPr lang="ko-KR" altLang="en-US" dirty="0" err="1"/>
              <a:t>반환값으로</a:t>
            </a:r>
            <a:r>
              <a:rPr lang="ko-KR" altLang="en-US" dirty="0"/>
              <a:t> 자주 사용됨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A09DE-6314-2E41-9108-614F94402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49" y="2822997"/>
            <a:ext cx="2792969" cy="813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0C8FBE-E08A-0845-A666-450B1C1A96E3}"/>
              </a:ext>
            </a:extLst>
          </p:cNvPr>
          <p:cNvSpPr txBox="1"/>
          <p:nvPr/>
        </p:nvSpPr>
        <p:spPr>
          <a:xfrm>
            <a:off x="3750349" y="3695901"/>
            <a:ext cx="346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비교 연산자는 </a:t>
            </a:r>
            <a:r>
              <a:rPr lang="en-US" altLang="ko-KR" dirty="0" err="1"/>
              <a:t>str</a:t>
            </a:r>
            <a:r>
              <a:rPr lang="ko-KR" altLang="en-US" dirty="0"/>
              <a:t>에도 적용 가능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965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2)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ko-KR" altLang="en-US" dirty="0" err="1">
                <a:latin typeface="Arial Rounded MT Bold" panose="020F0704030504030204" pitchFamily="34" charset="77"/>
              </a:rPr>
              <a:t>논리연산자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and,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or,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not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(</a:t>
            </a:r>
            <a:r>
              <a:rPr lang="ko-KR" altLang="en-US" sz="3200" dirty="0">
                <a:solidFill>
                  <a:schemeClr val="tx1"/>
                </a:solidFill>
              </a:rPr>
              <a:t>다들 아실 것이라고 </a:t>
            </a:r>
            <a:r>
              <a:rPr lang="ko-KR" altLang="en-US" sz="3200" dirty="0" err="1">
                <a:solidFill>
                  <a:schemeClr val="tx1"/>
                </a:solidFill>
              </a:rPr>
              <a:t>생각합니다ㅎㅎ</a:t>
            </a:r>
            <a:r>
              <a:rPr lang="en-US" altLang="ko-KR" sz="32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3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0EEE7-E443-A54E-852D-CB1DA4A87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2361528"/>
            <a:ext cx="8893864" cy="312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5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EDD393-C952-8243-A463-1B9C8F2AD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193" y="3522563"/>
            <a:ext cx="5176744" cy="1754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2778B4-391B-FE44-BC7E-EBF6FA75C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193" y="1811059"/>
            <a:ext cx="5176744" cy="15506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en-US" altLang="ko-KR" sz="4400">
                <a:latin typeface="Arial Rounded MT Bold" panose="020F0704030504030204" pitchFamily="34" charset="77"/>
              </a:rPr>
              <a:t>3)</a:t>
            </a:r>
            <a:r>
              <a:rPr lang="ko-KR" altLang="en-US" sz="4400">
                <a:latin typeface="Arial Rounded MT Bold" panose="020F0704030504030204" pitchFamily="34" charset="77"/>
              </a:rPr>
              <a:t> 파이썬 </a:t>
            </a:r>
            <a:r>
              <a:rPr lang="en-US" altLang="ko-KR" sz="4400" cap="none">
                <a:latin typeface="Arial Rounded MT Bold" panose="020F0704030504030204" pitchFamily="34" charset="77"/>
              </a:rPr>
              <a:t>if</a:t>
            </a:r>
            <a:r>
              <a:rPr lang="ko-KR" altLang="en-US" sz="4400" cap="none">
                <a:latin typeface="Arial Rounded MT Bold" panose="020F0704030504030204" pitchFamily="34" charset="77"/>
              </a:rPr>
              <a:t>문</a:t>
            </a:r>
            <a:endParaRPr lang="en-US" sz="440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/>
              <a:t>조건에 따라 코드를 다르게 수행하는 </a:t>
            </a:r>
            <a:r>
              <a:rPr lang="ko-KR" altLang="en-US" err="1"/>
              <a:t>조건문</a:t>
            </a:r>
            <a:r>
              <a:rPr lang="en-US" altLang="ko-KR"/>
              <a:t>!</a:t>
            </a:r>
          </a:p>
          <a:p>
            <a:pPr marL="0" indent="0">
              <a:buNone/>
            </a:pPr>
            <a:r>
              <a:rPr lang="en-US" altLang="ko-KR"/>
              <a:t>ex) ‘ </a:t>
            </a:r>
            <a:r>
              <a:rPr lang="en-US" altLang="ko-KR" err="1"/>
              <a:t>github</a:t>
            </a:r>
            <a:r>
              <a:rPr lang="ko-KR" altLang="en-US"/>
              <a:t> 주식이 </a:t>
            </a:r>
            <a:r>
              <a:rPr lang="en-US" altLang="ko-KR"/>
              <a:t>980</a:t>
            </a:r>
            <a:r>
              <a:rPr lang="ko-KR" altLang="en-US"/>
              <a:t>원이면 </a:t>
            </a:r>
            <a:r>
              <a:rPr lang="en-US" altLang="ko-KR"/>
              <a:t>100</a:t>
            </a:r>
            <a:r>
              <a:rPr lang="ko-KR" altLang="en-US"/>
              <a:t>주 매수</a:t>
            </a:r>
            <a:r>
              <a:rPr lang="en-US" altLang="ko-KR"/>
              <a:t>’</a:t>
            </a:r>
          </a:p>
          <a:p>
            <a:pPr marL="0" indent="0">
              <a:buNone/>
            </a:pPr>
            <a:r>
              <a:rPr lang="ko-KR" altLang="en-US"/>
              <a:t>      </a:t>
            </a:r>
            <a:r>
              <a:rPr lang="en-US" altLang="ko-KR"/>
              <a:t>‘</a:t>
            </a:r>
            <a:r>
              <a:rPr lang="ko-KR" altLang="en-US"/>
              <a:t> </a:t>
            </a:r>
            <a:r>
              <a:rPr lang="en-US" altLang="ko-KR" err="1"/>
              <a:t>github</a:t>
            </a:r>
            <a:r>
              <a:rPr lang="ko-KR" altLang="en-US"/>
              <a:t> 주식이 </a:t>
            </a:r>
            <a:r>
              <a:rPr lang="en-US" altLang="ko-KR"/>
              <a:t>999</a:t>
            </a:r>
            <a:r>
              <a:rPr lang="ko-KR" altLang="en-US"/>
              <a:t>원이면 </a:t>
            </a:r>
            <a:r>
              <a:rPr lang="en-US" altLang="ko-KR"/>
              <a:t>100</a:t>
            </a:r>
            <a:r>
              <a:rPr lang="ko-KR" altLang="en-US"/>
              <a:t>주 매도</a:t>
            </a:r>
            <a:r>
              <a:rPr lang="en-US" altLang="ko-KR"/>
              <a:t>’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어떻게 하면 될까요</a:t>
            </a:r>
            <a:r>
              <a:rPr lang="en-US" altLang="ko-KR"/>
              <a:t>?!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876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Arial Rounded MT Bold" panose="020F0704030504030204" pitchFamily="34" charset="77"/>
              </a:rPr>
              <a:t>파이썬</a:t>
            </a:r>
            <a:r>
              <a:rPr lang="ko-KR" altLang="en-US" dirty="0">
                <a:latin typeface="Arial Rounded MT Bold" panose="020F0704030504030204" pitchFamily="34" charset="77"/>
              </a:rPr>
              <a:t> 문법</a:t>
            </a:r>
            <a:r>
              <a:rPr lang="en-US" altLang="ko-KR" dirty="0">
                <a:latin typeface="Arial Rounded MT Bold" panose="020F0704030504030204" pitchFamily="34" charset="77"/>
              </a:rPr>
              <a:t>~!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123" y="1598614"/>
            <a:ext cx="4454877" cy="8894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첫 문장은 </a:t>
            </a:r>
            <a:r>
              <a:rPr lang="en-US" altLang="ko-KR" sz="3200" b="1" dirty="0" err="1">
                <a:solidFill>
                  <a:schemeClr val="tx1"/>
                </a:solidFill>
              </a:rPr>
              <a:t>github_price</a:t>
            </a:r>
            <a:r>
              <a:rPr lang="ko-KR" altLang="en-US" sz="3200" b="1" dirty="0">
                <a:solidFill>
                  <a:schemeClr val="tx1"/>
                </a:solidFill>
              </a:rPr>
              <a:t>에 </a:t>
            </a:r>
            <a:r>
              <a:rPr lang="en-US" altLang="ko-KR" sz="3200" b="1" dirty="0">
                <a:solidFill>
                  <a:schemeClr val="tx1"/>
                </a:solidFill>
              </a:rPr>
              <a:t>950</a:t>
            </a:r>
            <a:r>
              <a:rPr lang="ko-KR" altLang="en-US" sz="3200" b="1" dirty="0">
                <a:solidFill>
                  <a:schemeClr val="tx1"/>
                </a:solidFill>
              </a:rPr>
              <a:t>이라는 변수를 바인딩 하는 것입니다</a:t>
            </a:r>
            <a:r>
              <a:rPr lang="en-US" altLang="ko-KR" sz="3200" b="1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A3ECB-2091-2A4B-A3D0-8D1EF2D3A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78" y="3341313"/>
            <a:ext cx="8769905" cy="1698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5C7C4-29E1-4C44-9196-3CCB9F7B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79" y="1614600"/>
            <a:ext cx="5176744" cy="1550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375BFD-FFB1-E94A-8128-DE960C2C2F7D}"/>
              </a:ext>
            </a:extLst>
          </p:cNvPr>
          <p:cNvSpPr txBox="1"/>
          <p:nvPr/>
        </p:nvSpPr>
        <p:spPr>
          <a:xfrm>
            <a:off x="1798378" y="5215909"/>
            <a:ext cx="79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들여쓰기는 </a:t>
            </a:r>
            <a:r>
              <a:rPr lang="en-US" altLang="ko-KR" dirty="0"/>
              <a:t>tab</a:t>
            </a:r>
            <a:r>
              <a:rPr lang="ko-KR" altLang="en-US" dirty="0"/>
              <a:t>이나 보통 </a:t>
            </a:r>
            <a:r>
              <a:rPr lang="en-US" altLang="ko-KR" dirty="0"/>
              <a:t>4</a:t>
            </a:r>
            <a:r>
              <a:rPr lang="ko-KR" altLang="en-US" dirty="0"/>
              <a:t>칸을 띄면 됩니다</a:t>
            </a:r>
            <a:r>
              <a:rPr lang="en-US" altLang="ko-KR" dirty="0"/>
              <a:t>!(</a:t>
            </a:r>
            <a:r>
              <a:rPr lang="ko-KR" altLang="en-US" dirty="0"/>
              <a:t>같은 개수의 공백이면 됩니다</a:t>
            </a:r>
            <a:r>
              <a:rPr lang="en-US" altLang="ko-K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7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ko-KR" altLang="en-US" sz="4400">
                <a:latin typeface="Arial Rounded MT Bold" panose="020F0704030504030204" pitchFamily="34" charset="77"/>
              </a:rPr>
              <a:t>이게 아주 간단한 자동 매수</a:t>
            </a:r>
            <a:r>
              <a:rPr lang="en-US" altLang="ko-KR" sz="4400">
                <a:latin typeface="Arial Rounded MT Bold" panose="020F0704030504030204" pitchFamily="34" charset="77"/>
              </a:rPr>
              <a:t>/</a:t>
            </a:r>
            <a:r>
              <a:rPr lang="ko-KR" altLang="en-US" sz="4400">
                <a:latin typeface="Arial Rounded MT Bold" panose="020F0704030504030204" pitchFamily="34" charset="77"/>
              </a:rPr>
              <a:t>매도 로봇이라고 볼 수 있겠죠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ED54F-0BD6-3C4C-8088-A2A5F4CA8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7" y="1616148"/>
            <a:ext cx="3150201" cy="52418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05F139-7743-5B49-99B7-394CF0193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380" y="3117730"/>
            <a:ext cx="2908300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A44DD-4B55-C541-BE0B-BC8625764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380" y="1625598"/>
            <a:ext cx="3467100" cy="711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24B54D-C68A-2846-BF14-A1CFD2A707FC}"/>
              </a:ext>
            </a:extLst>
          </p:cNvPr>
          <p:cNvSpPr txBox="1"/>
          <p:nvPr/>
        </p:nvSpPr>
        <p:spPr>
          <a:xfrm>
            <a:off x="4616450" y="2422359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판매하는 경우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94515-14D0-9544-9AAF-C82D0348C0E6}"/>
              </a:ext>
            </a:extLst>
          </p:cNvPr>
          <p:cNvSpPr txBox="1"/>
          <p:nvPr/>
        </p:nvSpPr>
        <p:spPr>
          <a:xfrm>
            <a:off x="4684380" y="4706903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구입</a:t>
            </a:r>
            <a:r>
              <a:rPr lang="en-US" altLang="ko-KR" dirty="0"/>
              <a:t>/</a:t>
            </a:r>
            <a:r>
              <a:rPr lang="ko-KR" altLang="en-US" dirty="0"/>
              <a:t>판매 같이하는 경우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1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FA81F3-1B1C-A04F-9F22-04E72A721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472" y="2153512"/>
            <a:ext cx="5995465" cy="2577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en-US" altLang="ko-KR" sz="4000">
                <a:latin typeface="Arial Rounded MT Bold" panose="020F0704030504030204" pitchFamily="34" charset="77"/>
              </a:rPr>
              <a:t>3-1)</a:t>
            </a:r>
            <a:r>
              <a:rPr lang="ko-KR" altLang="en-US" sz="4000">
                <a:latin typeface="Arial Rounded MT Bold" panose="020F0704030504030204" pitchFamily="34" charset="77"/>
              </a:rPr>
              <a:t> </a:t>
            </a:r>
            <a:r>
              <a:rPr lang="en-US" altLang="ko-KR" sz="4000" cap="none">
                <a:latin typeface="Arial Rounded MT Bold" panose="020F0704030504030204" pitchFamily="34" charset="77"/>
              </a:rPr>
              <a:t>if~else</a:t>
            </a:r>
            <a:r>
              <a:rPr lang="ko-KR" altLang="en-US" sz="4000" cap="none">
                <a:latin typeface="Arial Rounded MT Bold" panose="020F0704030504030204" pitchFamily="34" charset="77"/>
              </a:rPr>
              <a:t>문</a:t>
            </a:r>
            <a:endParaRPr lang="en-US" sz="400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3384330" cy="3940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err="1"/>
              <a:t>github</a:t>
            </a:r>
            <a:r>
              <a:rPr lang="ko-KR" altLang="en-US" dirty="0"/>
              <a:t>이 </a:t>
            </a:r>
            <a:r>
              <a:rPr lang="en-US" altLang="ko-KR" dirty="0"/>
              <a:t>950</a:t>
            </a:r>
            <a:r>
              <a:rPr lang="ko-KR" altLang="en-US" dirty="0"/>
              <a:t>원 이하면 </a:t>
            </a:r>
            <a:r>
              <a:rPr lang="en-US" altLang="ko-KR" dirty="0"/>
              <a:t>100</a:t>
            </a:r>
            <a:r>
              <a:rPr lang="ko-KR" altLang="en-US" dirty="0"/>
              <a:t>주 매수 </a:t>
            </a:r>
            <a:r>
              <a:rPr lang="en-US" altLang="ko-KR" dirty="0"/>
              <a:t>/</a:t>
            </a:r>
            <a:r>
              <a:rPr lang="ko-KR" altLang="en-US" dirty="0"/>
              <a:t> 그렇지 않으면 보유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r>
              <a:rPr lang="en-US" altLang="ko-KR" b="1" dirty="0"/>
              <a:t>else</a:t>
            </a:r>
            <a:r>
              <a:rPr lang="ko-KR" altLang="en-US" b="1" dirty="0"/>
              <a:t>는 </a:t>
            </a:r>
            <a:r>
              <a:rPr lang="en-US" altLang="ko-KR" b="1" dirty="0"/>
              <a:t>if</a:t>
            </a:r>
            <a:r>
              <a:rPr lang="ko-KR" altLang="en-US" b="1" dirty="0"/>
              <a:t>문의 조건식이 참이 아닐 때 수행됩니다</a:t>
            </a:r>
            <a:r>
              <a:rPr lang="en-US" altLang="ko-KR" b="1" dirty="0"/>
              <a:t>!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실행할 경우의 수가 </a:t>
            </a:r>
            <a:r>
              <a:rPr lang="en-US" altLang="ko-KR" b="1" dirty="0"/>
              <a:t>2</a:t>
            </a:r>
            <a:r>
              <a:rPr lang="ko-KR" altLang="en-US" b="1" dirty="0"/>
              <a:t>가지 일 때 사용합니다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084B0-EA4F-904C-A627-18913406CA49}"/>
              </a:ext>
            </a:extLst>
          </p:cNvPr>
          <p:cNvSpPr txBox="1"/>
          <p:nvPr/>
        </p:nvSpPr>
        <p:spPr>
          <a:xfrm>
            <a:off x="1251679" y="5357556"/>
            <a:ext cx="289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들여쓰기를 주의하세요</a:t>
            </a:r>
            <a:r>
              <a:rPr lang="en-US" altLang="ko-KR" dirty="0"/>
              <a:t>~!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1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3-2)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en-US" altLang="ko-KR" cap="none" dirty="0" err="1">
                <a:latin typeface="Arial Rounded MT Bold" panose="020F0704030504030204" pitchFamily="34" charset="77"/>
              </a:rPr>
              <a:t>if~elif~else</a:t>
            </a:r>
            <a:r>
              <a:rPr lang="ko-KR" altLang="en-US" cap="none" dirty="0">
                <a:latin typeface="Arial Rounded MT Bold" panose="020F0704030504030204" pitchFamily="34" charset="77"/>
              </a:rPr>
              <a:t>문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7293"/>
            <a:ext cx="10178322" cy="4539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실행해야 할 경우의 수가 </a:t>
            </a:r>
            <a:r>
              <a:rPr lang="en-US" altLang="ko-KR" sz="3200" dirty="0">
                <a:solidFill>
                  <a:schemeClr val="tx1"/>
                </a:solidFill>
              </a:rPr>
              <a:t>2</a:t>
            </a:r>
            <a:r>
              <a:rPr lang="ko-KR" altLang="en-US" sz="3200" dirty="0">
                <a:solidFill>
                  <a:schemeClr val="tx1"/>
                </a:solidFill>
              </a:rPr>
              <a:t>가지 이상일 때 사용</a:t>
            </a:r>
            <a:r>
              <a:rPr lang="en-US" altLang="ko-KR" sz="32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sz="3200" dirty="0" err="1">
                <a:solidFill>
                  <a:schemeClr val="tx1"/>
                </a:solidFill>
              </a:rPr>
              <a:t>elif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: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‘</a:t>
            </a:r>
            <a:r>
              <a:rPr lang="ko-KR" altLang="en-US" sz="3200" dirty="0">
                <a:solidFill>
                  <a:schemeClr val="tx1"/>
                </a:solidFill>
              </a:rPr>
              <a:t>그렇지 않고 </a:t>
            </a:r>
            <a:r>
              <a:rPr lang="en-US" altLang="ko-KR" sz="3200" dirty="0">
                <a:solidFill>
                  <a:schemeClr val="tx1"/>
                </a:solidFill>
              </a:rPr>
              <a:t>~</a:t>
            </a:r>
            <a:r>
              <a:rPr lang="ko-KR" altLang="en-US" sz="3200" dirty="0">
                <a:solidFill>
                  <a:schemeClr val="tx1"/>
                </a:solidFill>
              </a:rPr>
              <a:t>이면</a:t>
            </a:r>
            <a:r>
              <a:rPr lang="en-US" altLang="ko-KR" sz="3200" dirty="0">
                <a:solidFill>
                  <a:schemeClr val="tx1"/>
                </a:solidFill>
              </a:rPr>
              <a:t>’</a:t>
            </a:r>
            <a:r>
              <a:rPr lang="ko-KR" altLang="en-US" sz="3200" dirty="0">
                <a:solidFill>
                  <a:schemeClr val="tx1"/>
                </a:solidFill>
              </a:rPr>
              <a:t>이라는 의미</a:t>
            </a: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15D92-4AC4-4D42-B948-59426C5A3390}"/>
              </a:ext>
            </a:extLst>
          </p:cNvPr>
          <p:cNvSpPr txBox="1"/>
          <p:nvPr/>
        </p:nvSpPr>
        <p:spPr>
          <a:xfrm>
            <a:off x="1251678" y="2939615"/>
            <a:ext cx="585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좀 가볍지 않은 주식 얘기 해서 </a:t>
            </a:r>
            <a:r>
              <a:rPr lang="ko-KR" altLang="en-US" dirty="0" err="1"/>
              <a:t>미안해여ㅎㅎ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BE8CF-E137-5A40-B97D-8A46E6701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42" y="3308947"/>
            <a:ext cx="5850871" cy="238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BDA26F-320E-3247-9313-A72A941180D9}"/>
              </a:ext>
            </a:extLst>
          </p:cNvPr>
          <p:cNvSpPr txBox="1"/>
          <p:nvPr/>
        </p:nvSpPr>
        <p:spPr>
          <a:xfrm>
            <a:off x="1251678" y="5683426"/>
            <a:ext cx="5761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현재가는</a:t>
            </a:r>
            <a:r>
              <a:rPr lang="ko-KR" altLang="en-US" dirty="0"/>
              <a:t> 맨 </a:t>
            </a:r>
            <a:r>
              <a:rPr lang="ko-KR" altLang="en-US" dirty="0" err="1"/>
              <a:t>첫줄에</a:t>
            </a:r>
            <a:r>
              <a:rPr lang="ko-KR" altLang="en-US" dirty="0"/>
              <a:t> 임의로 </a:t>
            </a:r>
            <a:r>
              <a:rPr lang="en-US" altLang="ko-KR" dirty="0"/>
              <a:t>binding </a:t>
            </a:r>
            <a:r>
              <a:rPr lang="ko-KR" altLang="en-US" dirty="0"/>
              <a:t>해줍시다</a:t>
            </a:r>
            <a:endParaRPr lang="en-US" altLang="ko-KR" dirty="0"/>
          </a:p>
          <a:p>
            <a:r>
              <a:rPr lang="ko-KR" altLang="en-US" dirty="0" err="1"/>
              <a:t>가격단위는</a:t>
            </a:r>
            <a:r>
              <a:rPr lang="ko-KR" altLang="en-US" dirty="0"/>
              <a:t> </a:t>
            </a:r>
            <a:r>
              <a:rPr lang="en-US" altLang="ko-KR" dirty="0"/>
              <a:t>bid</a:t>
            </a:r>
            <a:r>
              <a:rPr lang="ko-KR" altLang="en-US" dirty="0" err="1"/>
              <a:t>라고</a:t>
            </a:r>
            <a:r>
              <a:rPr lang="ko-KR" altLang="en-US" dirty="0"/>
              <a:t> </a:t>
            </a:r>
            <a:r>
              <a:rPr lang="ko-KR" altLang="en-US" dirty="0" err="1"/>
              <a:t>합시당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바꿔도 됨</a:t>
            </a:r>
            <a:r>
              <a:rPr lang="en-US" altLang="ko-KR" dirty="0"/>
              <a:t>)</a:t>
            </a:r>
            <a:r>
              <a:rPr lang="ko-KR" altLang="en-US" dirty="0"/>
              <a:t>  코딩 해볼까요</a:t>
            </a:r>
            <a:r>
              <a:rPr lang="en-US" altLang="ko-KR" dirty="0"/>
              <a:t>?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C8995-D3E4-2240-AB97-EBFA1671B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56" y="2591397"/>
            <a:ext cx="3911600" cy="382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996E99-3DC9-444D-B7F8-1F5E0F0B7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856" y="2619465"/>
            <a:ext cx="4451284" cy="379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1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77"/>
              </a:rPr>
              <a:t>4) </a:t>
            </a:r>
            <a:r>
              <a:rPr lang="en-US" cap="none" dirty="0">
                <a:latin typeface="Arial Rounded MT Bold" panose="020F0704030504030204" pitchFamily="34" charset="77"/>
              </a:rPr>
              <a:t>for</a:t>
            </a:r>
            <a:r>
              <a:rPr lang="ko-KR" altLang="en-US" cap="none" dirty="0">
                <a:latin typeface="Arial Rounded MT Bold" panose="020F0704030504030204" pitchFamily="34" charset="77"/>
              </a:rPr>
              <a:t>문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03499"/>
            <a:ext cx="10178322" cy="4603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for </a:t>
            </a:r>
            <a:r>
              <a:rPr lang="ko-KR" altLang="en-US" sz="3200" dirty="0" err="1">
                <a:solidFill>
                  <a:schemeClr val="tx1"/>
                </a:solidFill>
              </a:rPr>
              <a:t>반복문</a:t>
            </a:r>
            <a:r>
              <a:rPr lang="en-US" altLang="ko-KR" sz="3200" dirty="0">
                <a:solidFill>
                  <a:schemeClr val="tx1"/>
                </a:solidFill>
              </a:rPr>
              <a:t> 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중복된 부분의 코드를 줄일 수 있고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가독성도</a:t>
            </a:r>
            <a:r>
              <a:rPr lang="ko-KR" altLang="en-US" dirty="0">
                <a:solidFill>
                  <a:schemeClr val="tx1"/>
                </a:solidFill>
              </a:rPr>
              <a:t> 좋아짐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for :</a:t>
            </a:r>
          </a:p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화면에 </a:t>
            </a:r>
            <a:r>
              <a:rPr lang="en-US" altLang="ko-KR" sz="3200" dirty="0">
                <a:solidFill>
                  <a:schemeClr val="tx1"/>
                </a:solidFill>
              </a:rPr>
              <a:t>1</a:t>
            </a:r>
            <a:r>
              <a:rPr lang="ko-KR" altLang="en-US" sz="3200" dirty="0" err="1">
                <a:solidFill>
                  <a:schemeClr val="tx1"/>
                </a:solidFill>
              </a:rPr>
              <a:t>부터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10</a:t>
            </a:r>
            <a:r>
              <a:rPr lang="ko-KR" altLang="en-US" sz="3200" dirty="0">
                <a:solidFill>
                  <a:schemeClr val="tx1"/>
                </a:solidFill>
              </a:rPr>
              <a:t>까지 출력한다고 할 때</a:t>
            </a:r>
            <a:endParaRPr lang="en-US" altLang="ko-KR" sz="3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B6DDF-3C60-A344-BA2C-B09D01D9E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369" y="3618378"/>
            <a:ext cx="1600200" cy="2794000"/>
          </a:xfrm>
          <a:prstGeom prst="rect">
            <a:avLst/>
          </a:prstGeom>
        </p:spPr>
      </p:pic>
      <p:sp>
        <p:nvSpPr>
          <p:cNvPr id="6" name="Multiply 5">
            <a:extLst>
              <a:ext uri="{FF2B5EF4-FFF2-40B4-BE49-F238E27FC236}">
                <a16:creationId xmlns:a16="http://schemas.microsoft.com/office/drawing/2014/main" id="{0591B3F0-849F-424F-A904-D8270A13ED4A}"/>
              </a:ext>
            </a:extLst>
          </p:cNvPr>
          <p:cNvSpPr/>
          <p:nvPr/>
        </p:nvSpPr>
        <p:spPr>
          <a:xfrm>
            <a:off x="580892" y="3698381"/>
            <a:ext cx="3381153" cy="230821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F8E3C7F-B0D8-0F42-BA1E-1E7D136DDDBB}"/>
              </a:ext>
            </a:extLst>
          </p:cNvPr>
          <p:cNvSpPr/>
          <p:nvPr/>
        </p:nvSpPr>
        <p:spPr>
          <a:xfrm>
            <a:off x="3428875" y="461017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F550E-A722-224B-B446-6D1F16F20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440" y="3588729"/>
            <a:ext cx="3543300" cy="546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8D64E7-4CEA-DA49-AE79-0E1FA48A7F1B}"/>
              </a:ext>
            </a:extLst>
          </p:cNvPr>
          <p:cNvSpPr txBox="1"/>
          <p:nvPr/>
        </p:nvSpPr>
        <p:spPr>
          <a:xfrm>
            <a:off x="1471369" y="6412378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10</a:t>
            </a:r>
            <a:r>
              <a:rPr lang="ko-KR" altLang="en-US" dirty="0"/>
              <a:t>번</a:t>
            </a:r>
            <a:r>
              <a:rPr lang="en-US" altLang="ko-KR" dirty="0"/>
              <a:t>..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76DD8-D82D-A64A-9026-093D4608E13E}"/>
              </a:ext>
            </a:extLst>
          </p:cNvPr>
          <p:cNvSpPr txBox="1"/>
          <p:nvPr/>
        </p:nvSpPr>
        <p:spPr>
          <a:xfrm>
            <a:off x="4377512" y="4088110"/>
            <a:ext cx="264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1</a:t>
            </a:r>
            <a:r>
              <a:rPr lang="ko-KR" altLang="en-US" dirty="0"/>
              <a:t>번 하지만 </a:t>
            </a:r>
            <a:r>
              <a:rPr lang="en-US" altLang="ko-KR" dirty="0"/>
              <a:t>1,2,3..10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C77CB3-22A0-9E43-AF72-3C3CC036A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754" y="4640466"/>
            <a:ext cx="3488986" cy="7652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49AD15-B3EB-0F49-A32C-B00359841FDB}"/>
              </a:ext>
            </a:extLst>
          </p:cNvPr>
          <p:cNvSpPr txBox="1"/>
          <p:nvPr/>
        </p:nvSpPr>
        <p:spPr>
          <a:xfrm>
            <a:off x="4461597" y="5545296"/>
            <a:ext cx="332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 err="1"/>
              <a:t>부터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이 </a:t>
            </a:r>
            <a:r>
              <a:rPr lang="en-US" altLang="ko-KR" dirty="0"/>
              <a:t>2</a:t>
            </a:r>
            <a:r>
              <a:rPr lang="ko-KR" altLang="en-US" dirty="0"/>
              <a:t>번씩 출력됨</a:t>
            </a:r>
            <a:endParaRPr lang="en-US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DDA654ED-AEF1-A440-B1EF-BC7EECFF7588}"/>
              </a:ext>
            </a:extLst>
          </p:cNvPr>
          <p:cNvSpPr/>
          <p:nvPr/>
        </p:nvSpPr>
        <p:spPr>
          <a:xfrm>
            <a:off x="8090936" y="458067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7F733B-638F-364C-B1AD-EB12A638C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540" y="4543588"/>
            <a:ext cx="2413000" cy="558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79BF4B-A0D2-2646-991F-BF4680C43437}"/>
              </a:ext>
            </a:extLst>
          </p:cNvPr>
          <p:cNvSpPr txBox="1"/>
          <p:nvPr/>
        </p:nvSpPr>
        <p:spPr>
          <a:xfrm>
            <a:off x="9082272" y="5523048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아이 좋아</a:t>
            </a:r>
            <a:r>
              <a:rPr lang="en-US" altLang="ko-KR" dirty="0"/>
              <a:t>~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C2DCCC-CC7A-B441-BBB3-169F264B4015}"/>
              </a:ext>
            </a:extLst>
          </p:cNvPr>
          <p:cNvSpPr txBox="1"/>
          <p:nvPr/>
        </p:nvSpPr>
        <p:spPr>
          <a:xfrm>
            <a:off x="9069344" y="5145995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0~10</a:t>
            </a:r>
            <a:r>
              <a:rPr lang="ko-KR" altLang="en-US" dirty="0"/>
              <a:t> 출력</a:t>
            </a:r>
            <a:endParaRPr lang="en-US" dirty="0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DF7DCA98-94FA-594D-81AE-EA592AE61836}"/>
              </a:ext>
            </a:extLst>
          </p:cNvPr>
          <p:cNvSpPr/>
          <p:nvPr/>
        </p:nvSpPr>
        <p:spPr>
          <a:xfrm>
            <a:off x="4641778" y="3264520"/>
            <a:ext cx="2999712" cy="2385843"/>
          </a:xfrm>
          <a:prstGeom prst="triangl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F9B4C9F-4A7C-4244-AAFE-5CDB35C6E582}"/>
              </a:ext>
            </a:extLst>
          </p:cNvPr>
          <p:cNvSpPr/>
          <p:nvPr/>
        </p:nvSpPr>
        <p:spPr>
          <a:xfrm>
            <a:off x="9665020" y="3821611"/>
            <a:ext cx="159027" cy="759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4EABC3-6C5D-8542-A31D-3C5D182585B4}"/>
              </a:ext>
            </a:extLst>
          </p:cNvPr>
          <p:cNvSpPr txBox="1"/>
          <p:nvPr/>
        </p:nvSpPr>
        <p:spPr>
          <a:xfrm>
            <a:off x="9421367" y="34924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변수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3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2" grpId="0"/>
      <p:bldP spid="13" grpId="0" animBg="1"/>
      <p:bldP spid="15" grpId="0"/>
      <p:bldP spid="16" grpId="0"/>
      <p:bldP spid="18" grpId="0" animBg="1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4-1)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en-US" altLang="ko-KR" cap="none" dirty="0">
                <a:latin typeface="Arial Rounded MT Bold" panose="020F0704030504030204" pitchFamily="34" charset="77"/>
              </a:rPr>
              <a:t>for</a:t>
            </a:r>
            <a:r>
              <a:rPr lang="ko-KR" altLang="en-US" cap="none" dirty="0">
                <a:latin typeface="Arial Rounded MT Bold" panose="020F0704030504030204" pitchFamily="34" charset="77"/>
              </a:rPr>
              <a:t>와 </a:t>
            </a:r>
            <a:r>
              <a:rPr lang="en-US" altLang="ko-KR" cap="none" dirty="0">
                <a:latin typeface="Arial Rounded MT Bold" panose="020F0704030504030204" pitchFamily="34" charset="77"/>
              </a:rPr>
              <a:t>range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for </a:t>
            </a:r>
            <a:r>
              <a:rPr lang="en-US" altLang="ko-KR" sz="2800" dirty="0" err="1">
                <a:solidFill>
                  <a:schemeClr val="tx1"/>
                </a:solidFill>
              </a:rPr>
              <a:t>i</a:t>
            </a:r>
            <a:r>
              <a:rPr lang="en-US" altLang="ko-KR" sz="2800" dirty="0">
                <a:solidFill>
                  <a:schemeClr val="tx1"/>
                </a:solidFill>
              </a:rPr>
              <a:t> in [1,2,3,4,5] </a:t>
            </a:r>
            <a:r>
              <a:rPr lang="ko-KR" altLang="en-US" sz="2800" dirty="0">
                <a:solidFill>
                  <a:schemeClr val="tx1"/>
                </a:solidFill>
              </a:rPr>
              <a:t>이거는 </a:t>
            </a:r>
            <a:r>
              <a:rPr lang="en-US" altLang="ko-KR" sz="2800" dirty="0">
                <a:solidFill>
                  <a:schemeClr val="tx1"/>
                </a:solidFill>
              </a:rPr>
              <a:t>100</a:t>
            </a:r>
            <a:r>
              <a:rPr lang="ko-KR" altLang="en-US" sz="2800" dirty="0">
                <a:solidFill>
                  <a:schemeClr val="tx1"/>
                </a:solidFill>
              </a:rPr>
              <a:t> 까지 가면 너무 불편함</a:t>
            </a:r>
            <a:r>
              <a:rPr lang="en-US" altLang="ko-KR" sz="28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range</a:t>
            </a:r>
            <a:r>
              <a:rPr lang="ko-KR" altLang="en-US" sz="2800" dirty="0" err="1">
                <a:solidFill>
                  <a:schemeClr val="tx1"/>
                </a:solidFill>
              </a:rPr>
              <a:t>를</a:t>
            </a:r>
            <a:r>
              <a:rPr lang="ko-KR" altLang="en-US" sz="2800" dirty="0">
                <a:solidFill>
                  <a:schemeClr val="tx1"/>
                </a:solidFill>
              </a:rPr>
              <a:t> 사용하면 아무리 큰 수여도 정수 범위를 쉽게 표현 가능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range(1,10)</a:t>
            </a:r>
            <a:r>
              <a:rPr lang="ko-KR" altLang="en-U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이건 </a:t>
            </a:r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1~9</a:t>
            </a:r>
            <a:r>
              <a:rPr lang="ko-KR" altLang="en-US" sz="28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까지임</a:t>
            </a:r>
            <a:r>
              <a:rPr lang="ko-KR" altLang="en-U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끝 숫자는 범위에 포함되지 않음</a:t>
            </a:r>
            <a:endParaRPr lang="en-US" altLang="ko-KR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altLang="ko-KR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altLang="ko-KR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39436-10AF-2341-9ED5-ACEEBCA71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7" y="3523202"/>
            <a:ext cx="4988036" cy="115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BAC770-05F7-6043-8DAF-320556B8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193" y="4294037"/>
            <a:ext cx="5176744" cy="23295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FFE663-4F68-2B4B-AAE1-A6365420E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193" y="1534736"/>
            <a:ext cx="3994985" cy="2716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en-US" altLang="ko-KR" sz="4400">
                <a:latin typeface="Arial Rounded MT Bold" panose="020F0704030504030204" pitchFamily="34" charset="77"/>
              </a:rPr>
              <a:t>4-2)</a:t>
            </a:r>
            <a:r>
              <a:rPr lang="ko-KR" altLang="en-US" sz="4400">
                <a:latin typeface="Arial Rounded MT Bold" panose="020F0704030504030204" pitchFamily="34" charset="77"/>
              </a:rPr>
              <a:t> </a:t>
            </a:r>
            <a:r>
              <a:rPr lang="en-US" altLang="ko-KR" sz="4400" cap="none">
                <a:latin typeface="Arial Rounded MT Bold" panose="020F0704030504030204" pitchFamily="34" charset="77"/>
              </a:rPr>
              <a:t>for</a:t>
            </a:r>
            <a:r>
              <a:rPr lang="ko-KR" altLang="en-US" sz="4400">
                <a:latin typeface="Arial Rounded MT Bold" panose="020F0704030504030204" pitchFamily="34" charset="77"/>
              </a:rPr>
              <a:t>와 </a:t>
            </a:r>
            <a:r>
              <a:rPr lang="en-US" altLang="ko-KR" sz="4400" cap="none">
                <a:latin typeface="Arial Rounded MT Bold" panose="020F0704030504030204" pitchFamily="34" charset="77"/>
              </a:rPr>
              <a:t>list</a:t>
            </a:r>
            <a:endParaRPr lang="en-US" sz="440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534736"/>
            <a:ext cx="4572652" cy="508883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solidFill>
                  <a:schemeClr val="tx1"/>
                </a:solidFill>
              </a:rPr>
              <a:t>for</a:t>
            </a:r>
            <a:r>
              <a:rPr lang="ko-KR" altLang="en-US" sz="1700" dirty="0">
                <a:solidFill>
                  <a:schemeClr val="tx1"/>
                </a:solidFill>
              </a:rPr>
              <a:t>문과 </a:t>
            </a:r>
            <a:r>
              <a:rPr lang="en-US" altLang="ko-KR" sz="1700" dirty="0">
                <a:solidFill>
                  <a:schemeClr val="tx1"/>
                </a:solidFill>
              </a:rPr>
              <a:t>list </a:t>
            </a:r>
            <a:r>
              <a:rPr lang="ko-KR" altLang="en-US" sz="1700" dirty="0">
                <a:solidFill>
                  <a:schemeClr val="tx1"/>
                </a:solidFill>
              </a:rPr>
              <a:t>자료구조를 적절히 사용하면</a:t>
            </a:r>
            <a:r>
              <a:rPr lang="en-US" altLang="ko-KR" sz="1700" dirty="0">
                <a:solidFill>
                  <a:schemeClr val="tx1"/>
                </a:solidFill>
              </a:rPr>
              <a:t> list</a:t>
            </a:r>
            <a:r>
              <a:rPr lang="ko-KR" altLang="en-US" sz="1700" dirty="0">
                <a:solidFill>
                  <a:schemeClr val="tx1"/>
                </a:solidFill>
              </a:rPr>
              <a:t>내에 있는 원소에 대해 반복 작업을 간단히 처리 가능</a:t>
            </a:r>
            <a:r>
              <a:rPr lang="en-US" altLang="ko-KR" sz="1700" dirty="0">
                <a:solidFill>
                  <a:schemeClr val="tx1"/>
                </a:solidFill>
              </a:rPr>
              <a:t>!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solidFill>
                  <a:schemeClr val="tx1"/>
                </a:solidFill>
              </a:rPr>
              <a:t>ex) </a:t>
            </a:r>
            <a:r>
              <a:rPr lang="ko-KR" altLang="en-US" sz="1700" dirty="0">
                <a:solidFill>
                  <a:schemeClr val="tx1"/>
                </a:solidFill>
              </a:rPr>
              <a:t>주식의 관심 종목 이름을 </a:t>
            </a:r>
            <a:r>
              <a:rPr lang="en-US" altLang="ko-KR" sz="1700" dirty="0">
                <a:solidFill>
                  <a:schemeClr val="tx1"/>
                </a:solidFill>
              </a:rPr>
              <a:t>list</a:t>
            </a:r>
            <a:r>
              <a:rPr lang="ko-KR" altLang="en-US" sz="1700" dirty="0">
                <a:solidFill>
                  <a:schemeClr val="tx1"/>
                </a:solidFill>
              </a:rPr>
              <a:t>로 저장하고 있다가 해당 종목을 각각 </a:t>
            </a:r>
            <a:r>
              <a:rPr lang="en-US" altLang="ko-KR" sz="1700" dirty="0">
                <a:solidFill>
                  <a:schemeClr val="tx1"/>
                </a:solidFill>
              </a:rPr>
              <a:t>10</a:t>
            </a:r>
            <a:r>
              <a:rPr lang="ko-KR" altLang="en-US" sz="1700" dirty="0">
                <a:solidFill>
                  <a:schemeClr val="tx1"/>
                </a:solidFill>
              </a:rPr>
              <a:t>주 씩 매수하는 프로그램</a:t>
            </a: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7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ko-KR" altLang="en-US" sz="1700" dirty="0">
                <a:solidFill>
                  <a:schemeClr val="tx1"/>
                </a:solidFill>
              </a:rPr>
              <a:t>관심 종목을 </a:t>
            </a:r>
            <a:r>
              <a:rPr lang="en-US" altLang="ko-KR" sz="1700" dirty="0">
                <a:solidFill>
                  <a:schemeClr val="tx1"/>
                </a:solidFill>
              </a:rPr>
              <a:t>list</a:t>
            </a:r>
            <a:r>
              <a:rPr lang="ko-KR" altLang="en-US" sz="1700" dirty="0">
                <a:solidFill>
                  <a:schemeClr val="tx1"/>
                </a:solidFill>
              </a:rPr>
              <a:t>로 지정</a:t>
            </a:r>
            <a:endParaRPr lang="en-US" altLang="ko-KR" sz="17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ko-KR" altLang="en-US" sz="1700" dirty="0">
                <a:solidFill>
                  <a:schemeClr val="tx1"/>
                </a:solidFill>
              </a:rPr>
              <a:t>관심 종목 </a:t>
            </a:r>
            <a:r>
              <a:rPr lang="en-US" altLang="ko-KR" sz="1700" dirty="0">
                <a:solidFill>
                  <a:schemeClr val="tx1"/>
                </a:solidFill>
              </a:rPr>
              <a:t>list</a:t>
            </a:r>
            <a:r>
              <a:rPr lang="ko-KR" altLang="en-US" sz="1700" dirty="0">
                <a:solidFill>
                  <a:schemeClr val="tx1"/>
                </a:solidFill>
              </a:rPr>
              <a:t>에 있는 것을 </a:t>
            </a:r>
            <a:r>
              <a:rPr lang="en-US" altLang="ko-KR" sz="1700" dirty="0">
                <a:solidFill>
                  <a:schemeClr val="tx1"/>
                </a:solidFill>
              </a:rPr>
              <a:t>10</a:t>
            </a:r>
            <a:r>
              <a:rPr lang="ko-KR" altLang="en-US" sz="1700" dirty="0">
                <a:solidFill>
                  <a:schemeClr val="tx1"/>
                </a:solidFill>
              </a:rPr>
              <a:t>주씩 매수하기 위해 </a:t>
            </a:r>
            <a:r>
              <a:rPr lang="en-US" altLang="ko-KR" sz="1700" dirty="0">
                <a:solidFill>
                  <a:schemeClr val="tx1"/>
                </a:solidFill>
              </a:rPr>
              <a:t>for </a:t>
            </a:r>
            <a:r>
              <a:rPr lang="ko-KR" altLang="en-US" sz="1700" dirty="0">
                <a:solidFill>
                  <a:schemeClr val="tx1"/>
                </a:solidFill>
              </a:rPr>
              <a:t>문을 사용</a:t>
            </a: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solidFill>
                  <a:schemeClr val="tx1"/>
                </a:solidFill>
              </a:rPr>
              <a:t>print(‘%s </a:t>
            </a:r>
            <a:r>
              <a:rPr lang="ko-KR" altLang="en-US" sz="1700" dirty="0">
                <a:solidFill>
                  <a:schemeClr val="tx1"/>
                </a:solidFill>
              </a:rPr>
              <a:t>할 말</a:t>
            </a:r>
            <a:r>
              <a:rPr lang="en-US" altLang="ko-KR" sz="1700" dirty="0">
                <a:solidFill>
                  <a:schemeClr val="tx1"/>
                </a:solidFill>
              </a:rPr>
              <a:t>’ %</a:t>
            </a:r>
            <a:r>
              <a:rPr lang="ko-KR" altLang="en-US" sz="1700" dirty="0" err="1">
                <a:solidFill>
                  <a:schemeClr val="tx1"/>
                </a:solidFill>
              </a:rPr>
              <a:t>변수명</a:t>
            </a:r>
            <a:r>
              <a:rPr lang="en-US" altLang="ko-KR" sz="1700" dirty="0">
                <a:solidFill>
                  <a:schemeClr val="tx1"/>
                </a:solidFill>
              </a:rPr>
              <a:t>) = print (</a:t>
            </a:r>
            <a:r>
              <a:rPr lang="ko-KR" altLang="en-US" sz="1700" dirty="0" err="1">
                <a:solidFill>
                  <a:schemeClr val="tx1"/>
                </a:solidFill>
              </a:rPr>
              <a:t>변수명</a:t>
            </a:r>
            <a:r>
              <a:rPr lang="en-US" altLang="ko-KR" sz="1700" dirty="0">
                <a:solidFill>
                  <a:schemeClr val="tx1"/>
                </a:solidFill>
              </a:rPr>
              <a:t>,</a:t>
            </a:r>
            <a:r>
              <a:rPr lang="ko-KR" altLang="en-US" sz="1700" dirty="0">
                <a:solidFill>
                  <a:schemeClr val="tx1"/>
                </a:solidFill>
              </a:rPr>
              <a:t> </a:t>
            </a:r>
            <a:r>
              <a:rPr lang="en-US" altLang="ko-KR" sz="1700" dirty="0">
                <a:solidFill>
                  <a:schemeClr val="tx1"/>
                </a:solidFill>
              </a:rPr>
              <a:t>‘</a:t>
            </a:r>
            <a:r>
              <a:rPr lang="ko-KR" altLang="en-US" sz="1700" dirty="0">
                <a:solidFill>
                  <a:schemeClr val="tx1"/>
                </a:solidFill>
              </a:rPr>
              <a:t>할 말</a:t>
            </a:r>
            <a:r>
              <a:rPr lang="en-US" altLang="ko-KR" sz="1700" dirty="0">
                <a:solidFill>
                  <a:schemeClr val="tx1"/>
                </a:solidFill>
              </a:rPr>
              <a:t>’)</a:t>
            </a:r>
          </a:p>
          <a:p>
            <a:pPr marL="342900" indent="-342900">
              <a:lnSpc>
                <a:spcPct val="100000"/>
              </a:lnSpc>
              <a:buAutoNum type="arabicPeriod" startAt="3"/>
            </a:pPr>
            <a:r>
              <a:rPr lang="en-US" altLang="ko-KR" sz="1700" dirty="0">
                <a:solidFill>
                  <a:schemeClr val="tx1"/>
                </a:solidFill>
              </a:rPr>
              <a:t>company</a:t>
            </a:r>
            <a:r>
              <a:rPr lang="ko-KR" altLang="en-US" sz="1700" dirty="0">
                <a:solidFill>
                  <a:schemeClr val="tx1"/>
                </a:solidFill>
              </a:rPr>
              <a:t>는 </a:t>
            </a:r>
            <a:r>
              <a:rPr lang="ko-KR" altLang="en-US" sz="1700" dirty="0" err="1">
                <a:solidFill>
                  <a:schemeClr val="tx1"/>
                </a:solidFill>
              </a:rPr>
              <a:t>변수명이다</a:t>
            </a:r>
            <a:r>
              <a:rPr lang="en-US" altLang="ko-KR" sz="17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solidFill>
                  <a:schemeClr val="tx1"/>
                </a:solidFill>
              </a:rPr>
              <a:t>print(‘company buy 10’) </a:t>
            </a:r>
            <a:r>
              <a:rPr lang="ko-KR" altLang="en-US" sz="1700" dirty="0">
                <a:solidFill>
                  <a:schemeClr val="tx1"/>
                </a:solidFill>
              </a:rPr>
              <a:t>하면</a:t>
            </a: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dirty="0">
                <a:solidFill>
                  <a:schemeClr val="tx1"/>
                </a:solidFill>
              </a:rPr>
              <a:t>그냥 </a:t>
            </a:r>
            <a:r>
              <a:rPr lang="en-US" altLang="ko-KR" sz="1700" dirty="0">
                <a:solidFill>
                  <a:schemeClr val="tx1"/>
                </a:solidFill>
              </a:rPr>
              <a:t>company buy 10</a:t>
            </a:r>
            <a:r>
              <a:rPr lang="ko-KR" altLang="en-US" sz="1700" dirty="0">
                <a:solidFill>
                  <a:schemeClr val="tx1"/>
                </a:solidFill>
              </a:rPr>
              <a:t>이라고 나온다</a:t>
            </a:r>
            <a:r>
              <a:rPr lang="en-US" altLang="ko-KR" sz="17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7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2061062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77"/>
              </a:rPr>
              <a:t>4-3) </a:t>
            </a:r>
            <a:r>
              <a:rPr lang="en-US" altLang="ko-KR" cap="none" dirty="0">
                <a:latin typeface="Arial Rounded MT Bold" panose="020F0704030504030204" pitchFamily="34" charset="77"/>
              </a:rPr>
              <a:t>for</a:t>
            </a:r>
            <a:r>
              <a:rPr lang="ko-KR" altLang="en-US" dirty="0">
                <a:latin typeface="Arial Rounded MT Bold" panose="020F0704030504030204" pitchFamily="34" charset="77"/>
              </a:rPr>
              <a:t>와 </a:t>
            </a:r>
            <a:r>
              <a:rPr lang="en-US" altLang="ko-KR" cap="none" dirty="0">
                <a:latin typeface="Arial Rounded MT Bold" panose="020F0704030504030204" pitchFamily="34" charset="77"/>
              </a:rPr>
              <a:t>tuple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132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for</a:t>
            </a:r>
            <a:r>
              <a:rPr lang="ko-KR" altLang="en-US" sz="3200" dirty="0">
                <a:solidFill>
                  <a:schemeClr val="tx1"/>
                </a:solidFill>
              </a:rPr>
              <a:t>에서 </a:t>
            </a:r>
            <a:r>
              <a:rPr lang="en-US" altLang="ko-KR" sz="3200" dirty="0">
                <a:solidFill>
                  <a:schemeClr val="tx1"/>
                </a:solidFill>
              </a:rPr>
              <a:t>list</a:t>
            </a:r>
            <a:r>
              <a:rPr lang="ko-KR" altLang="en-US" sz="3200" dirty="0" err="1">
                <a:solidFill>
                  <a:schemeClr val="tx1"/>
                </a:solidFill>
              </a:rPr>
              <a:t>를</a:t>
            </a:r>
            <a:r>
              <a:rPr lang="ko-KR" altLang="en-US" sz="3200" dirty="0">
                <a:solidFill>
                  <a:schemeClr val="tx1"/>
                </a:solidFill>
              </a:rPr>
              <a:t> 사용하는 것과 비슷함</a:t>
            </a:r>
            <a:r>
              <a:rPr lang="en-US" altLang="ko-KR" sz="3200" dirty="0">
                <a:solidFill>
                  <a:schemeClr val="tx1"/>
                </a:solidFill>
              </a:rPr>
              <a:t>.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단</a:t>
            </a:r>
            <a:r>
              <a:rPr lang="en-US" altLang="ko-KR" dirty="0">
                <a:solidFill>
                  <a:schemeClr val="tx1"/>
                </a:solidFill>
              </a:rPr>
              <a:t> tuple</a:t>
            </a:r>
            <a:r>
              <a:rPr lang="ko-KR" altLang="en-US" dirty="0">
                <a:solidFill>
                  <a:schemeClr val="tx1"/>
                </a:solidFill>
              </a:rPr>
              <a:t>은 수정 </a:t>
            </a:r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en-US" altLang="ko-KR" sz="32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F85F2-7548-EA41-BE5D-CBEF88A0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2648743"/>
            <a:ext cx="6524463" cy="258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20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en-US" altLang="ko-KR">
                <a:latin typeface="Arial Rounded MT Bold" panose="020F0704030504030204" pitchFamily="34" charset="77"/>
              </a:rPr>
              <a:t>4-4)</a:t>
            </a:r>
            <a:r>
              <a:rPr lang="ko-KR" altLang="en-US">
                <a:latin typeface="Arial Rounded MT Bold" panose="020F0704030504030204" pitchFamily="34" charset="77"/>
              </a:rPr>
              <a:t> </a:t>
            </a:r>
            <a:r>
              <a:rPr lang="en-US" altLang="ko-KR" cap="none">
                <a:latin typeface="Arial Rounded MT Bold" panose="020F0704030504030204" pitchFamily="34" charset="77"/>
              </a:rPr>
              <a:t>for</a:t>
            </a:r>
            <a:r>
              <a:rPr lang="ko-KR" altLang="en-US" cap="none">
                <a:latin typeface="Arial Rounded MT Bold" panose="020F0704030504030204" pitchFamily="34" charset="77"/>
              </a:rPr>
              <a:t>와</a:t>
            </a:r>
            <a:r>
              <a:rPr lang="ko-KR" altLang="en-US">
                <a:latin typeface="Arial Rounded MT Bold" panose="020F0704030504030204" pitchFamily="34" charset="77"/>
              </a:rPr>
              <a:t> </a:t>
            </a:r>
            <a:r>
              <a:rPr lang="en-US" altLang="ko-KR" cap="none">
                <a:latin typeface="Arial Rounded MT Bold" panose="020F0704030504030204" pitchFamily="34" charset="77"/>
              </a:rPr>
              <a:t>dictionary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109365" cy="35935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 err="1">
                <a:solidFill>
                  <a:schemeClr val="tx1"/>
                </a:solidFill>
              </a:rPr>
              <a:t>dict</a:t>
            </a:r>
            <a:r>
              <a:rPr lang="ko-KR" altLang="en-US" dirty="0">
                <a:solidFill>
                  <a:schemeClr val="tx1"/>
                </a:solidFill>
              </a:rPr>
              <a:t>은 데이터를 입력한 순서대로 저장하지 않음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ex) </a:t>
            </a:r>
            <a:r>
              <a:rPr lang="ko-KR" altLang="en-US" dirty="0">
                <a:solidFill>
                  <a:schemeClr val="tx1"/>
                </a:solidFill>
              </a:rPr>
              <a:t>종목마다 다른 수량의 주식을 매수해보자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marL="514350" indent="-514350">
              <a:buAutoNum type="arabicPeriod"/>
            </a:pPr>
            <a:r>
              <a:rPr lang="en-US" altLang="ko-KR" dirty="0" err="1">
                <a:solidFill>
                  <a:schemeClr val="tx1"/>
                </a:solidFill>
              </a:rPr>
              <a:t>Dict</a:t>
            </a:r>
            <a:r>
              <a:rPr lang="ko-KR" altLang="en-US" dirty="0">
                <a:solidFill>
                  <a:schemeClr val="tx1"/>
                </a:solidFill>
              </a:rPr>
              <a:t>로 종목별로 얼마나 매수할지 표현</a:t>
            </a:r>
            <a:endParaRPr lang="en-US" altLang="ko-KR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altLang="ko-KR" dirty="0" err="1">
                <a:solidFill>
                  <a:schemeClr val="tx1"/>
                </a:solidFill>
              </a:rPr>
              <a:t>Dict</a:t>
            </a:r>
            <a:r>
              <a:rPr lang="ko-KR" altLang="en-US" dirty="0">
                <a:solidFill>
                  <a:schemeClr val="tx1"/>
                </a:solidFill>
              </a:rPr>
              <a:t>의 한 원소에는 </a:t>
            </a:r>
            <a:r>
              <a:rPr lang="en-US" altLang="ko-KR" dirty="0">
                <a:solidFill>
                  <a:schemeClr val="tx1"/>
                </a:solidFill>
              </a:rPr>
              <a:t>key, value</a:t>
            </a:r>
            <a:r>
              <a:rPr lang="ko-KR" altLang="en-US" dirty="0">
                <a:solidFill>
                  <a:schemeClr val="tx1"/>
                </a:solidFill>
              </a:rPr>
              <a:t>가 있기 때문에 </a:t>
            </a:r>
            <a:r>
              <a:rPr lang="en-US" altLang="ko-KR" dirty="0">
                <a:solidFill>
                  <a:schemeClr val="tx1"/>
                </a:solidFill>
              </a:rPr>
              <a:t>for </a:t>
            </a:r>
            <a:r>
              <a:rPr lang="ko-KR" altLang="en-US" dirty="0">
                <a:solidFill>
                  <a:schemeClr val="tx1"/>
                </a:solidFill>
              </a:rPr>
              <a:t>문 다음에는 변수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개가 아니라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개를 적어야 한다</a:t>
            </a:r>
            <a:r>
              <a:rPr lang="en-US" altLang="ko-KR" dirty="0">
                <a:solidFill>
                  <a:schemeClr val="tx1"/>
                </a:solidFill>
              </a:rPr>
              <a:t>. -&gt; </a:t>
            </a:r>
            <a:r>
              <a:rPr lang="ko-KR" altLang="en-US" dirty="0">
                <a:solidFill>
                  <a:schemeClr val="tx1"/>
                </a:solidFill>
              </a:rPr>
              <a:t>그리고 </a:t>
            </a:r>
            <a:r>
              <a:rPr lang="en-US" altLang="ko-KR" dirty="0" err="1">
                <a:solidFill>
                  <a:schemeClr val="tx1"/>
                </a:solidFill>
              </a:rPr>
              <a:t>Dict</a:t>
            </a:r>
            <a:r>
              <a:rPr lang="ko-KR" altLang="en-US" dirty="0">
                <a:solidFill>
                  <a:schemeClr val="tx1"/>
                </a:solidFill>
              </a:rPr>
              <a:t>이름을 적은 다음 </a:t>
            </a:r>
            <a:r>
              <a:rPr lang="en-US" altLang="ko-KR" dirty="0">
                <a:solidFill>
                  <a:schemeClr val="tx1"/>
                </a:solidFill>
              </a:rPr>
              <a:t>.items()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붙여야 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1AD50F-3324-9945-BB15-7FA1866F75C8}"/>
              </a:ext>
            </a:extLst>
          </p:cNvPr>
          <p:cNvGrpSpPr/>
          <p:nvPr/>
        </p:nvGrpSpPr>
        <p:grpSpPr>
          <a:xfrm>
            <a:off x="6361043" y="2286001"/>
            <a:ext cx="5276028" cy="2147748"/>
            <a:chOff x="6520335" y="3767619"/>
            <a:chExt cx="5276028" cy="21477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F8EA22-9936-7848-AFED-4FCC87E67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0335" y="3767619"/>
              <a:ext cx="5276028" cy="1261582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CD49012-BFFC-B84F-85AC-9B02D8A94599}"/>
                </a:ext>
              </a:extLst>
            </p:cNvPr>
            <p:cNvCxnSpPr/>
            <p:nvPr/>
          </p:nvCxnSpPr>
          <p:spPr>
            <a:xfrm>
              <a:off x="6957391" y="4438166"/>
              <a:ext cx="182880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AA718D-08D7-4147-9B0E-9E9F053397DB}"/>
                </a:ext>
              </a:extLst>
            </p:cNvPr>
            <p:cNvSpPr txBox="1"/>
            <p:nvPr/>
          </p:nvSpPr>
          <p:spPr>
            <a:xfrm>
              <a:off x="6520335" y="5546035"/>
              <a:ext cx="1470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변수 </a:t>
              </a:r>
              <a:r>
                <a:rPr lang="en-US" altLang="ko-KR" dirty="0"/>
                <a:t>2</a:t>
              </a:r>
              <a:r>
                <a:rPr lang="ko-KR" altLang="en-US" dirty="0"/>
                <a:t>개</a:t>
              </a:r>
              <a:endParaRPr lang="en-US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6ED73BB-A75F-8C4A-939B-52CE26BEA493}"/>
                </a:ext>
              </a:extLst>
            </p:cNvPr>
            <p:cNvCxnSpPr/>
            <p:nvPr/>
          </p:nvCxnSpPr>
          <p:spPr>
            <a:xfrm flipV="1">
              <a:off x="6679096" y="4438166"/>
              <a:ext cx="278295" cy="1107869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5558A2F-5CD3-DA4F-BCD1-966F9E971AC7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48" y="4809227"/>
              <a:ext cx="2113722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49467F-3516-FB41-BA8B-C5FED51246E7}"/>
                </a:ext>
              </a:extLst>
            </p:cNvPr>
            <p:cNvSpPr txBox="1"/>
            <p:nvPr/>
          </p:nvSpPr>
          <p:spPr>
            <a:xfrm>
              <a:off x="8786191" y="554603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/>
                <a:t>변수명을</a:t>
              </a:r>
              <a:r>
                <a:rPr lang="ko-KR" altLang="en-US" dirty="0"/>
                <a:t> </a:t>
              </a:r>
              <a:r>
                <a:rPr lang="ko-KR" altLang="en-US" dirty="0" err="1"/>
                <a:t>튜플로</a:t>
              </a:r>
              <a:r>
                <a:rPr lang="ko-KR" altLang="en-US" dirty="0"/>
                <a:t> </a:t>
              </a:r>
              <a:r>
                <a:rPr lang="en-US" altLang="ko-KR" dirty="0"/>
                <a:t>2</a:t>
              </a:r>
              <a:r>
                <a:rPr lang="ko-KR" altLang="en-US" dirty="0"/>
                <a:t>개 표현</a:t>
              </a:r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8561E17-FB08-C146-A89E-BD342C465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76469" y="4809228"/>
              <a:ext cx="198782" cy="736807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C3A28BD-DD08-7F48-BF07-1852EFC4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840" y="4959358"/>
            <a:ext cx="5506604" cy="92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04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77"/>
              </a:rPr>
              <a:t>5) </a:t>
            </a:r>
            <a:r>
              <a:rPr lang="en-US" altLang="ko-KR" cap="none" dirty="0">
                <a:latin typeface="Arial Rounded MT Bold" panose="020F0704030504030204" pitchFamily="34" charset="77"/>
              </a:rPr>
              <a:t>while</a:t>
            </a:r>
            <a:r>
              <a:rPr lang="ko-KR" altLang="en-US" dirty="0">
                <a:latin typeface="Arial Rounded MT Bold" panose="020F0704030504030204" pitchFamily="34" charset="77"/>
              </a:rPr>
              <a:t>문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4"/>
            <a:ext cx="10178322" cy="50407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for</a:t>
            </a:r>
            <a:r>
              <a:rPr lang="ko-KR" altLang="en-US" sz="2800" dirty="0">
                <a:solidFill>
                  <a:schemeClr val="tx1"/>
                </a:solidFill>
              </a:rPr>
              <a:t>방법 말고</a:t>
            </a:r>
            <a:r>
              <a:rPr lang="en-US" altLang="ko-KR" sz="2800" dirty="0">
                <a:solidFill>
                  <a:schemeClr val="tx1"/>
                </a:solidFill>
              </a:rPr>
              <a:t> while</a:t>
            </a:r>
            <a:r>
              <a:rPr lang="ko-KR" altLang="en-US" sz="2800" dirty="0">
                <a:solidFill>
                  <a:schemeClr val="tx1"/>
                </a:solidFill>
              </a:rPr>
              <a:t>로도 </a:t>
            </a:r>
            <a:r>
              <a:rPr lang="ko-KR" altLang="en-US" sz="2800" dirty="0" err="1">
                <a:solidFill>
                  <a:schemeClr val="tx1"/>
                </a:solidFill>
              </a:rPr>
              <a:t>반복문</a:t>
            </a:r>
            <a:r>
              <a:rPr lang="ko-KR" altLang="en-US" sz="2800" dirty="0">
                <a:solidFill>
                  <a:schemeClr val="tx1"/>
                </a:solidFill>
              </a:rPr>
              <a:t> 가능 </a:t>
            </a:r>
            <a:r>
              <a:rPr lang="en-US" altLang="ko-KR" sz="2800" dirty="0">
                <a:solidFill>
                  <a:schemeClr val="tx1"/>
                </a:solidFill>
              </a:rPr>
              <a:t>(</a:t>
            </a:r>
            <a:r>
              <a:rPr lang="ko-KR" altLang="en-US" sz="2800" dirty="0">
                <a:solidFill>
                  <a:schemeClr val="tx1"/>
                </a:solidFill>
              </a:rPr>
              <a:t>반복 작업 가능</a:t>
            </a:r>
            <a:r>
              <a:rPr lang="en-US" altLang="ko-KR" sz="28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3600" b="1" dirty="0">
                <a:solidFill>
                  <a:schemeClr val="tx1"/>
                </a:solidFill>
              </a:rPr>
              <a:t>for vs while (</a:t>
            </a:r>
            <a:r>
              <a:rPr lang="ko-KR" altLang="en-US" sz="3600" b="1" dirty="0">
                <a:solidFill>
                  <a:schemeClr val="tx1"/>
                </a:solidFill>
              </a:rPr>
              <a:t>경우에 따라 편한 거 고르면 됨</a:t>
            </a:r>
            <a:r>
              <a:rPr lang="en-US" altLang="ko-KR" sz="3600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for</a:t>
            </a:r>
            <a:r>
              <a:rPr lang="ko-KR" altLang="en-US" sz="2800" dirty="0">
                <a:solidFill>
                  <a:schemeClr val="tx1"/>
                </a:solidFill>
              </a:rPr>
              <a:t>문은 반복 횟수가 미리 정해져 있거나</a:t>
            </a:r>
            <a:r>
              <a:rPr lang="en-US" altLang="ko-KR" sz="2800" dirty="0">
                <a:solidFill>
                  <a:schemeClr val="tx1"/>
                </a:solidFill>
              </a:rPr>
              <a:t> list, tuple, dictionary </a:t>
            </a:r>
            <a:r>
              <a:rPr lang="ko-KR" altLang="en-US" sz="2800" dirty="0">
                <a:solidFill>
                  <a:schemeClr val="tx1"/>
                </a:solidFill>
              </a:rPr>
              <a:t>와 같은 </a:t>
            </a:r>
            <a:r>
              <a:rPr lang="en-US" altLang="ko-KR" sz="2800" dirty="0">
                <a:solidFill>
                  <a:schemeClr val="tx1"/>
                </a:solidFill>
              </a:rPr>
              <a:t>python </a:t>
            </a:r>
            <a:r>
              <a:rPr lang="ko-KR" altLang="en-US" sz="2800" dirty="0">
                <a:solidFill>
                  <a:schemeClr val="tx1"/>
                </a:solidFill>
              </a:rPr>
              <a:t>자료구조와 함께 사용됨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solidFill>
                  <a:schemeClr val="tx1"/>
                </a:solidFill>
              </a:rPr>
              <a:t>while</a:t>
            </a:r>
            <a:r>
              <a:rPr lang="ko-KR" altLang="en-US" sz="2800" dirty="0">
                <a:solidFill>
                  <a:schemeClr val="tx1"/>
                </a:solidFill>
              </a:rPr>
              <a:t>문은 반복해야 할 숫자가 정해지지 않고</a:t>
            </a:r>
            <a:r>
              <a:rPr lang="en-US" altLang="ko-KR" sz="2800" dirty="0">
                <a:solidFill>
                  <a:schemeClr val="tx1"/>
                </a:solidFill>
              </a:rPr>
              <a:t>, </a:t>
            </a:r>
            <a:r>
              <a:rPr lang="ko-KR" altLang="en-US" sz="2800" dirty="0">
                <a:solidFill>
                  <a:schemeClr val="tx1"/>
                </a:solidFill>
              </a:rPr>
              <a:t>어떤 조건을 충족하는 동안만 실행할 때 주로 사용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ko-KR" altLang="en-U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문과 </a:t>
            </a:r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while</a:t>
            </a:r>
            <a:r>
              <a:rPr lang="ko-KR" altLang="en-U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문의 결과는 </a:t>
            </a:r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당연한 말이지만</a:t>
            </a:r>
            <a:r>
              <a:rPr lang="en-US" altLang="ko-KR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동일함</a:t>
            </a:r>
            <a:endParaRPr lang="en-US" altLang="ko-KR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288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7069E3-61A8-6143-8A1C-301FA29A3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52" y="2286001"/>
            <a:ext cx="3760020" cy="2362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5984274" cy="1492132"/>
          </a:xfrm>
        </p:spPr>
        <p:txBody>
          <a:bodyPr>
            <a:norm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5) </a:t>
            </a:r>
            <a:r>
              <a:rPr lang="en-US" altLang="ko-KR" cap="none" dirty="0">
                <a:latin typeface="Arial Rounded MT Bold" panose="020F0704030504030204" pitchFamily="34" charset="77"/>
              </a:rPr>
              <a:t>while</a:t>
            </a:r>
            <a:r>
              <a:rPr lang="ko-KR" altLang="en-US" dirty="0">
                <a:latin typeface="Arial Rounded MT Bold" panose="020F0704030504030204" pitchFamily="34" charset="77"/>
              </a:rPr>
              <a:t>문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03734"/>
            <a:ext cx="5984274" cy="4085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for</a:t>
            </a:r>
            <a:r>
              <a:rPr lang="ko-KR" altLang="en-US" dirty="0">
                <a:solidFill>
                  <a:schemeClr val="tx1"/>
                </a:solidFill>
              </a:rPr>
              <a:t>문에서 했던 것처럼 </a:t>
            </a:r>
            <a:r>
              <a:rPr lang="en-US" altLang="ko-KR" dirty="0">
                <a:solidFill>
                  <a:schemeClr val="tx1"/>
                </a:solidFill>
              </a:rPr>
              <a:t>0</a:t>
            </a:r>
            <a:r>
              <a:rPr lang="ko-KR" altLang="en-US" dirty="0" err="1">
                <a:solidFill>
                  <a:schemeClr val="tx1"/>
                </a:solidFill>
              </a:rPr>
              <a:t>부터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10</a:t>
            </a:r>
            <a:r>
              <a:rPr lang="ko-KR" altLang="en-US" dirty="0">
                <a:solidFill>
                  <a:schemeClr val="tx1"/>
                </a:solidFill>
              </a:rPr>
              <a:t>까지</a:t>
            </a:r>
            <a:r>
              <a:rPr lang="en-US" altLang="ko-KR" dirty="0">
                <a:solidFill>
                  <a:schemeClr val="tx1"/>
                </a:solidFill>
              </a:rPr>
              <a:t> while</a:t>
            </a:r>
            <a:r>
              <a:rPr lang="ko-KR" altLang="en-US" dirty="0">
                <a:solidFill>
                  <a:schemeClr val="tx1"/>
                </a:solidFill>
              </a:rPr>
              <a:t>문을 사용해서 출력해보자</a:t>
            </a:r>
            <a:r>
              <a:rPr lang="en-US" altLang="ko-KR" dirty="0">
                <a:solidFill>
                  <a:schemeClr val="tx1"/>
                </a:solidFill>
              </a:rPr>
              <a:t>! </a:t>
            </a:r>
          </a:p>
          <a:p>
            <a:pPr marL="514350" indent="-51435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초기값을 </a:t>
            </a:r>
            <a:r>
              <a:rPr lang="en-US" altLang="ko-KR" dirty="0">
                <a:solidFill>
                  <a:schemeClr val="tx1"/>
                </a:solidFill>
              </a:rPr>
              <a:t>binding</a:t>
            </a:r>
            <a:r>
              <a:rPr lang="ko-KR" altLang="en-US" dirty="0">
                <a:solidFill>
                  <a:schemeClr val="tx1"/>
                </a:solidFill>
              </a:rPr>
              <a:t> 하는 것이 필요하다</a:t>
            </a:r>
            <a:endParaRPr lang="en-US" altLang="ko-KR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안에는 조건을 써준다</a:t>
            </a:r>
            <a:endParaRPr lang="en-US" altLang="ko-KR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그 조건이 충족하면 </a:t>
            </a:r>
            <a:r>
              <a:rPr lang="en-US" altLang="ko-KR" dirty="0">
                <a:solidFill>
                  <a:schemeClr val="tx1"/>
                </a:solidFill>
              </a:rPr>
              <a:t>print</a:t>
            </a:r>
            <a:r>
              <a:rPr lang="ko-KR" altLang="en-US" dirty="0">
                <a:solidFill>
                  <a:schemeClr val="tx1"/>
                </a:solidFill>
              </a:rPr>
              <a:t>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marL="514350" indent="-514350">
              <a:buAutoNum type="arabicPeriod"/>
            </a:pP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ko-KR" altLang="en-US" dirty="0" err="1">
                <a:solidFill>
                  <a:schemeClr val="tx1"/>
                </a:solidFill>
              </a:rPr>
              <a:t>조건문을</a:t>
            </a:r>
            <a:r>
              <a:rPr lang="ko-KR" altLang="en-US" dirty="0">
                <a:solidFill>
                  <a:schemeClr val="tx1"/>
                </a:solidFill>
              </a:rPr>
              <a:t> 만족할 때 마다 값이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씩 증가함</a:t>
            </a:r>
            <a:endParaRPr lang="en-US" altLang="ko-KR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altLang="ko-KR" dirty="0" err="1">
                <a:solidFill>
                  <a:schemeClr val="tx1"/>
                </a:solidFill>
              </a:rPr>
              <a:t>i</a:t>
            </a:r>
            <a:r>
              <a:rPr lang="ko-KR" altLang="en-US" dirty="0">
                <a:solidFill>
                  <a:schemeClr val="tx1"/>
                </a:solidFill>
              </a:rPr>
              <a:t>의 값을 확인해 보면 </a:t>
            </a:r>
            <a:r>
              <a:rPr lang="en-US" altLang="ko-KR" dirty="0" err="1">
                <a:solidFill>
                  <a:schemeClr val="tx1"/>
                </a:solidFill>
              </a:rPr>
              <a:t>i</a:t>
            </a:r>
            <a:r>
              <a:rPr lang="ko-KR" altLang="en-US" dirty="0">
                <a:solidFill>
                  <a:schemeClr val="tx1"/>
                </a:solidFill>
              </a:rPr>
              <a:t>의 값이 </a:t>
            </a:r>
            <a:r>
              <a:rPr lang="en-US" altLang="ko-KR" dirty="0">
                <a:solidFill>
                  <a:schemeClr val="tx1"/>
                </a:solidFill>
              </a:rPr>
              <a:t>11 -&gt;</a:t>
            </a:r>
            <a:r>
              <a:rPr lang="ko-KR" altLang="en-US" dirty="0">
                <a:solidFill>
                  <a:schemeClr val="tx1"/>
                </a:solidFill>
              </a:rPr>
              <a:t> 그래서 더 </a:t>
            </a:r>
            <a:r>
              <a:rPr lang="en-US" altLang="ko-KR" dirty="0">
                <a:solidFill>
                  <a:schemeClr val="tx1"/>
                </a:solidFill>
              </a:rPr>
              <a:t>print</a:t>
            </a:r>
            <a:r>
              <a:rPr lang="ko-KR" altLang="en-US" dirty="0">
                <a:solidFill>
                  <a:schemeClr val="tx1"/>
                </a:solidFill>
              </a:rPr>
              <a:t>되지 않고 </a:t>
            </a:r>
            <a:r>
              <a:rPr lang="en-US" altLang="ko-KR" dirty="0">
                <a:solidFill>
                  <a:schemeClr val="tx1"/>
                </a:solidFill>
              </a:rPr>
              <a:t>while</a:t>
            </a:r>
            <a:r>
              <a:rPr lang="ko-KR" altLang="en-US" dirty="0">
                <a:solidFill>
                  <a:schemeClr val="tx1"/>
                </a:solidFill>
              </a:rPr>
              <a:t>문을 빠져 나온 것이다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C846D-30E2-6948-AB93-C51989C7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952" y="4653800"/>
            <a:ext cx="1132796" cy="6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22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B83143-6062-2D4A-80DE-24971D2AB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226" y="2286001"/>
            <a:ext cx="3955774" cy="2749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695156" cy="1492132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5-1) </a:t>
            </a:r>
            <a:r>
              <a:rPr lang="en-US" altLang="ko-KR" cap="none" dirty="0">
                <a:latin typeface="Arial Rounded MT Bold" panose="020F0704030504030204" pitchFamily="34" charset="77"/>
              </a:rPr>
              <a:t>while</a:t>
            </a:r>
            <a:r>
              <a:rPr lang="ko-KR" altLang="en-US" cap="none" dirty="0">
                <a:latin typeface="Arial Rounded MT Bold" panose="020F0704030504030204" pitchFamily="34" charset="77"/>
              </a:rPr>
              <a:t>문을 이용한 가격 계산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984274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>
                <a:solidFill>
                  <a:schemeClr val="tx1"/>
                </a:solidFill>
              </a:rPr>
              <a:t>ex) git </a:t>
            </a:r>
            <a:r>
              <a:rPr lang="ko-KR" altLang="en-US">
                <a:solidFill>
                  <a:schemeClr val="tx1"/>
                </a:solidFill>
              </a:rPr>
              <a:t>주식 </a:t>
            </a:r>
            <a:r>
              <a:rPr lang="en-US" altLang="ko-KR">
                <a:solidFill>
                  <a:schemeClr val="tx1"/>
                </a:solidFill>
              </a:rPr>
              <a:t>1</a:t>
            </a:r>
            <a:r>
              <a:rPr lang="ko-KR" altLang="en-US">
                <a:solidFill>
                  <a:schemeClr val="tx1"/>
                </a:solidFill>
              </a:rPr>
              <a:t>개를 가지고 있고 원래 가격이 </a:t>
            </a:r>
            <a:r>
              <a:rPr lang="en-US" altLang="ko-KR">
                <a:solidFill>
                  <a:schemeClr val="tx1"/>
                </a:solidFill>
              </a:rPr>
              <a:t>1000</a:t>
            </a:r>
            <a:r>
              <a:rPr lang="ko-KR" altLang="en-US">
                <a:solidFill>
                  <a:schemeClr val="tx1"/>
                </a:solidFill>
              </a:rPr>
              <a:t>원 이었는데</a:t>
            </a:r>
            <a:r>
              <a:rPr lang="en-US" altLang="ko-KR">
                <a:solidFill>
                  <a:schemeClr val="tx1"/>
                </a:solidFill>
              </a:rPr>
              <a:t> </a:t>
            </a:r>
            <a:r>
              <a:rPr lang="ko-KR" altLang="en-US">
                <a:solidFill>
                  <a:schemeClr val="tx1"/>
                </a:solidFill>
              </a:rPr>
              <a:t>매일 </a:t>
            </a:r>
            <a:r>
              <a:rPr lang="en-US" altLang="ko-KR">
                <a:solidFill>
                  <a:schemeClr val="tx1"/>
                </a:solidFill>
              </a:rPr>
              <a:t>3%</a:t>
            </a:r>
            <a:r>
              <a:rPr lang="ko-KR" altLang="en-US">
                <a:solidFill>
                  <a:schemeClr val="tx1"/>
                </a:solidFill>
              </a:rPr>
              <a:t>씩 오르고 </a:t>
            </a:r>
            <a:r>
              <a:rPr lang="en-US" altLang="ko-KR">
                <a:solidFill>
                  <a:schemeClr val="tx1"/>
                </a:solidFill>
              </a:rPr>
              <a:t>5</a:t>
            </a:r>
            <a:r>
              <a:rPr lang="ko-KR" altLang="en-US">
                <a:solidFill>
                  <a:schemeClr val="tx1"/>
                </a:solidFill>
              </a:rPr>
              <a:t>일 연속 가격이 오른다고 생각해보자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>
                <a:solidFill>
                  <a:schemeClr val="tx1"/>
                </a:solidFill>
              </a:rPr>
              <a:t>5</a:t>
            </a:r>
            <a:r>
              <a:rPr lang="ko-KR" altLang="en-US">
                <a:solidFill>
                  <a:schemeClr val="tx1"/>
                </a:solidFill>
              </a:rPr>
              <a:t>일 후의 가격 계산</a:t>
            </a:r>
            <a:r>
              <a:rPr lang="en-US" altLang="ko-KR">
                <a:solidFill>
                  <a:schemeClr val="tx1"/>
                </a:solidFill>
              </a:rPr>
              <a:t>?!</a:t>
            </a:r>
          </a:p>
          <a:p>
            <a:pPr marL="0" indent="0">
              <a:buNone/>
            </a:pPr>
            <a:endParaRPr lang="en-US" altLang="ko-KR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2A029-1FF8-4A4C-9986-5E20AB49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8" y="4082796"/>
            <a:ext cx="5984274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9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5-2) </a:t>
            </a:r>
            <a:r>
              <a:rPr lang="en-US" altLang="ko-KR" cap="none" dirty="0">
                <a:latin typeface="Arial Rounded MT Bold" panose="020F0704030504030204" pitchFamily="34" charset="77"/>
              </a:rPr>
              <a:t>while</a:t>
            </a:r>
            <a:r>
              <a:rPr lang="ko-KR" altLang="en-US" cap="none" dirty="0">
                <a:latin typeface="Arial Rounded MT Bold" panose="020F0704030504030204" pitchFamily="34" charset="77"/>
              </a:rPr>
              <a:t>과 </a:t>
            </a:r>
            <a:r>
              <a:rPr lang="en-US" altLang="ko-KR" cap="none" dirty="0">
                <a:latin typeface="Arial Rounded MT Bold" panose="020F0704030504030204" pitchFamily="34" charset="77"/>
              </a:rPr>
              <a:t>if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51113"/>
            <a:ext cx="10178322" cy="502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chemeClr val="tx1"/>
                </a:solidFill>
              </a:rPr>
              <a:t>while</a:t>
            </a:r>
            <a:r>
              <a:rPr lang="ko-KR" altLang="en-US" sz="2400" dirty="0">
                <a:solidFill>
                  <a:schemeClr val="tx1"/>
                </a:solidFill>
              </a:rPr>
              <a:t>문과 </a:t>
            </a:r>
            <a:r>
              <a:rPr lang="en-US" altLang="ko-KR" sz="2400" dirty="0">
                <a:solidFill>
                  <a:schemeClr val="tx1"/>
                </a:solidFill>
              </a:rPr>
              <a:t>if </a:t>
            </a:r>
            <a:r>
              <a:rPr lang="ko-KR" altLang="en-US" sz="2400" dirty="0">
                <a:solidFill>
                  <a:schemeClr val="tx1"/>
                </a:solidFill>
              </a:rPr>
              <a:t>문을 함께 사용하는 방법을 알아보자</a:t>
            </a:r>
            <a:r>
              <a:rPr lang="en-US" altLang="ko-KR" sz="24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-&gt; </a:t>
            </a:r>
            <a:r>
              <a:rPr lang="ko-KR" alt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반복적인 작업을 하다가 특정 조건일 때는 다르게 처리하려고 할 때 사용한다</a:t>
            </a:r>
            <a:r>
              <a:rPr lang="en-US" altLang="ko-K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!</a:t>
            </a:r>
          </a:p>
          <a:p>
            <a:pPr marL="0" indent="0">
              <a:buNone/>
            </a:pPr>
            <a:endParaRPr lang="en-US" altLang="ko-KR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ex) 0 </a:t>
            </a:r>
            <a:r>
              <a:rPr lang="ko-KR" altLang="en-US" dirty="0" err="1">
                <a:solidFill>
                  <a:schemeClr val="tx1"/>
                </a:solidFill>
              </a:rPr>
              <a:t>부터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10</a:t>
            </a:r>
            <a:r>
              <a:rPr lang="ko-KR" altLang="en-US" dirty="0">
                <a:solidFill>
                  <a:schemeClr val="tx1"/>
                </a:solidFill>
              </a:rPr>
              <a:t>까지 숫자 출력 하는데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홀수 </a:t>
            </a:r>
            <a:r>
              <a:rPr lang="en-US" altLang="ko-KR" dirty="0">
                <a:solidFill>
                  <a:schemeClr val="tx1"/>
                </a:solidFill>
              </a:rPr>
              <a:t>or </a:t>
            </a:r>
            <a:r>
              <a:rPr lang="ko-KR" altLang="en-US" dirty="0">
                <a:solidFill>
                  <a:schemeClr val="tx1"/>
                </a:solidFill>
              </a:rPr>
              <a:t>짝수만 출력하는 경우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hint: </a:t>
            </a:r>
            <a:r>
              <a:rPr lang="ko-KR" altLang="en-US" dirty="0">
                <a:solidFill>
                  <a:schemeClr val="tx1"/>
                </a:solidFill>
              </a:rPr>
              <a:t>홀수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짝수를 확인하는 일반적인 방법은 숫자를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로 나눈 뒤 나머지를 보는 것</a:t>
            </a:r>
            <a:r>
              <a:rPr lang="en-US" altLang="ko-KR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tx1"/>
                </a:solidFill>
              </a:rPr>
              <a:t>나머지는 </a:t>
            </a:r>
            <a:r>
              <a:rPr lang="en-US" altLang="ko-KR" dirty="0">
                <a:solidFill>
                  <a:schemeClr val="tx1"/>
                </a:solidFill>
              </a:rPr>
              <a:t>% </a:t>
            </a:r>
            <a:r>
              <a:rPr lang="ko-KR" altLang="en-US" dirty="0">
                <a:solidFill>
                  <a:schemeClr val="tx1"/>
                </a:solidFill>
              </a:rPr>
              <a:t>연산자를 이용해 구할 수 있음</a:t>
            </a:r>
            <a:r>
              <a:rPr lang="en-US" altLang="ko-KR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x % 2 == 1 </a:t>
            </a:r>
            <a:r>
              <a:rPr lang="ko-KR" altLang="en-US" dirty="0">
                <a:solidFill>
                  <a:schemeClr val="tx1"/>
                </a:solidFill>
              </a:rPr>
              <a:t>홀수    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x % 2 == 0 </a:t>
            </a:r>
            <a:r>
              <a:rPr lang="ko-KR" altLang="en-US" dirty="0">
                <a:solidFill>
                  <a:schemeClr val="tx1"/>
                </a:solidFill>
              </a:rPr>
              <a:t>짝수 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dirty="0" err="1">
                <a:solidFill>
                  <a:schemeClr val="tx1"/>
                </a:solidFill>
              </a:rPr>
              <a:t>num</a:t>
            </a:r>
            <a:r>
              <a:rPr lang="en-US" altLang="ko-KR" dirty="0">
                <a:solidFill>
                  <a:schemeClr val="tx1"/>
                </a:solidFill>
              </a:rPr>
              <a:t> = </a:t>
            </a:r>
            <a:r>
              <a:rPr lang="en-US" altLang="ko-KR" dirty="0" err="1">
                <a:solidFill>
                  <a:schemeClr val="tx1"/>
                </a:solidFill>
              </a:rPr>
              <a:t>num</a:t>
            </a:r>
            <a:r>
              <a:rPr lang="en-US" altLang="ko-KR" dirty="0">
                <a:solidFill>
                  <a:schemeClr val="tx1"/>
                </a:solidFill>
              </a:rPr>
              <a:t> +1</a:t>
            </a:r>
          </a:p>
          <a:p>
            <a:pPr marL="0" indent="0">
              <a:buNone/>
            </a:pPr>
            <a:r>
              <a:rPr lang="en-US" altLang="ko-KR" dirty="0" err="1">
                <a:solidFill>
                  <a:schemeClr val="tx1"/>
                </a:solidFill>
              </a:rPr>
              <a:t>num</a:t>
            </a:r>
            <a:r>
              <a:rPr lang="en-US" altLang="ko-KR" dirty="0">
                <a:solidFill>
                  <a:schemeClr val="tx1"/>
                </a:solidFill>
              </a:rPr>
              <a:t> +=1 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tx1"/>
                </a:solidFill>
              </a:rPr>
              <a:t>이 둘은 같은 의미다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72BF3-DBFC-8E4D-A3C4-1DB9EFD6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370" y="3728852"/>
            <a:ext cx="25146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5-3) </a:t>
            </a:r>
            <a:r>
              <a:rPr lang="en-US" altLang="ko-KR" cap="none" dirty="0">
                <a:latin typeface="Arial Rounded MT Bold" panose="020F0704030504030204" pitchFamily="34" charset="77"/>
              </a:rPr>
              <a:t>break</a:t>
            </a:r>
            <a:r>
              <a:rPr lang="ko-KR" altLang="en-US" cap="none" dirty="0">
                <a:latin typeface="Arial Rounded MT Bold" panose="020F0704030504030204" pitchFamily="34" charset="77"/>
              </a:rPr>
              <a:t>와 </a:t>
            </a:r>
            <a:r>
              <a:rPr lang="en-US" altLang="ko-KR" cap="none" dirty="0">
                <a:latin typeface="Arial Rounded MT Bold" panose="020F0704030504030204" pitchFamily="34" charset="77"/>
              </a:rPr>
              <a:t>continue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51113"/>
            <a:ext cx="10178322" cy="4555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chemeClr val="tx1"/>
                </a:solidFill>
              </a:rPr>
              <a:t>for</a:t>
            </a:r>
            <a:r>
              <a:rPr lang="ko-KR" altLang="en-US" sz="2400" dirty="0">
                <a:solidFill>
                  <a:schemeClr val="tx1"/>
                </a:solidFill>
              </a:rPr>
              <a:t>나 </a:t>
            </a:r>
            <a:r>
              <a:rPr lang="en-US" altLang="ko-KR" sz="2400" dirty="0">
                <a:solidFill>
                  <a:schemeClr val="tx1"/>
                </a:solidFill>
              </a:rPr>
              <a:t>while</a:t>
            </a:r>
            <a:r>
              <a:rPr lang="ko-KR" altLang="en-US" sz="2400" dirty="0">
                <a:solidFill>
                  <a:schemeClr val="tx1"/>
                </a:solidFill>
              </a:rPr>
              <a:t> 문을 이용해 어떤 작업을 반복적으로 수행하다가 특정 조건일 때 </a:t>
            </a:r>
            <a:r>
              <a:rPr lang="ko-KR" altLang="en-US" sz="2400" dirty="0" err="1">
                <a:solidFill>
                  <a:schemeClr val="tx1"/>
                </a:solidFill>
              </a:rPr>
              <a:t>반복문</a:t>
            </a:r>
            <a:r>
              <a:rPr lang="ko-KR" altLang="en-US" sz="2400" dirty="0">
                <a:solidFill>
                  <a:schemeClr val="tx1"/>
                </a:solidFill>
              </a:rPr>
              <a:t> 자체를 빠져 나와야 하는 경우 사용</a:t>
            </a:r>
            <a:r>
              <a:rPr lang="en-US" altLang="ko-KR" sz="24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2400" dirty="0">
                <a:solidFill>
                  <a:schemeClr val="tx1"/>
                </a:solidFill>
              </a:rPr>
              <a:t>infinity loop(</a:t>
            </a:r>
            <a:r>
              <a:rPr lang="ko-KR" altLang="en-US" sz="2400" dirty="0">
                <a:solidFill>
                  <a:schemeClr val="tx1"/>
                </a:solidFill>
              </a:rPr>
              <a:t>무한 루프</a:t>
            </a:r>
            <a:r>
              <a:rPr lang="en-US" altLang="ko-KR" sz="2400" dirty="0">
                <a:solidFill>
                  <a:schemeClr val="tx1"/>
                </a:solidFill>
              </a:rPr>
              <a:t>)</a:t>
            </a:r>
            <a:r>
              <a:rPr lang="ko-KR" altLang="en-US" sz="2400" dirty="0" err="1">
                <a:solidFill>
                  <a:schemeClr val="tx1"/>
                </a:solidFill>
              </a:rPr>
              <a:t>를</a:t>
            </a:r>
            <a:r>
              <a:rPr lang="ko-KR" altLang="en-US" sz="2400" dirty="0">
                <a:solidFill>
                  <a:schemeClr val="tx1"/>
                </a:solidFill>
              </a:rPr>
              <a:t> 생각 </a:t>
            </a:r>
            <a:r>
              <a:rPr lang="en-US" altLang="ko-KR" sz="2400" dirty="0">
                <a:solidFill>
                  <a:schemeClr val="tx1"/>
                </a:solidFill>
              </a:rPr>
              <a:t>– (while</a:t>
            </a:r>
            <a:r>
              <a:rPr lang="ko-KR" altLang="en-US" sz="2400" dirty="0">
                <a:solidFill>
                  <a:schemeClr val="tx1"/>
                </a:solidFill>
              </a:rPr>
              <a:t> 문이 계속 반복되려면 </a:t>
            </a:r>
            <a:r>
              <a:rPr lang="en-US" altLang="ko-KR" sz="2400" dirty="0">
                <a:solidFill>
                  <a:schemeClr val="tx1"/>
                </a:solidFill>
              </a:rPr>
              <a:t>while</a:t>
            </a:r>
            <a:r>
              <a:rPr lang="ko-KR" altLang="en-US" sz="2400" dirty="0">
                <a:solidFill>
                  <a:schemeClr val="tx1"/>
                </a:solidFill>
              </a:rPr>
              <a:t>문의 조건이 항상 참이면 된다</a:t>
            </a:r>
            <a:r>
              <a:rPr lang="en-US" altLang="ko-KR" sz="2400" dirty="0">
                <a:solidFill>
                  <a:schemeClr val="tx1"/>
                </a:solidFill>
              </a:rPr>
              <a:t>.)</a:t>
            </a: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400" dirty="0" err="1">
                <a:solidFill>
                  <a:schemeClr val="tx1"/>
                </a:solidFill>
              </a:rPr>
              <a:t>엔터치지마세여</a:t>
            </a:r>
            <a:r>
              <a:rPr lang="en-US" altLang="ko-KR" sz="2400" dirty="0">
                <a:solidFill>
                  <a:schemeClr val="tx1"/>
                </a:solidFill>
              </a:rPr>
              <a:t>… </a:t>
            </a:r>
            <a:r>
              <a:rPr lang="ko-KR" altLang="en-US" sz="2400" dirty="0">
                <a:solidFill>
                  <a:schemeClr val="tx1"/>
                </a:solidFill>
              </a:rPr>
              <a:t>무한히 나옵니다</a:t>
            </a:r>
            <a:r>
              <a:rPr lang="en-US" altLang="ko-KR" sz="2400" dirty="0">
                <a:solidFill>
                  <a:schemeClr val="tx1"/>
                </a:solidFill>
              </a:rPr>
              <a:t>;;</a:t>
            </a: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CAD74-EE7B-0A42-BAAB-E12D5821F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139" y="3318254"/>
            <a:ext cx="2819400" cy="622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ABE860-2C94-6C48-928F-A535EC8E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998" y="3303402"/>
            <a:ext cx="26035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3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D1FDF194-C99A-4C11-8A97-58FF75F6EC6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CAB5A9-13C6-4C85-AB53-C7D8B89541C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B5C8F0-2881-4184-92C6-0E251C42ABE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1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BCC826-0F95-4DB1-9DBA-C1F7BD60964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755946"/>
            <a:ext cx="12192000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71144-7BFD-A24A-AEA8-576C0999B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63" y="453945"/>
            <a:ext cx="3788544" cy="2975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5DB56E-FCED-7245-B70F-DE123245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26" y="453943"/>
            <a:ext cx="4288181" cy="29750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16" y="4292599"/>
            <a:ext cx="4777615" cy="146577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spc="800" dirty="0">
                <a:solidFill>
                  <a:schemeClr val="bg1"/>
                </a:solidFill>
              </a:rPr>
              <a:t>1</a:t>
            </a:r>
            <a:r>
              <a:rPr lang="ko-KR" altLang="en-US" sz="3600" spc="800" dirty="0" err="1">
                <a:solidFill>
                  <a:schemeClr val="bg1"/>
                </a:solidFill>
              </a:rPr>
              <a:t>부터</a:t>
            </a:r>
            <a:r>
              <a:rPr lang="ko-KR" altLang="en-US" sz="3600" spc="800" dirty="0">
                <a:solidFill>
                  <a:schemeClr val="bg1"/>
                </a:solidFill>
              </a:rPr>
              <a:t> </a:t>
            </a:r>
            <a:r>
              <a:rPr lang="en-US" altLang="ko-KR" sz="3600" spc="800" dirty="0">
                <a:solidFill>
                  <a:schemeClr val="bg1"/>
                </a:solidFill>
              </a:rPr>
              <a:t>10 </a:t>
            </a:r>
            <a:r>
              <a:rPr lang="ko-KR" altLang="en-US" sz="3600" spc="800" dirty="0">
                <a:solidFill>
                  <a:schemeClr val="bg1"/>
                </a:solidFill>
              </a:rPr>
              <a:t>출력하는데</a:t>
            </a:r>
            <a:r>
              <a:rPr lang="en-US" altLang="ko-KR" sz="3600" spc="800" dirty="0">
                <a:solidFill>
                  <a:schemeClr val="bg1"/>
                </a:solidFill>
              </a:rPr>
              <a:t>, 5</a:t>
            </a:r>
            <a:r>
              <a:rPr lang="ko-KR" altLang="en-US" sz="3600" spc="800" dirty="0">
                <a:solidFill>
                  <a:schemeClr val="bg1"/>
                </a:solidFill>
              </a:rPr>
              <a:t>만 건너 뛰고 출력</a:t>
            </a:r>
            <a:endParaRPr lang="en-US" sz="3600" spc="8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BC49163-EC5E-EB43-923B-2E77EEE6D2BF}"/>
              </a:ext>
            </a:extLst>
          </p:cNvPr>
          <p:cNvSpPr txBox="1">
            <a:spLocks/>
          </p:cNvSpPr>
          <p:nvPr/>
        </p:nvSpPr>
        <p:spPr>
          <a:xfrm>
            <a:off x="841227" y="4373406"/>
            <a:ext cx="4777615" cy="1465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spc="800" dirty="0">
                <a:solidFill>
                  <a:schemeClr val="bg1"/>
                </a:solidFill>
              </a:rPr>
              <a:t>1</a:t>
            </a:r>
            <a:r>
              <a:rPr lang="ko-KR" altLang="en-US" sz="3600" spc="800" dirty="0" err="1">
                <a:solidFill>
                  <a:schemeClr val="bg1"/>
                </a:solidFill>
              </a:rPr>
              <a:t>부터</a:t>
            </a:r>
            <a:r>
              <a:rPr lang="ko-KR" altLang="en-US" sz="3600" spc="800" dirty="0">
                <a:solidFill>
                  <a:schemeClr val="bg1"/>
                </a:solidFill>
              </a:rPr>
              <a:t> </a:t>
            </a:r>
            <a:r>
              <a:rPr lang="en-US" altLang="ko-KR" sz="3600" spc="800" dirty="0">
                <a:solidFill>
                  <a:schemeClr val="bg1"/>
                </a:solidFill>
              </a:rPr>
              <a:t>10 </a:t>
            </a:r>
            <a:r>
              <a:rPr lang="ko-KR" altLang="en-US" sz="3600" spc="800" dirty="0">
                <a:solidFill>
                  <a:schemeClr val="bg1"/>
                </a:solidFill>
              </a:rPr>
              <a:t>출력</a:t>
            </a:r>
            <a:endParaRPr lang="en-US" sz="3600" spc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578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6)</a:t>
            </a:r>
            <a:r>
              <a:rPr lang="ko-KR" altLang="en-US" dirty="0">
                <a:latin typeface="Arial Rounded MT Bold" panose="020F0704030504030204" pitchFamily="34" charset="77"/>
              </a:rPr>
              <a:t> 중첩 루프</a:t>
            </a:r>
            <a:r>
              <a:rPr lang="en-US" altLang="ko-KR" dirty="0">
                <a:latin typeface="Arial Rounded MT Bold" panose="020F0704030504030204" pitchFamily="34" charset="77"/>
              </a:rPr>
              <a:t>(</a:t>
            </a:r>
            <a:r>
              <a:rPr lang="en-US" altLang="ko-KR" cap="none" dirty="0">
                <a:latin typeface="Arial Rounded MT Bold" panose="020F0704030504030204" pitchFamily="34" charset="77"/>
              </a:rPr>
              <a:t>nested loop</a:t>
            </a:r>
            <a:r>
              <a:rPr lang="en-US" altLang="ko-KR" dirty="0">
                <a:latin typeface="Arial Rounded MT Bold" panose="020F0704030504030204" pitchFamily="34" charset="77"/>
              </a:rPr>
              <a:t>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loop</a:t>
            </a:r>
            <a:r>
              <a:rPr lang="ko-KR" altLang="en-US" sz="3200" dirty="0">
                <a:solidFill>
                  <a:schemeClr val="tx1"/>
                </a:solidFill>
              </a:rPr>
              <a:t>는 반복</a:t>
            </a:r>
            <a:r>
              <a:rPr lang="en-US" altLang="ko-KR" sz="3200" dirty="0">
                <a:solidFill>
                  <a:schemeClr val="tx1"/>
                </a:solidFill>
              </a:rPr>
              <a:t>,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en-US" altLang="ko-KR" sz="3200" dirty="0">
                <a:solidFill>
                  <a:schemeClr val="tx1"/>
                </a:solidFill>
              </a:rPr>
              <a:t>nested</a:t>
            </a:r>
            <a:r>
              <a:rPr lang="ko-KR" altLang="en-US" sz="3200" dirty="0">
                <a:solidFill>
                  <a:schemeClr val="tx1"/>
                </a:solidFill>
              </a:rPr>
              <a:t>는 여러 개가 겹치는 것을 의미한다</a:t>
            </a: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=</a:t>
            </a:r>
            <a:r>
              <a:rPr lang="ko-KR" altLang="en-US" sz="3200" dirty="0">
                <a:solidFill>
                  <a:schemeClr val="tx1"/>
                </a:solidFill>
              </a:rPr>
              <a:t> </a:t>
            </a:r>
            <a:r>
              <a:rPr lang="ko-KR" altLang="en-US" sz="3200" dirty="0" err="1">
                <a:solidFill>
                  <a:schemeClr val="tx1"/>
                </a:solidFill>
              </a:rPr>
              <a:t>반복문</a:t>
            </a:r>
            <a:r>
              <a:rPr lang="ko-KR" altLang="en-US" sz="3200" dirty="0">
                <a:solidFill>
                  <a:schemeClr val="tx1"/>
                </a:solidFill>
              </a:rPr>
              <a:t> 여러 개가 겹쳐있는 구조</a:t>
            </a:r>
            <a:r>
              <a:rPr lang="en-US" altLang="ko-KR" sz="3200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chemeClr val="tx1"/>
                </a:solidFill>
              </a:rPr>
              <a:t>두 개의 </a:t>
            </a:r>
            <a:r>
              <a:rPr lang="ko-KR" altLang="en-US" sz="2400" dirty="0" err="1">
                <a:solidFill>
                  <a:schemeClr val="tx1"/>
                </a:solidFill>
              </a:rPr>
              <a:t>반복문이</a:t>
            </a:r>
            <a:r>
              <a:rPr lang="ko-KR" altLang="en-US" sz="2400" dirty="0">
                <a:solidFill>
                  <a:schemeClr val="tx1"/>
                </a:solidFill>
              </a:rPr>
              <a:t> 겹침 </a:t>
            </a:r>
            <a:r>
              <a:rPr lang="en-US" altLang="ko-KR" sz="2400" dirty="0">
                <a:solidFill>
                  <a:schemeClr val="tx1"/>
                </a:solidFill>
              </a:rPr>
              <a:t>= </a:t>
            </a:r>
            <a:r>
              <a:rPr lang="ko-KR" altLang="en-US" sz="2400" dirty="0">
                <a:solidFill>
                  <a:schemeClr val="tx1"/>
                </a:solidFill>
              </a:rPr>
              <a:t>이중 루프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chemeClr val="tx1"/>
                </a:solidFill>
              </a:rPr>
              <a:t>세 개의 </a:t>
            </a:r>
            <a:r>
              <a:rPr lang="ko-KR" altLang="en-US" sz="2400" dirty="0" err="1">
                <a:solidFill>
                  <a:schemeClr val="tx1"/>
                </a:solidFill>
              </a:rPr>
              <a:t>반복문이</a:t>
            </a:r>
            <a:r>
              <a:rPr lang="ko-KR" altLang="en-US" sz="2400" dirty="0">
                <a:solidFill>
                  <a:schemeClr val="tx1"/>
                </a:solidFill>
              </a:rPr>
              <a:t> 겹침 </a:t>
            </a:r>
            <a:r>
              <a:rPr lang="en-US" altLang="ko-KR" sz="2400" dirty="0">
                <a:solidFill>
                  <a:schemeClr val="tx1"/>
                </a:solidFill>
              </a:rPr>
              <a:t>= </a:t>
            </a:r>
            <a:r>
              <a:rPr lang="ko-KR" altLang="en-US" sz="2400" dirty="0">
                <a:solidFill>
                  <a:schemeClr val="tx1"/>
                </a:solidFill>
              </a:rPr>
              <a:t>삼중 루프</a:t>
            </a:r>
            <a:endParaRPr lang="en-US" altLang="ko-KR" sz="24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15802-34D5-A248-8653-C2C8BD8BA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39" y="3000754"/>
            <a:ext cx="2717800" cy="93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597111-F2FA-7D4E-89D4-D5EE0FCA7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839" y="4111471"/>
            <a:ext cx="3111500" cy="120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D1DD73-01B4-A248-BA1A-A545B1F5CD37}"/>
              </a:ext>
            </a:extLst>
          </p:cNvPr>
          <p:cNvSpPr txBox="1"/>
          <p:nvPr/>
        </p:nvSpPr>
        <p:spPr>
          <a:xfrm>
            <a:off x="1251678" y="5544927"/>
            <a:ext cx="8983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</a:t>
            </a:r>
            <a:r>
              <a:rPr lang="ko-KR" altLang="en-US" dirty="0"/>
              <a:t>에서 </a:t>
            </a:r>
            <a:r>
              <a:rPr lang="en-US" altLang="ko-KR" dirty="0"/>
              <a:t>pass</a:t>
            </a:r>
            <a:r>
              <a:rPr lang="ko-KR" altLang="en-US" dirty="0"/>
              <a:t>는 아무것도 수행하지 않음을 의미합니다</a:t>
            </a:r>
            <a:r>
              <a:rPr lang="en-US" altLang="ko-KR" dirty="0"/>
              <a:t>!</a:t>
            </a:r>
          </a:p>
          <a:p>
            <a:r>
              <a:rPr lang="en-US" dirty="0"/>
              <a:t>python </a:t>
            </a:r>
            <a:r>
              <a:rPr lang="ko-KR" altLang="en-US" dirty="0"/>
              <a:t>반복문에서는 실행될 문장이 최소한 하나 있어야 문법 오류가 나지 않기 때문에 </a:t>
            </a:r>
            <a:endParaRPr lang="en-US" altLang="ko-KR" dirty="0"/>
          </a:p>
          <a:p>
            <a:r>
              <a:rPr lang="en-US" altLang="ko-KR" dirty="0"/>
              <a:t>pass</a:t>
            </a:r>
            <a:r>
              <a:rPr lang="ko-KR" altLang="en-US" dirty="0"/>
              <a:t>로 오류를 방지한 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604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1BF92E-23CF-4BFE-9E1F-C359BACFA3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DFEFC0-99B4-4D27-9168-1B2F659A34B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C20081-2005-4B05-BEA4-EB8D4C90A35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C21CA-A325-2549-8B5A-20D5029E0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11" y="643467"/>
            <a:ext cx="8397578" cy="3925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523" y="5449151"/>
            <a:ext cx="10318418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ko-KR" sz="2400" spc="800">
                <a:solidFill>
                  <a:srgbClr val="2A1A00"/>
                </a:solidFill>
              </a:rPr>
              <a:t>6) </a:t>
            </a:r>
            <a:r>
              <a:rPr lang="ko-KR" altLang="en-US" sz="2400" spc="800">
                <a:solidFill>
                  <a:srgbClr val="2A1A00"/>
                </a:solidFill>
              </a:rPr>
              <a:t>중첩 루프</a:t>
            </a:r>
            <a:r>
              <a:rPr lang="en-US" altLang="ko-KR" sz="2400" spc="800">
                <a:solidFill>
                  <a:srgbClr val="2A1A00"/>
                </a:solidFill>
              </a:rPr>
              <a:t>(nested loop)</a:t>
            </a:r>
            <a:endParaRPr lang="en-US" sz="2400" spc="800">
              <a:solidFill>
                <a:srgbClr val="2A1A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524" y="5979196"/>
            <a:ext cx="10318416" cy="39648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ko-KR" b="1" cap="all" spc="400" dirty="0">
                <a:solidFill>
                  <a:srgbClr val="FFFFFF"/>
                </a:solidFill>
              </a:rPr>
              <a:t>nested loop</a:t>
            </a:r>
            <a:r>
              <a:rPr lang="ko-KR" altLang="en-US" b="1" cap="all" spc="400" dirty="0">
                <a:solidFill>
                  <a:srgbClr val="FFFFFF"/>
                </a:solidFill>
              </a:rPr>
              <a:t>가 필요한 이유는</a:t>
            </a:r>
            <a:r>
              <a:rPr lang="en-US" altLang="ko-KR" b="1" cap="all" spc="400" dirty="0">
                <a:solidFill>
                  <a:srgbClr val="FFFFFF"/>
                </a:solidFill>
              </a:rPr>
              <a:t>?! -&gt; 2</a:t>
            </a:r>
            <a:r>
              <a:rPr lang="ko-KR" altLang="en-US" b="1" cap="all" spc="400" dirty="0">
                <a:solidFill>
                  <a:srgbClr val="FFFFFF"/>
                </a:solidFill>
              </a:rPr>
              <a:t>차원 </a:t>
            </a:r>
            <a:r>
              <a:rPr lang="en-US" altLang="ko-KR" b="1" cap="all" spc="400" dirty="0">
                <a:solidFill>
                  <a:srgbClr val="FFFFFF"/>
                </a:solidFill>
              </a:rPr>
              <a:t>data</a:t>
            </a:r>
            <a:r>
              <a:rPr lang="ko-KR" altLang="en-US" b="1" cap="all" spc="400" dirty="0" err="1">
                <a:solidFill>
                  <a:srgbClr val="FFFFFF"/>
                </a:solidFill>
              </a:rPr>
              <a:t>를</a:t>
            </a:r>
            <a:r>
              <a:rPr lang="en-US" altLang="ko-KR" b="1" cap="all" spc="400" dirty="0">
                <a:solidFill>
                  <a:srgbClr val="FFFFFF"/>
                </a:solidFill>
              </a:rPr>
              <a:t> </a:t>
            </a:r>
            <a:r>
              <a:rPr lang="ko-KR" altLang="en-US" b="1" cap="all" spc="400" dirty="0">
                <a:solidFill>
                  <a:srgbClr val="FFFFFF"/>
                </a:solidFill>
              </a:rPr>
              <a:t>다루기 위해서이다</a:t>
            </a:r>
            <a:r>
              <a:rPr lang="en-US" altLang="ko-KR" b="1" cap="all" spc="40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85B2A4-86BC-D34B-814C-5DE51DD07081}"/>
              </a:ext>
            </a:extLst>
          </p:cNvPr>
          <p:cNvSpPr/>
          <p:nvPr/>
        </p:nvSpPr>
        <p:spPr>
          <a:xfrm>
            <a:off x="283464" y="4635355"/>
            <a:ext cx="4242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array([[ 0, 1, 2, 3], [ 4, 5, 6, 7], [ 8, 9, 10, 11]])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E2521-7458-8F4F-AB95-F6945C852E2B}"/>
              </a:ext>
            </a:extLst>
          </p:cNvPr>
          <p:cNvSpPr txBox="1"/>
          <p:nvPr/>
        </p:nvSpPr>
        <p:spPr>
          <a:xfrm>
            <a:off x="4526036" y="4668366"/>
            <a:ext cx="729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</a:t>
            </a:r>
            <a:r>
              <a:rPr lang="ko-KR" altLang="en-US" dirty="0"/>
              <a:t>개의 원소를 가진 </a:t>
            </a:r>
            <a:r>
              <a:rPr lang="en-US" altLang="ko-KR" dirty="0"/>
              <a:t>1</a:t>
            </a:r>
            <a:r>
              <a:rPr lang="ko-KR" altLang="en-US" dirty="0"/>
              <a:t>차원 행렬을 </a:t>
            </a:r>
            <a:r>
              <a:rPr lang="en-US" altLang="ko-KR" dirty="0"/>
              <a:t>3</a:t>
            </a:r>
            <a:r>
              <a:rPr lang="ko-KR" altLang="en-US" dirty="0"/>
              <a:t>*</a:t>
            </a:r>
            <a:r>
              <a:rPr lang="en-US" altLang="ko-KR" dirty="0"/>
              <a:t>4</a:t>
            </a:r>
            <a:r>
              <a:rPr lang="ko-KR" altLang="en-US" dirty="0"/>
              <a:t>형태의 </a:t>
            </a:r>
            <a:r>
              <a:rPr lang="en-US" altLang="ko-KR" dirty="0"/>
              <a:t>2</a:t>
            </a:r>
            <a:r>
              <a:rPr lang="ko-KR" altLang="en-US" dirty="0"/>
              <a:t>차원 행렬로 만든 것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AEE2C5-EC3F-F640-94DD-71A2951DC78C}"/>
              </a:ext>
            </a:extLst>
          </p:cNvPr>
          <p:cNvSpPr/>
          <p:nvPr/>
        </p:nvSpPr>
        <p:spPr>
          <a:xfrm>
            <a:off x="283464" y="4233012"/>
            <a:ext cx="3652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array([ 0, 1, 2, 3, 4, 5, 6, 7, 8, 9, 10, 11])</a:t>
            </a:r>
          </a:p>
        </p:txBody>
      </p:sp>
    </p:spTree>
    <p:extLst>
      <p:ext uri="{BB962C8B-B14F-4D97-AF65-F5344CB8AC3E}">
        <p14:creationId xmlns:p14="http://schemas.microsoft.com/office/powerpoint/2010/main" val="32174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6)</a:t>
            </a:r>
            <a:r>
              <a:rPr lang="ko-KR" altLang="en-US" dirty="0">
                <a:latin typeface="Arial Rounded MT Bold" panose="020F0704030504030204" pitchFamily="34" charset="77"/>
              </a:rPr>
              <a:t> 중첩 루프</a:t>
            </a:r>
            <a:r>
              <a:rPr lang="en-US" altLang="ko-KR" dirty="0">
                <a:latin typeface="Arial Rounded MT Bold" panose="020F0704030504030204" pitchFamily="34" charset="77"/>
              </a:rPr>
              <a:t>(</a:t>
            </a:r>
            <a:r>
              <a:rPr lang="en-US" altLang="ko-KR" cap="none" dirty="0">
                <a:latin typeface="Arial Rounded MT Bold" panose="020F0704030504030204" pitchFamily="34" charset="77"/>
              </a:rPr>
              <a:t>nested loop</a:t>
            </a:r>
            <a:r>
              <a:rPr lang="en-US" altLang="ko-KR" dirty="0">
                <a:latin typeface="Arial Rounded MT Bold" panose="020F0704030504030204" pitchFamily="34" charset="77"/>
              </a:rPr>
              <a:t>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BB43F-7E52-AB43-985B-6F924F8F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343916"/>
            <a:ext cx="4343569" cy="2519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805C25-7BD9-1141-B0CF-3A52C9017405}"/>
              </a:ext>
            </a:extLst>
          </p:cNvPr>
          <p:cNvSpPr txBox="1"/>
          <p:nvPr/>
        </p:nvSpPr>
        <p:spPr>
          <a:xfrm>
            <a:off x="1251678" y="3930380"/>
            <a:ext cx="52349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위의 그림에 있는 집집마다 신문을 자동으로 </a:t>
            </a:r>
            <a:endParaRPr lang="en-US" altLang="ko-KR" dirty="0"/>
          </a:p>
          <a:p>
            <a:r>
              <a:rPr lang="ko-KR" altLang="en-US" dirty="0"/>
              <a:t>배달하는 로봇을 만들어보자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음</a:t>
            </a:r>
            <a:r>
              <a:rPr lang="en-US" altLang="ko-KR" dirty="0"/>
              <a:t>.. 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층에 가서 </a:t>
            </a:r>
            <a:r>
              <a:rPr lang="en-US" altLang="ko-KR" dirty="0"/>
              <a:t>1</a:t>
            </a:r>
            <a:r>
              <a:rPr lang="ko-KR" altLang="en-US" dirty="0"/>
              <a:t>층 각 집에 신문 배달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층에 가서 </a:t>
            </a:r>
            <a:r>
              <a:rPr lang="en-US" altLang="ko-KR" dirty="0"/>
              <a:t>2</a:t>
            </a:r>
            <a:r>
              <a:rPr lang="ko-KR" altLang="en-US" dirty="0"/>
              <a:t>층 각 집에 신문 배달</a:t>
            </a:r>
            <a:endParaRPr lang="en-US" altLang="ko-KR" dirty="0"/>
          </a:p>
          <a:p>
            <a:r>
              <a:rPr lang="en-US" altLang="ko-KR" dirty="0"/>
              <a:t>: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충 </a:t>
            </a:r>
            <a:r>
              <a:rPr lang="en-US" altLang="ko-KR" dirty="0"/>
              <a:t>.. </a:t>
            </a:r>
          </a:p>
          <a:p>
            <a:r>
              <a:rPr lang="ko-KR" altLang="en-US" dirty="0"/>
              <a:t>하면 되지만 코드가 중복되고 </a:t>
            </a:r>
            <a:r>
              <a:rPr lang="ko-KR" altLang="en-US" dirty="0" err="1"/>
              <a:t>길어짐</a:t>
            </a:r>
            <a:endParaRPr lang="en-US" altLang="ko-K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672665-6BC7-F442-B72E-C5372070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618" y="3558962"/>
            <a:ext cx="4277547" cy="2418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865301-BB58-9F4E-8E49-D29B915E59DD}"/>
              </a:ext>
            </a:extLst>
          </p:cNvPr>
          <p:cNvSpPr txBox="1"/>
          <p:nvPr/>
        </p:nvSpPr>
        <p:spPr>
          <a:xfrm>
            <a:off x="7132320" y="6012180"/>
            <a:ext cx="3221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이걸 </a:t>
            </a:r>
            <a:r>
              <a:rPr lang="en-US" altLang="ko-KR" dirty="0"/>
              <a:t>4</a:t>
            </a:r>
            <a:r>
              <a:rPr lang="ko-KR" altLang="en-US" dirty="0"/>
              <a:t>번 </a:t>
            </a:r>
            <a:r>
              <a:rPr lang="ko-KR" altLang="en-US" dirty="0" err="1"/>
              <a:t>해야됨</a:t>
            </a:r>
            <a:r>
              <a:rPr lang="ko-KR" altLang="en-US" dirty="0"/>
              <a:t> </a:t>
            </a:r>
            <a:r>
              <a:rPr lang="en-US" altLang="ko-KR" dirty="0"/>
              <a:t>-&gt; That’s </a:t>
            </a:r>
            <a:r>
              <a:rPr lang="en-US" altLang="ko-KR" dirty="0" err="1"/>
              <a:t>nono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221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520C1F-3863-CC4D-8903-EC1CA77E92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3081"/>
          <a:stretch/>
        </p:blipFill>
        <p:spPr>
          <a:xfrm>
            <a:off x="5279472" y="1272209"/>
            <a:ext cx="5995465" cy="2089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9BFF8A-781B-0A4E-B130-D48990C541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12" b="2"/>
          <a:stretch/>
        </p:blipFill>
        <p:spPr>
          <a:xfrm>
            <a:off x="5279471" y="3348447"/>
            <a:ext cx="5995465" cy="27042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7375486" cy="1640894"/>
          </a:xfrm>
        </p:spPr>
        <p:txBody>
          <a:bodyPr anchor="t">
            <a:normAutofit/>
          </a:bodyPr>
          <a:lstStyle/>
          <a:p>
            <a:r>
              <a:rPr lang="en-US" altLang="ko-KR" sz="3700" dirty="0">
                <a:latin typeface="Arial Rounded MT Bold" panose="020F0704030504030204" pitchFamily="34" charset="77"/>
              </a:rPr>
              <a:t>6)</a:t>
            </a:r>
            <a:r>
              <a:rPr lang="ko-KR" altLang="en-US" sz="3700" dirty="0">
                <a:latin typeface="Arial Rounded MT Bold" panose="020F0704030504030204" pitchFamily="34" charset="77"/>
              </a:rPr>
              <a:t> 중첩 루프</a:t>
            </a:r>
            <a:r>
              <a:rPr lang="en-US" altLang="ko-KR" sz="3700" dirty="0">
                <a:latin typeface="Arial Rounded MT Bold" panose="020F0704030504030204" pitchFamily="34" charset="77"/>
              </a:rPr>
              <a:t>(</a:t>
            </a:r>
            <a:r>
              <a:rPr lang="en-US" altLang="ko-KR" sz="3700" cap="none" dirty="0">
                <a:latin typeface="Arial Rounded MT Bold" panose="020F0704030504030204" pitchFamily="34" charset="77"/>
              </a:rPr>
              <a:t>nested loop</a:t>
            </a:r>
            <a:r>
              <a:rPr lang="en-US" altLang="ko-KR" sz="3700" dirty="0">
                <a:latin typeface="Arial Rounded MT Bold" panose="020F0704030504030204" pitchFamily="34" charset="77"/>
              </a:rPr>
              <a:t>)</a:t>
            </a:r>
            <a:endParaRPr lang="en-US" sz="3700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188" y="1465554"/>
            <a:ext cx="3538776" cy="3940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중 </a:t>
            </a:r>
            <a:r>
              <a:rPr lang="en-US" altLang="ko-KR" dirty="0">
                <a:solidFill>
                  <a:schemeClr val="tx1"/>
                </a:solidFill>
              </a:rPr>
              <a:t>loop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쓰려면 데이터를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차원의 데이터로 표현해야 한다</a:t>
            </a:r>
            <a:r>
              <a:rPr lang="en-US" altLang="ko-KR" dirty="0">
                <a:solidFill>
                  <a:schemeClr val="tx1"/>
                </a:solidFill>
              </a:rPr>
              <a:t>!</a:t>
            </a:r>
          </a:p>
          <a:p>
            <a:pPr marL="0" indent="0"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차원 </a:t>
            </a:r>
            <a:r>
              <a:rPr lang="en-US" altLang="ko-KR" dirty="0">
                <a:solidFill>
                  <a:schemeClr val="tx1"/>
                </a:solidFill>
              </a:rPr>
              <a:t>list</a:t>
            </a:r>
            <a:r>
              <a:rPr lang="ko-KR" altLang="en-US" dirty="0">
                <a:solidFill>
                  <a:schemeClr val="tx1"/>
                </a:solidFill>
              </a:rPr>
              <a:t>는 </a:t>
            </a:r>
            <a:r>
              <a:rPr lang="en-US" altLang="ko-KR" dirty="0">
                <a:solidFill>
                  <a:schemeClr val="tx1"/>
                </a:solidFill>
              </a:rPr>
              <a:t>[ ] </a:t>
            </a:r>
            <a:r>
              <a:rPr lang="ko-KR" altLang="en-US" dirty="0">
                <a:solidFill>
                  <a:schemeClr val="tx1"/>
                </a:solidFill>
              </a:rPr>
              <a:t>안에 </a:t>
            </a:r>
            <a:r>
              <a:rPr lang="en-US" altLang="ko-KR" dirty="0">
                <a:solidFill>
                  <a:schemeClr val="tx1"/>
                </a:solidFill>
              </a:rPr>
              <a:t>data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차원</a:t>
            </a:r>
            <a:r>
              <a:rPr lang="en-US" altLang="ko-KR" dirty="0">
                <a:solidFill>
                  <a:schemeClr val="tx1"/>
                </a:solidFill>
              </a:rPr>
              <a:t> list</a:t>
            </a:r>
            <a:r>
              <a:rPr lang="ko-KR" altLang="en-US" dirty="0">
                <a:solidFill>
                  <a:schemeClr val="tx1"/>
                </a:solidFill>
              </a:rPr>
              <a:t>는 </a:t>
            </a:r>
            <a:r>
              <a:rPr lang="en-US" altLang="ko-KR" dirty="0">
                <a:solidFill>
                  <a:schemeClr val="tx1"/>
                </a:solidFill>
              </a:rPr>
              <a:t>list([ ]) </a:t>
            </a:r>
            <a:r>
              <a:rPr lang="ko-KR" altLang="en-US" dirty="0">
                <a:solidFill>
                  <a:schemeClr val="tx1"/>
                </a:solidFill>
              </a:rPr>
              <a:t>안에 </a:t>
            </a:r>
            <a:r>
              <a:rPr lang="en-US" altLang="ko-KR" dirty="0">
                <a:solidFill>
                  <a:schemeClr val="tx1"/>
                </a:solidFill>
              </a:rPr>
              <a:t>list</a:t>
            </a:r>
            <a:r>
              <a:rPr lang="ko-KR" altLang="en-US" dirty="0">
                <a:solidFill>
                  <a:schemeClr val="tx1"/>
                </a:solidFill>
              </a:rPr>
              <a:t>가 존재하는 구조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35035D-2D97-F148-82D0-D24AE1476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70" y="6052729"/>
            <a:ext cx="19558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F2C02A-339E-CF47-A55F-FA7A17F1B989}"/>
              </a:ext>
            </a:extLst>
          </p:cNvPr>
          <p:cNvSpPr txBox="1"/>
          <p:nvPr/>
        </p:nvSpPr>
        <p:spPr>
          <a:xfrm>
            <a:off x="1706927" y="5903679"/>
            <a:ext cx="3572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ko-KR" altLang="en-US" dirty="0"/>
              <a:t>차원 </a:t>
            </a:r>
            <a:r>
              <a:rPr lang="en-US" altLang="ko-KR" dirty="0"/>
              <a:t>list</a:t>
            </a:r>
            <a:r>
              <a:rPr lang="ko-KR" altLang="en-US" dirty="0" err="1"/>
              <a:t>를</a:t>
            </a:r>
            <a:r>
              <a:rPr lang="ko-KR" altLang="en-US" dirty="0"/>
              <a:t> 한 번 </a:t>
            </a:r>
            <a:r>
              <a:rPr lang="en-US" altLang="ko-KR" dirty="0"/>
              <a:t>indexing</a:t>
            </a:r>
            <a:r>
              <a:rPr lang="ko-KR" altLang="en-US" dirty="0"/>
              <a:t>하면 안쪽의 </a:t>
            </a:r>
            <a:r>
              <a:rPr lang="en-US" altLang="ko-KR" dirty="0"/>
              <a:t>list</a:t>
            </a:r>
            <a:r>
              <a:rPr lang="ko-KR" altLang="en-US" dirty="0"/>
              <a:t>로 접근한다 </a:t>
            </a:r>
            <a:r>
              <a:rPr lang="en-US" altLang="ko-KR" dirty="0"/>
              <a:t>-&gt;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592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C1B233-52AF-8E47-AD2F-7EF40F745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193" y="3522563"/>
            <a:ext cx="5176744" cy="19542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933D0-376C-7D41-B64D-10EBE295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193" y="2106335"/>
            <a:ext cx="5176744" cy="1255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2BD7B-1BA4-1641-ADE1-5F43792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8143783" cy="1320855"/>
          </a:xfrm>
        </p:spPr>
        <p:txBody>
          <a:bodyPr>
            <a:normAutofit/>
          </a:bodyPr>
          <a:lstStyle/>
          <a:p>
            <a:r>
              <a:rPr lang="en-US" altLang="ko-KR" sz="3700" dirty="0">
                <a:latin typeface="Arial Rounded MT Bold" panose="020F0704030504030204" pitchFamily="34" charset="77"/>
              </a:rPr>
              <a:t>6)</a:t>
            </a:r>
            <a:r>
              <a:rPr lang="ko-KR" altLang="en-US" sz="3700" dirty="0">
                <a:latin typeface="Arial Rounded MT Bold" panose="020F0704030504030204" pitchFamily="34" charset="77"/>
              </a:rPr>
              <a:t> 중첩 루프</a:t>
            </a:r>
            <a:r>
              <a:rPr lang="en-US" altLang="ko-KR" sz="3700" dirty="0">
                <a:latin typeface="Arial Rounded MT Bold" panose="020F0704030504030204" pitchFamily="34" charset="77"/>
              </a:rPr>
              <a:t>(</a:t>
            </a:r>
            <a:r>
              <a:rPr lang="en-US" altLang="ko-KR" sz="3700" cap="none" dirty="0">
                <a:latin typeface="Arial Rounded MT Bold" panose="020F0704030504030204" pitchFamily="34" charset="77"/>
              </a:rPr>
              <a:t>nested loop</a:t>
            </a:r>
            <a:r>
              <a:rPr lang="en-US" altLang="ko-KR" sz="3700" dirty="0">
                <a:latin typeface="Arial Rounded MT Bold" panose="020F0704030504030204" pitchFamily="34" charset="77"/>
              </a:rPr>
              <a:t>)</a:t>
            </a:r>
            <a:endParaRPr lang="en-US" sz="3700" dirty="0">
              <a:latin typeface="Arial Rounded MT Bold" panose="020F0704030504030204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" y="2106335"/>
            <a:ext cx="5160933" cy="35935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>
                <a:solidFill>
                  <a:schemeClr val="tx1"/>
                </a:solidFill>
              </a:rPr>
              <a:t>코드 설명</a:t>
            </a:r>
            <a:r>
              <a:rPr lang="en-US" altLang="ko-KR" dirty="0">
                <a:solidFill>
                  <a:schemeClr val="tx1"/>
                </a:solidFill>
              </a:rPr>
              <a:t>:  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chemeClr val="tx1"/>
                </a:solidFill>
              </a:rPr>
              <a:t>바깥쪽 </a:t>
            </a:r>
            <a:r>
              <a:rPr lang="en-US" altLang="ko-KR" b="1" dirty="0">
                <a:solidFill>
                  <a:schemeClr val="tx1"/>
                </a:solidFill>
              </a:rPr>
              <a:t>for</a:t>
            </a:r>
            <a:r>
              <a:rPr lang="ko-KR" altLang="en-US" b="1" dirty="0">
                <a:solidFill>
                  <a:schemeClr val="tx1"/>
                </a:solidFill>
              </a:rPr>
              <a:t> 문이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 dirty="0">
                <a:solidFill>
                  <a:schemeClr val="tx1"/>
                </a:solidFill>
              </a:rPr>
              <a:t>번 실행 </a:t>
            </a:r>
            <a:r>
              <a:rPr lang="en-US" altLang="ko-KR" b="1" dirty="0">
                <a:solidFill>
                  <a:schemeClr val="tx1"/>
                </a:solidFill>
              </a:rPr>
              <a:t>-&gt; floor</a:t>
            </a:r>
            <a:r>
              <a:rPr lang="ko-KR" altLang="en-US" b="1" dirty="0">
                <a:solidFill>
                  <a:schemeClr val="tx1"/>
                </a:solidFill>
              </a:rPr>
              <a:t>변수는</a:t>
            </a:r>
            <a:r>
              <a:rPr lang="en-US" altLang="ko-KR" b="1" dirty="0">
                <a:solidFill>
                  <a:schemeClr val="tx1"/>
                </a:solidFill>
              </a:rPr>
              <a:t>[101, 102,103,104] binding -&gt; </a:t>
            </a:r>
            <a:r>
              <a:rPr lang="ko-KR" altLang="en-US" b="1" dirty="0">
                <a:solidFill>
                  <a:schemeClr val="tx1"/>
                </a:solidFill>
              </a:rPr>
              <a:t>안쪽 </a:t>
            </a:r>
            <a:r>
              <a:rPr lang="en-US" altLang="ko-KR" b="1" dirty="0">
                <a:solidFill>
                  <a:schemeClr val="tx1"/>
                </a:solidFill>
              </a:rPr>
              <a:t>for </a:t>
            </a:r>
            <a:r>
              <a:rPr lang="ko-KR" altLang="en-US" b="1" dirty="0">
                <a:solidFill>
                  <a:schemeClr val="tx1"/>
                </a:solidFill>
              </a:rPr>
              <a:t>문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 dirty="0">
                <a:solidFill>
                  <a:schemeClr val="tx1"/>
                </a:solidFill>
              </a:rPr>
              <a:t>번 실행 </a:t>
            </a:r>
            <a:r>
              <a:rPr lang="en-US" altLang="ko-KR" b="1" dirty="0">
                <a:solidFill>
                  <a:schemeClr val="tx1"/>
                </a:solidFill>
              </a:rPr>
              <a:t>-&gt;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/>
                </a:solidFill>
              </a:rPr>
              <a:t> room </a:t>
            </a:r>
            <a:r>
              <a:rPr lang="ko-KR" altLang="en-US" b="1" dirty="0">
                <a:solidFill>
                  <a:schemeClr val="tx1"/>
                </a:solidFill>
              </a:rPr>
              <a:t>변수는 </a:t>
            </a:r>
            <a:r>
              <a:rPr lang="en-US" altLang="ko-KR" b="1" dirty="0">
                <a:solidFill>
                  <a:schemeClr val="tx1"/>
                </a:solidFill>
              </a:rPr>
              <a:t>101,102,103,104</a:t>
            </a:r>
            <a:r>
              <a:rPr lang="ko-KR" altLang="en-US" b="1" dirty="0">
                <a:solidFill>
                  <a:schemeClr val="tx1"/>
                </a:solidFill>
              </a:rPr>
              <a:t>값을 순서대로 </a:t>
            </a:r>
            <a:r>
              <a:rPr lang="en-US" altLang="ko-KR" b="1" dirty="0">
                <a:solidFill>
                  <a:schemeClr val="tx1"/>
                </a:solidFill>
              </a:rPr>
              <a:t>binding </a:t>
            </a:r>
            <a:r>
              <a:rPr lang="ko-KR" altLang="en-US" b="1" dirty="0">
                <a:solidFill>
                  <a:schemeClr val="tx1"/>
                </a:solidFill>
              </a:rPr>
              <a:t>함 </a:t>
            </a:r>
            <a:r>
              <a:rPr lang="en-US" altLang="ko-KR" b="1" dirty="0">
                <a:solidFill>
                  <a:schemeClr val="tx1"/>
                </a:solidFill>
              </a:rPr>
              <a:t>-&gt; 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chemeClr val="tx1"/>
                </a:solidFill>
              </a:rPr>
              <a:t>바깥쪽 </a:t>
            </a:r>
            <a:r>
              <a:rPr lang="en-US" altLang="ko-KR" b="1" dirty="0">
                <a:solidFill>
                  <a:schemeClr val="tx1"/>
                </a:solidFill>
              </a:rPr>
              <a:t>for </a:t>
            </a:r>
            <a:r>
              <a:rPr lang="ko-KR" altLang="en-US" b="1" dirty="0">
                <a:solidFill>
                  <a:schemeClr val="tx1"/>
                </a:solidFill>
              </a:rPr>
              <a:t>문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 dirty="0">
                <a:solidFill>
                  <a:schemeClr val="tx1"/>
                </a:solidFill>
              </a:rPr>
              <a:t>번째 실행 </a:t>
            </a:r>
            <a:r>
              <a:rPr lang="en-US" altLang="ko-KR" b="1" dirty="0">
                <a:solidFill>
                  <a:schemeClr val="tx1"/>
                </a:solidFill>
              </a:rPr>
              <a:t>-&gt;</a:t>
            </a:r>
          </a:p>
          <a:p>
            <a:pPr marL="0" indent="0">
              <a:buNone/>
            </a:pPr>
            <a:r>
              <a:rPr lang="en-US" altLang="ko-KR" b="1" dirty="0">
                <a:solidFill>
                  <a:schemeClr val="tx1"/>
                </a:solidFill>
              </a:rPr>
              <a:t> floor</a:t>
            </a:r>
            <a:r>
              <a:rPr lang="ko-KR" altLang="en-US" b="1" dirty="0">
                <a:solidFill>
                  <a:schemeClr val="tx1"/>
                </a:solidFill>
              </a:rPr>
              <a:t>변수는 </a:t>
            </a:r>
            <a:r>
              <a:rPr lang="en-US" altLang="ko-KR" b="1" dirty="0">
                <a:solidFill>
                  <a:schemeClr val="tx1"/>
                </a:solidFill>
              </a:rPr>
              <a:t>[201,202,203,204] binding -&gt; </a:t>
            </a:r>
            <a:r>
              <a:rPr lang="ko-KR" altLang="en-US" b="1" dirty="0">
                <a:solidFill>
                  <a:schemeClr val="tx1"/>
                </a:solidFill>
              </a:rPr>
              <a:t>안쪽 </a:t>
            </a:r>
            <a:r>
              <a:rPr lang="en-US" altLang="ko-KR" b="1" dirty="0">
                <a:solidFill>
                  <a:schemeClr val="tx1"/>
                </a:solidFill>
              </a:rPr>
              <a:t>for </a:t>
            </a:r>
            <a:r>
              <a:rPr lang="ko-KR" altLang="en-US" b="1" dirty="0">
                <a:solidFill>
                  <a:schemeClr val="tx1"/>
                </a:solidFill>
              </a:rPr>
              <a:t>문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 dirty="0">
                <a:solidFill>
                  <a:schemeClr val="tx1"/>
                </a:solidFill>
              </a:rPr>
              <a:t>번째 실행 </a:t>
            </a:r>
            <a:r>
              <a:rPr lang="en-US" altLang="ko-KR" b="1" dirty="0">
                <a:solidFill>
                  <a:schemeClr val="tx1"/>
                </a:solidFill>
              </a:rPr>
              <a:t>-&gt; 201,202,203,204binding …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965747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scalloped circle">
            <a:extLst>
              <a:ext uri="{FF2B5EF4-FFF2-40B4-BE49-F238E27FC236}">
                <a16:creationId xmlns:a16="http://schemas.microsoft.com/office/drawing/2014/main" id="{B217C2AD-51B4-40CE-A71F-F5D3F846D9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 title="left edge border">
            <a:extLst>
              <a:ext uri="{FF2B5EF4-FFF2-40B4-BE49-F238E27FC236}">
                <a16:creationId xmlns:a16="http://schemas.microsoft.com/office/drawing/2014/main" id="{6F1BF92E-23CF-4BFE-9E1F-C359BACFA3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FEF8384-2545-4ACD-9071-49DD1CFC4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Freeform 22" title="right scallop background shape">
            <a:extLst>
              <a:ext uri="{FF2B5EF4-FFF2-40B4-BE49-F238E27FC236}">
                <a16:creationId xmlns:a16="http://schemas.microsoft.com/office/drawing/2014/main" id="{F77DB8FA-61A7-4DE7-A777-6D258D17248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4695443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8E945-1B41-AB4E-9961-AEFB12010259}"/>
              </a:ext>
            </a:extLst>
          </p:cNvPr>
          <p:cNvSpPr txBox="1"/>
          <p:nvPr/>
        </p:nvSpPr>
        <p:spPr>
          <a:xfrm>
            <a:off x="644854" y="643463"/>
            <a:ext cx="3437290" cy="5847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연습을 해봅시다</a:t>
            </a:r>
            <a:r>
              <a:rPr lang="en-US" altLang="ko-KR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!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3200" cap="all" spc="800" dirty="0">
              <a:solidFill>
                <a:srgbClr val="2A1A00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답은 간단할 거에요</a:t>
            </a:r>
            <a:r>
              <a:rPr lang="en-US" altLang="ko-KR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!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3200" cap="all" spc="800" dirty="0">
              <a:solidFill>
                <a:srgbClr val="2A1A00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어떻게든 나오기만 하면 </a:t>
            </a:r>
            <a:r>
              <a:rPr lang="ko-KR" altLang="en-US" sz="3200" cap="all" spc="800" dirty="0" err="1">
                <a:solidFill>
                  <a:srgbClr val="2A1A00"/>
                </a:solidFill>
                <a:latin typeface="+mj-lt"/>
                <a:ea typeface="+mj-ea"/>
                <a:cs typeface="+mj-cs"/>
              </a:rPr>
              <a:t>되요</a:t>
            </a:r>
            <a:r>
              <a:rPr lang="en-US" altLang="ko-KR" sz="3200" cap="all" spc="800" dirty="0">
                <a:solidFill>
                  <a:srgbClr val="2A1A00"/>
                </a:solidFill>
                <a:latin typeface="+mj-lt"/>
                <a:ea typeface="+mj-ea"/>
                <a:cs typeface="+mj-cs"/>
              </a:rPr>
              <a:t>!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cap="all" spc="800" dirty="0">
              <a:solidFill>
                <a:srgbClr val="2A1A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83C7A-AFEE-A840-A86B-BF9DAC99D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807" y="526899"/>
            <a:ext cx="6660946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39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C7D4DB-0C02-BB41-9F57-0F2E53B5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88" y="2"/>
            <a:ext cx="10024942" cy="5143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E340B2-C66F-C84F-8D76-E8B347BA3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888" y="5143500"/>
            <a:ext cx="10024942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9608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6739</TotalTime>
  <Words>1286</Words>
  <Application>Microsoft Macintosh PowerPoint</Application>
  <PresentationFormat>Widescreen</PresentationFormat>
  <Paragraphs>174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휴먼매직체</vt:lpstr>
      <vt:lpstr>맑은 고딕</vt:lpstr>
      <vt:lpstr>Arial</vt:lpstr>
      <vt:lpstr>Arial Rounded MT Bold</vt:lpstr>
      <vt:lpstr>Calibri</vt:lpstr>
      <vt:lpstr>Gill Sans MT</vt:lpstr>
      <vt:lpstr>Impact</vt:lpstr>
      <vt:lpstr>Badge</vt:lpstr>
      <vt:lpstr>python -2</vt:lpstr>
      <vt:lpstr>PURPOSE</vt:lpstr>
      <vt:lpstr>제어문이 뭘까?</vt:lpstr>
      <vt:lpstr>1) Boolean</vt:lpstr>
      <vt:lpstr>Boolean 언제 쓰나?</vt:lpstr>
      <vt:lpstr>비교연산자</vt:lpstr>
      <vt:lpstr>2) 논리연산자</vt:lpstr>
      <vt:lpstr>3) 파이썬 if문</vt:lpstr>
      <vt:lpstr>파이썬 문법~!</vt:lpstr>
      <vt:lpstr>이게 아주 간단한 자동 매수/매도 로봇이라고 볼 수 있겠죠</vt:lpstr>
      <vt:lpstr>3-1) if~else문</vt:lpstr>
      <vt:lpstr>3-2) if~elif~else문</vt:lpstr>
      <vt:lpstr>4) for문</vt:lpstr>
      <vt:lpstr>4-1) for와 range</vt:lpstr>
      <vt:lpstr>4-2) for와 list</vt:lpstr>
      <vt:lpstr>4-3) for와 tuple</vt:lpstr>
      <vt:lpstr>4-4) for와 dictionary</vt:lpstr>
      <vt:lpstr>5) while문</vt:lpstr>
      <vt:lpstr>5) while문</vt:lpstr>
      <vt:lpstr>5-1) while문을 이용한 가격 계산</vt:lpstr>
      <vt:lpstr>5-2) while과 if</vt:lpstr>
      <vt:lpstr>5-3) break와 continue</vt:lpstr>
      <vt:lpstr>1부터 10 출력하는데, 5만 건너 뛰고 출력</vt:lpstr>
      <vt:lpstr>6) 중첩 루프(nested loop)</vt:lpstr>
      <vt:lpstr>6) 중첩 루프(nested loop)</vt:lpstr>
      <vt:lpstr>6) 중첩 루프(nested loop)</vt:lpstr>
      <vt:lpstr>6) 중첩 루프(nested loop)</vt:lpstr>
      <vt:lpstr>6) 중첩 루프(nested loop)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-1</dc:title>
  <dc:creator>김규란</dc:creator>
  <cp:lastModifiedBy>김규란</cp:lastModifiedBy>
  <cp:revision>57</cp:revision>
  <dcterms:created xsi:type="dcterms:W3CDTF">2018-04-22T09:09:03Z</dcterms:created>
  <dcterms:modified xsi:type="dcterms:W3CDTF">2018-04-29T11:48:14Z</dcterms:modified>
</cp:coreProperties>
</file>