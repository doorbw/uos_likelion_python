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65" r:id="rId4"/>
    <p:sldId id="258" r:id="rId5"/>
    <p:sldId id="260" r:id="rId6"/>
    <p:sldId id="261" r:id="rId7"/>
    <p:sldId id="259" r:id="rId8"/>
    <p:sldId id="262" r:id="rId9"/>
    <p:sldId id="266" r:id="rId10"/>
    <p:sldId id="263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5" r:id="rId39"/>
    <p:sldId id="297" r:id="rId40"/>
    <p:sldId id="264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규란" initials="김" lastIdx="2" clrIdx="0">
    <p:extLst>
      <p:ext uri="{19B8F6BF-5375-455C-9EA6-DF929625EA0E}">
        <p15:presenceInfo xmlns:p15="http://schemas.microsoft.com/office/powerpoint/2012/main" userId="d425e500-409d-4ea4-9f39-fde5a3d8c6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2"/>
    <p:restoredTop sz="94580"/>
  </p:normalViewPr>
  <p:slideViewPr>
    <p:cSldViewPr snapToGrid="0" snapToObjects="1">
      <p:cViewPr>
        <p:scale>
          <a:sx n="60" d="100"/>
          <a:sy n="60" d="100"/>
        </p:scale>
        <p:origin x="184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FA81DE-25F3-DC44-B9D3-A5E7D749502C}" type="datetimeFigureOut">
              <a:rPr lang="en-US" smtClean="0"/>
              <a:t>4/25/18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B462C-2B31-3E40-8A70-11BBFD977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4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4/25/18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4/25/18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4/25/18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4/25/18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4/25/18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4/25/18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4/25/18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4/25/18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C218-B073-B744-B1FE-F7294467AB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A2082-793E-9F49-B197-110F562F2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20180508</a:t>
            </a:r>
          </a:p>
        </p:txBody>
      </p:sp>
    </p:spTree>
    <p:extLst>
      <p:ext uri="{BB962C8B-B14F-4D97-AF65-F5344CB8AC3E}">
        <p14:creationId xmlns:p14="http://schemas.microsoft.com/office/powerpoint/2010/main" val="1377660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FE63-82B6-C541-9C02-68F7B6E3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6F507-A2E4-6546-A3C8-4EB99796B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84417"/>
            <a:ext cx="10178322" cy="4395176"/>
          </a:xfrm>
        </p:spPr>
        <p:txBody>
          <a:bodyPr>
            <a:normAutofit/>
          </a:bodyPr>
          <a:lstStyle/>
          <a:p>
            <a:r>
              <a:rPr lang="ko-KR" altLang="en-US" sz="2800" dirty="0" err="1"/>
              <a:t>파이썬</a:t>
            </a:r>
            <a:r>
              <a:rPr lang="ko-KR" altLang="en-US" sz="2800" dirty="0"/>
              <a:t> 설치</a:t>
            </a:r>
            <a:r>
              <a:rPr lang="en-US" altLang="ko-KR" sz="2800" dirty="0"/>
              <a:t>(</a:t>
            </a:r>
            <a:r>
              <a:rPr lang="ko-KR" altLang="en-US" sz="2800" dirty="0" err="1"/>
              <a:t>파이썬</a:t>
            </a:r>
            <a:r>
              <a:rPr lang="ko-KR" altLang="en-US" sz="2800" dirty="0"/>
              <a:t> 홈페이지 </a:t>
            </a:r>
            <a:r>
              <a:rPr lang="en-US" altLang="ko-KR" sz="2800" dirty="0"/>
              <a:t>or </a:t>
            </a:r>
            <a:r>
              <a:rPr lang="ko-KR" altLang="en-US" sz="2800" dirty="0"/>
              <a:t>아나콘다 중 </a:t>
            </a:r>
            <a:r>
              <a:rPr lang="ko-KR" altLang="en-US" sz="2800" dirty="0" err="1"/>
              <a:t>택</a:t>
            </a:r>
            <a:r>
              <a:rPr lang="ko-KR" altLang="en-US" sz="2800" dirty="0"/>
              <a:t> </a:t>
            </a:r>
            <a:r>
              <a:rPr lang="en-US" altLang="ko-KR" sz="2800" dirty="0"/>
              <a:t>1)</a:t>
            </a:r>
          </a:p>
          <a:p>
            <a:r>
              <a:rPr lang="ko-KR" altLang="en-US" sz="2800" dirty="0" err="1"/>
              <a:t>파이썬</a:t>
            </a:r>
            <a:r>
              <a:rPr lang="ko-KR" altLang="en-US" sz="2800" dirty="0"/>
              <a:t> 문법 익히기</a:t>
            </a:r>
            <a:endParaRPr lang="en-US" altLang="ko-KR" sz="2800" dirty="0"/>
          </a:p>
          <a:p>
            <a:pPr marL="0" indent="0">
              <a:buNone/>
            </a:pPr>
            <a:r>
              <a:rPr lang="ko-KR" altLang="en-US" sz="2800" dirty="0"/>
              <a:t> </a:t>
            </a:r>
            <a:r>
              <a:rPr lang="en-US" altLang="ko-KR" sz="2800" dirty="0"/>
              <a:t>	print</a:t>
            </a:r>
          </a:p>
          <a:p>
            <a:pPr marL="0" indent="0">
              <a:buNone/>
            </a:pPr>
            <a:r>
              <a:rPr lang="en-US" altLang="ko-KR" sz="2800" dirty="0"/>
              <a:t>	</a:t>
            </a:r>
            <a:r>
              <a:rPr lang="ko-KR" altLang="en-US" sz="2800" dirty="0"/>
              <a:t>변수</a:t>
            </a:r>
            <a:endParaRPr lang="en-US" altLang="ko-KR" sz="2800" dirty="0"/>
          </a:p>
          <a:p>
            <a:pPr marL="0" indent="0">
              <a:buNone/>
            </a:pPr>
            <a:r>
              <a:rPr lang="en-US" altLang="ko-KR" sz="2800" dirty="0"/>
              <a:t>	</a:t>
            </a:r>
            <a:r>
              <a:rPr lang="ko-KR" altLang="en-US" sz="2800" dirty="0"/>
              <a:t>계산</a:t>
            </a:r>
            <a:endParaRPr lang="en-US" altLang="ko-KR" sz="2800" dirty="0"/>
          </a:p>
          <a:p>
            <a:pPr marL="0" indent="0">
              <a:buNone/>
            </a:pPr>
            <a:r>
              <a:rPr lang="en-US" altLang="ko-KR" sz="2800" dirty="0"/>
              <a:t>	</a:t>
            </a:r>
            <a:r>
              <a:rPr lang="ko-KR" altLang="en-US" sz="2800" dirty="0" err="1"/>
              <a:t>자료형</a:t>
            </a:r>
            <a:r>
              <a:rPr lang="en-US" altLang="ko-KR" sz="2800" dirty="0"/>
              <a:t>(</a:t>
            </a:r>
            <a:r>
              <a:rPr lang="en-US" altLang="ko-KR" sz="2800" dirty="0" err="1"/>
              <a:t>int</a:t>
            </a:r>
            <a:r>
              <a:rPr lang="en-US" altLang="ko-KR" sz="2800" dirty="0"/>
              <a:t>,</a:t>
            </a:r>
            <a:r>
              <a:rPr lang="ko-KR" altLang="en-US" sz="2800" dirty="0"/>
              <a:t> </a:t>
            </a:r>
            <a:r>
              <a:rPr lang="en-US" altLang="ko-KR" sz="2800" dirty="0"/>
              <a:t>float,</a:t>
            </a:r>
            <a:r>
              <a:rPr lang="ko-KR" altLang="en-US" sz="2800" dirty="0"/>
              <a:t> </a:t>
            </a:r>
            <a:r>
              <a:rPr lang="en-US" altLang="ko-KR" sz="2800" dirty="0"/>
              <a:t>complex,</a:t>
            </a:r>
            <a:r>
              <a:rPr lang="ko-KR" altLang="en-US" sz="2800" dirty="0"/>
              <a:t> </a:t>
            </a:r>
            <a:r>
              <a:rPr lang="en-US" altLang="ko-KR" sz="2800" dirty="0"/>
              <a:t>list,</a:t>
            </a:r>
            <a:r>
              <a:rPr lang="ko-KR" altLang="en-US" sz="2800" dirty="0"/>
              <a:t> </a:t>
            </a:r>
            <a:r>
              <a:rPr lang="en-US" altLang="ko-KR" sz="2800" dirty="0"/>
              <a:t>tuple,</a:t>
            </a:r>
            <a:r>
              <a:rPr lang="ko-KR" altLang="en-US" sz="2800" dirty="0"/>
              <a:t> </a:t>
            </a:r>
            <a:r>
              <a:rPr lang="en-US" altLang="ko-KR" sz="2800" dirty="0" err="1"/>
              <a:t>dict</a:t>
            </a:r>
            <a:r>
              <a:rPr lang="en-US" altLang="ko-KR" sz="2800" dirty="0"/>
              <a:t>,</a:t>
            </a:r>
            <a:r>
              <a:rPr lang="ko-KR" altLang="en-US" sz="2800" dirty="0"/>
              <a:t> </a:t>
            </a:r>
            <a:r>
              <a:rPr lang="en-US" altLang="ko-KR" sz="2800" dirty="0" err="1"/>
              <a:t>str</a:t>
            </a:r>
            <a:r>
              <a:rPr lang="en-US" altLang="ko-KR" sz="2800" dirty="0"/>
              <a:t>, bool)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2244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</a:t>
            </a:r>
            <a:r>
              <a:rPr lang="ko-KR" altLang="en-US" dirty="0"/>
              <a:t>의 특징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71613"/>
            <a:ext cx="10178322" cy="4407979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대화형 </a:t>
            </a:r>
            <a:r>
              <a:rPr lang="en-US" altLang="ko-KR" sz="3200" dirty="0"/>
              <a:t>-&gt;</a:t>
            </a:r>
            <a:r>
              <a:rPr lang="ko-KR" altLang="en-US" sz="3200" dirty="0"/>
              <a:t> 한 줄을 입력하면 결과가 바로 나옴</a:t>
            </a:r>
            <a:endParaRPr lang="en-US" altLang="ko-KR" sz="3200" dirty="0"/>
          </a:p>
          <a:p>
            <a:r>
              <a:rPr lang="ko-KR" altLang="en-US" sz="3200" dirty="0"/>
              <a:t>띄어쓰기</a:t>
            </a:r>
            <a:r>
              <a:rPr lang="en-US" altLang="ko-KR" sz="3200" dirty="0"/>
              <a:t>,</a:t>
            </a:r>
            <a:r>
              <a:rPr lang="ko-KR" altLang="en-US" sz="3200" dirty="0"/>
              <a:t> 들여쓰기에 민감함 </a:t>
            </a:r>
            <a:r>
              <a:rPr lang="en-US" altLang="ko-KR" sz="3200" dirty="0"/>
              <a:t>-&gt;</a:t>
            </a:r>
            <a:r>
              <a:rPr lang="ko-KR" altLang="en-US" sz="3200" dirty="0"/>
              <a:t> </a:t>
            </a:r>
            <a:r>
              <a:rPr lang="en-US" altLang="ko-KR" sz="3200" dirty="0"/>
              <a:t>Syntax</a:t>
            </a:r>
            <a:r>
              <a:rPr lang="ko-KR" altLang="en-US" sz="3200" dirty="0"/>
              <a:t> </a:t>
            </a:r>
            <a:r>
              <a:rPr lang="en-US" altLang="ko-KR" sz="3200" dirty="0"/>
              <a:t>error</a:t>
            </a:r>
            <a:r>
              <a:rPr lang="ko-KR" altLang="en-US" sz="3200" dirty="0"/>
              <a:t>가 많이 남</a:t>
            </a:r>
            <a:endParaRPr lang="en-US" altLang="ko-KR" sz="3200" dirty="0"/>
          </a:p>
          <a:p>
            <a:r>
              <a:rPr lang="en-US" altLang="ko-KR" sz="3200" dirty="0"/>
              <a:t>;(</a:t>
            </a:r>
            <a:r>
              <a:rPr lang="ko-KR" altLang="en-US" sz="3200" dirty="0"/>
              <a:t>세미콜론</a:t>
            </a:r>
            <a:r>
              <a:rPr lang="en-US" altLang="ko-KR" sz="3200" dirty="0"/>
              <a:t>)</a:t>
            </a:r>
            <a:r>
              <a:rPr lang="ko-KR" altLang="en-US" sz="3200" dirty="0"/>
              <a:t> 사용 안함</a:t>
            </a:r>
            <a:endParaRPr lang="en-US" altLang="ko-KR" sz="3200" dirty="0"/>
          </a:p>
          <a:p>
            <a:r>
              <a:rPr lang="en-US" altLang="ko-KR" sz="3200" dirty="0">
                <a:sym typeface="Wingdings" pitchFamily="2" charset="2"/>
              </a:rPr>
              <a:t>:(</a:t>
            </a:r>
            <a:r>
              <a:rPr lang="ko-KR" altLang="en-US" sz="3200" dirty="0">
                <a:sym typeface="Wingdings" pitchFamily="2" charset="2"/>
              </a:rPr>
              <a:t>콜론</a:t>
            </a:r>
            <a:r>
              <a:rPr lang="en-US" altLang="ko-KR" sz="3200" dirty="0">
                <a:sym typeface="Wingdings" pitchFamily="2" charset="2"/>
              </a:rPr>
              <a:t>)</a:t>
            </a:r>
            <a:r>
              <a:rPr lang="ko-KR" altLang="en-US" sz="3200" dirty="0">
                <a:sym typeface="Wingdings" pitchFamily="2" charset="2"/>
              </a:rPr>
              <a:t>        사용함</a:t>
            </a:r>
            <a:endParaRPr lang="en-US" altLang="ko-KR" sz="3200" dirty="0"/>
          </a:p>
          <a:p>
            <a:r>
              <a:rPr lang="ko-KR" altLang="en-US" sz="3200" dirty="0"/>
              <a:t>함수를 사용할 때 </a:t>
            </a:r>
            <a:r>
              <a:rPr lang="en-US" altLang="ko-KR" sz="3200" dirty="0"/>
              <a:t>{}</a:t>
            </a:r>
            <a:r>
              <a:rPr lang="ko-KR" altLang="en-US" sz="3200" dirty="0" err="1"/>
              <a:t>를</a:t>
            </a:r>
            <a:r>
              <a:rPr lang="ko-KR" altLang="en-US" sz="3200" dirty="0"/>
              <a:t> 쓰지 않음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18884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89E13-FE9D-524E-B013-9E635306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파이썬</a:t>
            </a:r>
            <a:r>
              <a:rPr lang="ko-KR" altLang="en-US" b="1" dirty="0"/>
              <a:t> 설치  </a:t>
            </a:r>
            <a:br>
              <a:rPr lang="en-US" altLang="ko-KR" b="1" dirty="0"/>
            </a:b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DC926-8EB0-8145-9960-7908E50E0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3" y="1243013"/>
            <a:ext cx="10120312" cy="54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0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89E13-FE9D-524E-B013-9E635306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파이썬</a:t>
            </a:r>
            <a:r>
              <a:rPr lang="ko-KR" altLang="en-US" b="1" dirty="0"/>
              <a:t> 설치</a:t>
            </a:r>
            <a:br>
              <a:rPr lang="en-US" altLang="ko-KR" b="1" dirty="0"/>
            </a:b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FE96C-D600-5841-969B-82EF3B27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089" y="1243013"/>
            <a:ext cx="9715500" cy="550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620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89E13-FE9D-524E-B013-9E635306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ko-KR" altLang="en-US" b="1" dirty="0" err="1"/>
              <a:t>파이썬</a:t>
            </a:r>
            <a:r>
              <a:rPr lang="ko-KR" altLang="en-US" b="1" dirty="0"/>
              <a:t> 설치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ko-KR" altLang="en-US" b="1" dirty="0" err="1"/>
              <a:t>파이썬</a:t>
            </a:r>
            <a:r>
              <a:rPr lang="ko-KR" altLang="en-US" b="1" dirty="0"/>
              <a:t> 아나콘다</a:t>
            </a:r>
            <a:br>
              <a:rPr lang="en-US" altLang="ko-KR" b="1" dirty="0"/>
            </a:b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40E6E-6DC5-914A-9DE2-C4C14B4A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1314450"/>
            <a:ext cx="9296400" cy="52315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C33020-4BC4-774A-83D6-78E5061D9D33}"/>
              </a:ext>
            </a:extLst>
          </p:cNvPr>
          <p:cNvSpPr txBox="1"/>
          <p:nvPr/>
        </p:nvSpPr>
        <p:spPr>
          <a:xfrm>
            <a:off x="4186238" y="2437250"/>
            <a:ext cx="4043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운영체제에 맞는 것을 설치할 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35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5A3B-C3B5-344B-99EC-E4DBA7B3B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141" y="353810"/>
            <a:ext cx="10178322" cy="1492132"/>
          </a:xfrm>
        </p:spPr>
        <p:txBody>
          <a:bodyPr/>
          <a:lstStyle/>
          <a:p>
            <a:r>
              <a:rPr lang="en-US" dirty="0"/>
              <a:t>Python</a:t>
            </a:r>
            <a:r>
              <a:rPr lang="ko-KR" altLang="en-US" sz="4800" dirty="0"/>
              <a:t> 이 잘 설치되었는지 </a:t>
            </a:r>
            <a:r>
              <a:rPr lang="en-US" altLang="ko-KR" dirty="0"/>
              <a:t>terminal</a:t>
            </a:r>
            <a:r>
              <a:rPr lang="ko-KR" altLang="en-US" dirty="0"/>
              <a:t>에서 확인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48CE3-ADB0-9A47-B268-65FC3724D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578" y="1976438"/>
            <a:ext cx="7206522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2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CFBC7-F931-BB41-BFC9-47435CDE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80169"/>
            <a:ext cx="10178322" cy="5274527"/>
          </a:xfrm>
        </p:spPr>
        <p:txBody>
          <a:bodyPr>
            <a:normAutofit/>
          </a:bodyPr>
          <a:lstStyle/>
          <a:p>
            <a:r>
              <a:rPr lang="en-US" dirty="0"/>
              <a:t>print(‘</a:t>
            </a:r>
            <a:r>
              <a:rPr lang="ko-KR" altLang="en-US" dirty="0"/>
              <a:t>안녕</a:t>
            </a:r>
            <a:r>
              <a:rPr lang="en-US" altLang="ko-KR" dirty="0"/>
              <a:t>’)</a:t>
            </a:r>
          </a:p>
          <a:p>
            <a:r>
              <a:rPr lang="en-US" dirty="0"/>
              <a:t>print(‘Hello World’)</a:t>
            </a:r>
          </a:p>
          <a:p>
            <a:r>
              <a:rPr lang="en-US" dirty="0"/>
              <a:t>print(10)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string </a:t>
            </a:r>
            <a:r>
              <a:rPr lang="ko-KR" altLang="en-US" dirty="0"/>
              <a:t>은 </a:t>
            </a:r>
            <a:r>
              <a:rPr lang="en-US" altLang="ko-KR" dirty="0"/>
              <a:t>()</a:t>
            </a:r>
            <a:r>
              <a:rPr lang="ko-KR" altLang="en-US" dirty="0"/>
              <a:t>안에 ＂</a:t>
            </a:r>
            <a:r>
              <a:rPr lang="en-US" altLang="ko-KR" dirty="0"/>
              <a:t>string” </a:t>
            </a:r>
            <a:r>
              <a:rPr lang="ko-KR" altLang="en-US" dirty="0"/>
              <a:t> 이나 </a:t>
            </a:r>
            <a:r>
              <a:rPr lang="en-US" altLang="ko-KR" dirty="0"/>
              <a:t>‘string’</a:t>
            </a:r>
            <a:r>
              <a:rPr lang="ko-KR" altLang="en-US" dirty="0"/>
              <a:t> 같이 쓰고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숫자는 </a:t>
            </a:r>
            <a:r>
              <a:rPr lang="en-US" altLang="ko-KR" dirty="0"/>
              <a:t>()</a:t>
            </a:r>
            <a:r>
              <a:rPr lang="ko-KR" altLang="en-US" dirty="0"/>
              <a:t>안에 그냥 쓴다</a:t>
            </a:r>
            <a:endParaRPr lang="en-US" altLang="ko-K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atom</a:t>
            </a:r>
            <a:r>
              <a:rPr lang="ko-KR" altLang="en-US" dirty="0"/>
              <a:t>에서 </a:t>
            </a:r>
            <a:r>
              <a:rPr lang="en-US" altLang="ko-KR" dirty="0"/>
              <a:t>hydrogen </a:t>
            </a:r>
            <a:r>
              <a:rPr lang="ko-KR" altLang="en-US" dirty="0"/>
              <a:t>패키지를 설치하면 한 줄 한 줄의 결과를 확인할 수 있음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맥북에서 </a:t>
            </a:r>
            <a:r>
              <a:rPr lang="en-US" altLang="ko-KR" dirty="0"/>
              <a:t>(command</a:t>
            </a:r>
            <a:r>
              <a:rPr lang="ko-KR" altLang="en-US" dirty="0"/>
              <a:t> </a:t>
            </a:r>
            <a:r>
              <a:rPr lang="ko-KR" altLang="en-US" dirty="0" err="1"/>
              <a:t>엔터</a:t>
            </a:r>
            <a:r>
              <a:rPr lang="en-US" altLang="ko-KR" dirty="0"/>
              <a:t>)</a:t>
            </a:r>
            <a:r>
              <a:rPr lang="ko-KR" altLang="en-US" dirty="0"/>
              <a:t>는 그 줄의 결과만 보는 거고 </a:t>
            </a:r>
            <a:r>
              <a:rPr lang="en-US" altLang="ko-KR" dirty="0"/>
              <a:t>code</a:t>
            </a:r>
            <a:r>
              <a:rPr lang="ko-KR" altLang="en-US" dirty="0"/>
              <a:t> 전체의 결과를 보고 싶으면 </a:t>
            </a:r>
            <a:r>
              <a:rPr lang="en-US" altLang="ko-KR" dirty="0"/>
              <a:t>(command</a:t>
            </a:r>
            <a:r>
              <a:rPr lang="ko-KR" altLang="en-US" dirty="0"/>
              <a:t> </a:t>
            </a:r>
            <a:r>
              <a:rPr lang="en-US" altLang="ko-KR" dirty="0"/>
              <a:t>control</a:t>
            </a:r>
            <a:r>
              <a:rPr lang="ko-KR" altLang="en-US" dirty="0"/>
              <a:t> </a:t>
            </a:r>
            <a:r>
              <a:rPr lang="ko-KR" altLang="en-US" dirty="0" err="1"/>
              <a:t>엔터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하면 됨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hydrogen</a:t>
            </a:r>
            <a:r>
              <a:rPr lang="ko-KR" altLang="en-US" dirty="0"/>
              <a:t>말고 그냥 </a:t>
            </a:r>
            <a:r>
              <a:rPr lang="en-US" altLang="ko-KR" dirty="0"/>
              <a:t>terminal</a:t>
            </a:r>
            <a:r>
              <a:rPr lang="ko-KR" altLang="en-US" dirty="0"/>
              <a:t>을 돌리는 방법은 </a:t>
            </a:r>
            <a:r>
              <a:rPr lang="en-US" altLang="ko-KR" dirty="0"/>
              <a:t>command </a:t>
            </a:r>
            <a:r>
              <a:rPr lang="en-US" altLang="ko-KR" dirty="0" err="1"/>
              <a:t>i</a:t>
            </a:r>
            <a:endParaRPr lang="en-US" altLang="ko-K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Arial Rounded MT Bold" panose="020F0704030504030204" pitchFamily="34" charset="77"/>
              </a:rPr>
              <a:t>print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E9B7FF-7B55-4F41-B6A2-29F0BF889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74" y="1280169"/>
            <a:ext cx="2616200" cy="1498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D72C5D-7C2A-C44A-8FAD-E924F6F0623E}"/>
              </a:ext>
            </a:extLst>
          </p:cNvPr>
          <p:cNvSpPr txBox="1"/>
          <p:nvPr/>
        </p:nvSpPr>
        <p:spPr>
          <a:xfrm>
            <a:off x="7813503" y="1383137"/>
            <a:ext cx="158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\n</a:t>
            </a:r>
            <a:r>
              <a:rPr lang="ko-KR" altLang="en-US" dirty="0"/>
              <a:t>은 </a:t>
            </a:r>
            <a:r>
              <a:rPr lang="ko-KR" altLang="en-US" dirty="0" err="1"/>
              <a:t>줄바꾸기</a:t>
            </a:r>
            <a:endParaRPr lang="en-US" altLang="ko-KR" dirty="0"/>
          </a:p>
          <a:p>
            <a:r>
              <a:rPr lang="en-US" altLang="ko-KR" dirty="0"/>
              <a:t>\t</a:t>
            </a:r>
            <a:r>
              <a:rPr lang="ko-KR" altLang="en-US" dirty="0"/>
              <a:t>는 </a:t>
            </a:r>
            <a:r>
              <a:rPr lang="en-US" altLang="ko-KR" dirty="0"/>
              <a:t>tab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168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CFBC7-F931-BB41-BFC9-47435CDE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097" y="1467519"/>
            <a:ext cx="10178322" cy="47927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a=1</a:t>
            </a:r>
          </a:p>
          <a:p>
            <a:pPr marL="0" indent="0">
              <a:buNone/>
            </a:pPr>
            <a:r>
              <a:rPr lang="en-US" dirty="0"/>
              <a:t>b=2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a+b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name = ‘mina’</a:t>
            </a:r>
          </a:p>
          <a:p>
            <a:pPr marL="0" indent="0">
              <a:buNone/>
            </a:pPr>
            <a:r>
              <a:rPr lang="en-US" dirty="0" err="1"/>
              <a:t>my_name</a:t>
            </a:r>
            <a:r>
              <a:rPr lang="en-US" dirty="0"/>
              <a:t> = ‘</a:t>
            </a:r>
            <a:r>
              <a:rPr lang="en-US" dirty="0" err="1"/>
              <a:t>momo</a:t>
            </a:r>
            <a:r>
              <a:rPr lang="en-US" dirty="0"/>
              <a:t>’</a:t>
            </a:r>
          </a:p>
          <a:p>
            <a:pPr marL="0" indent="0">
              <a:buNone/>
            </a:pPr>
            <a:r>
              <a:rPr lang="en-US" altLang="ko-KR" dirty="0"/>
              <a:t>t=</a:t>
            </a:r>
            <a:r>
              <a:rPr lang="ko-KR" altLang="en-US" dirty="0"/>
              <a:t> </a:t>
            </a:r>
            <a:r>
              <a:rPr lang="en-US" altLang="ko-KR" dirty="0"/>
              <a:t>True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ko-KR" altLang="en-US" dirty="0"/>
              <a:t>변수에 대입할 수 있는 것</a:t>
            </a:r>
            <a:endParaRPr lang="en-US" altLang="ko-KR" dirty="0"/>
          </a:p>
          <a:p>
            <a:pPr marL="0" indent="0">
              <a:buNone/>
            </a:pPr>
            <a:r>
              <a:rPr lang="en-US" dirty="0"/>
              <a:t>string, number, </a:t>
            </a:r>
            <a:r>
              <a:rPr lang="en-US" dirty="0" err="1"/>
              <a:t>boolean</a:t>
            </a:r>
            <a:r>
              <a:rPr lang="en-US" dirty="0"/>
              <a:t>(True, False)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ko-KR" altLang="en-US" dirty="0"/>
              <a:t>변수 팁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en-US" altLang="ko-KR" dirty="0" err="1"/>
              <a:t>my_name</a:t>
            </a:r>
            <a:r>
              <a:rPr lang="en-US" altLang="ko-KR" dirty="0"/>
              <a:t> </a:t>
            </a:r>
            <a:r>
              <a:rPr lang="ko-KR" altLang="en-US" dirty="0"/>
              <a:t>이나 </a:t>
            </a:r>
            <a:r>
              <a:rPr lang="en-US" altLang="ko-KR" dirty="0" err="1"/>
              <a:t>MyName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이런 식으로 여러 단어 변수 만들면 좋음</a:t>
            </a:r>
            <a:endParaRPr lang="en-US" altLang="ko-KR" dirty="0"/>
          </a:p>
          <a:p>
            <a:pPr marL="0" indent="0">
              <a:buNone/>
            </a:pPr>
            <a:r>
              <a:rPr lang="en-US" dirty="0"/>
              <a:t>del</a:t>
            </a:r>
            <a:r>
              <a:rPr lang="ko-KR" altLang="en-US" dirty="0"/>
              <a:t>을 이용하면 삭제됨</a:t>
            </a:r>
            <a:endParaRPr lang="en-US" altLang="ko-KR" dirty="0"/>
          </a:p>
          <a:p>
            <a:pPr marL="0" indent="0">
              <a:buNone/>
            </a:pPr>
            <a:r>
              <a:rPr lang="en-US" dirty="0"/>
              <a:t>del a </a:t>
            </a:r>
            <a:r>
              <a:rPr lang="ko-KR" altLang="en-US" dirty="0"/>
              <a:t>하면  </a:t>
            </a:r>
            <a:r>
              <a:rPr lang="en-US" altLang="ko-KR" dirty="0"/>
              <a:t>print(a)</a:t>
            </a:r>
            <a:r>
              <a:rPr lang="ko-KR" altLang="en-US" dirty="0"/>
              <a:t>하면 </a:t>
            </a:r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define</a:t>
            </a:r>
            <a:r>
              <a:rPr lang="ko-KR" altLang="en-US" dirty="0"/>
              <a:t> 되지 않았다고 나옴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117863" y="379141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atin typeface="Arial Rounded MT Bold" panose="020F0704030504030204" pitchFamily="34" charset="77"/>
              </a:rPr>
              <a:t>변수</a:t>
            </a:r>
            <a:r>
              <a:rPr lang="en-US" sz="5400" dirty="0">
                <a:latin typeface="Arial Rounded MT Bold" panose="020F0704030504030204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511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523E-1B7D-8449-B37E-C01E9942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</a:t>
            </a:r>
            <a:r>
              <a:rPr lang="ko-KR" altLang="en-US" dirty="0"/>
              <a:t>에 내장 되어 있는 함수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90FB6-0BED-D34D-B001-D8E4674EA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16567"/>
            <a:ext cx="10178322" cy="4363026"/>
          </a:xfrm>
        </p:spPr>
        <p:txBody>
          <a:bodyPr/>
          <a:lstStyle/>
          <a:p>
            <a:r>
              <a:rPr lang="ko-KR" altLang="en-US" dirty="0"/>
              <a:t>변수 이름으로 내장 함수는 쓸 수 없기에 알고 있으면 좋음 </a:t>
            </a:r>
            <a:r>
              <a:rPr lang="en-US" altLang="ko-KR" dirty="0"/>
              <a:t>+</a:t>
            </a:r>
            <a:r>
              <a:rPr lang="ko-KR" altLang="en-US" dirty="0"/>
              <a:t> 함수 활용 할 때 편함</a:t>
            </a:r>
            <a:endParaRPr lang="en-US" altLang="ko-K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python </a:t>
            </a:r>
            <a:r>
              <a:rPr lang="ko-KR" altLang="en-US" dirty="0" err="1"/>
              <a:t>예약어</a:t>
            </a:r>
            <a:r>
              <a:rPr lang="en-US" altLang="ko-KR" dirty="0"/>
              <a:t>(</a:t>
            </a:r>
            <a:r>
              <a:rPr lang="ko-KR" altLang="en-US" dirty="0"/>
              <a:t>함수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제어문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 확인방법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import keyword</a:t>
            </a:r>
          </a:p>
          <a:p>
            <a:pPr marL="0" indent="0">
              <a:buNone/>
            </a:pPr>
            <a:r>
              <a:rPr lang="en-US" altLang="ko-KR" dirty="0" err="1"/>
              <a:t>keyword.kwlist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cf</a:t>
            </a:r>
            <a:r>
              <a:rPr lang="ko-KR" altLang="en-US" dirty="0"/>
              <a:t> 주석은 맨 앞에 </a:t>
            </a:r>
            <a:r>
              <a:rPr lang="en-US" altLang="ko-KR" dirty="0"/>
              <a:t>#</a:t>
            </a:r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맥 기준 단축키 </a:t>
            </a:r>
            <a:r>
              <a:rPr lang="en-US" altLang="ko-KR" dirty="0"/>
              <a:t>command /)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8961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latin typeface="Arial Rounded MT Bold" panose="020F0704030504030204" pitchFamily="34" charset="77"/>
              </a:rPr>
              <a:t>연산</a:t>
            </a:r>
            <a:r>
              <a:rPr lang="en-US" sz="5400" dirty="0">
                <a:latin typeface="Arial Rounded MT Bold" panose="020F0704030504030204" pitchFamily="34" charset="77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53F9-2932-2543-A101-FAFA178B5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013" y="1547798"/>
            <a:ext cx="8165504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56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452401" y="1280169"/>
            <a:ext cx="925277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77"/>
              </a:rPr>
              <a:t>Ex) </a:t>
            </a:r>
            <a:r>
              <a:rPr lang="ko-KR" altLang="en-US" sz="2400" dirty="0">
                <a:latin typeface="Arial Rounded MT Bold" panose="020F0704030504030204" pitchFamily="34" charset="77"/>
              </a:rPr>
              <a:t>주식 계산</a:t>
            </a:r>
            <a:endParaRPr lang="en-US" altLang="ko-KR" sz="2400" dirty="0">
              <a:latin typeface="Arial Rounded MT Bold" panose="020F0704030504030204" pitchFamily="34" charset="77"/>
            </a:endParaRPr>
          </a:p>
          <a:p>
            <a:endParaRPr lang="en-US" altLang="ko-KR" sz="2400" dirty="0">
              <a:latin typeface="Arial Rounded MT Bold" panose="020F0704030504030204" pitchFamily="34" charset="77"/>
            </a:endParaRPr>
          </a:p>
          <a:p>
            <a:r>
              <a:rPr lang="en-US" altLang="ko-KR" sz="2400" dirty="0" err="1">
                <a:latin typeface="Arial Rounded MT Bold" panose="020F0704030504030204" pitchFamily="34" charset="77"/>
              </a:rPr>
              <a:t>naver</a:t>
            </a:r>
            <a:r>
              <a:rPr lang="ko-KR" altLang="en-US" sz="2400" dirty="0">
                <a:latin typeface="Arial Rounded MT Bold" panose="020F0704030504030204" pitchFamily="34" charset="77"/>
              </a:rPr>
              <a:t> 주식이 한 주당 </a:t>
            </a:r>
            <a:r>
              <a:rPr lang="en-US" altLang="ko-KR" sz="2400" dirty="0">
                <a:latin typeface="Arial Rounded MT Bold" panose="020F0704030504030204" pitchFamily="34" charset="77"/>
              </a:rPr>
              <a:t>100000</a:t>
            </a:r>
            <a:r>
              <a:rPr lang="ko-KR" altLang="en-US" sz="2400" dirty="0">
                <a:latin typeface="Arial Rounded MT Bold" panose="020F0704030504030204" pitchFamily="34" charset="77"/>
              </a:rPr>
              <a:t>원이면 </a:t>
            </a:r>
            <a:r>
              <a:rPr lang="en-US" altLang="ko-KR" sz="2400" dirty="0">
                <a:latin typeface="Arial Rounded MT Bold" panose="020F0704030504030204" pitchFamily="34" charset="77"/>
              </a:rPr>
              <a:t>10</a:t>
            </a:r>
            <a:r>
              <a:rPr lang="ko-KR" altLang="en-US" sz="2400" dirty="0">
                <a:latin typeface="Arial Rounded MT Bold" panose="020F0704030504030204" pitchFamily="34" charset="77"/>
              </a:rPr>
              <a:t>주가 있으면 보유 주식은 얼마일까</a:t>
            </a:r>
            <a:r>
              <a:rPr lang="en-US" altLang="ko-KR" sz="2400" dirty="0">
                <a:latin typeface="Arial Rounded MT Bold" panose="020F0704030504030204" pitchFamily="34" charset="77"/>
              </a:rPr>
              <a:t>?</a:t>
            </a:r>
          </a:p>
          <a:p>
            <a:r>
              <a:rPr lang="en-US" altLang="ko-KR" sz="2400" dirty="0">
                <a:latin typeface="Arial Rounded MT Bold" panose="020F0704030504030204" pitchFamily="34" charset="77"/>
              </a:rPr>
              <a:t>&gt;&gt;&gt;</a:t>
            </a:r>
            <a:r>
              <a:rPr lang="ko-KR" altLang="en-US" sz="2400" dirty="0">
                <a:latin typeface="Arial Rounded MT Bold" panose="020F0704030504030204" pitchFamily="34" charset="77"/>
              </a:rPr>
              <a:t> </a:t>
            </a:r>
            <a:r>
              <a:rPr lang="en-US" altLang="ko-KR" sz="2400" dirty="0">
                <a:latin typeface="Arial Rounded MT Bold" panose="020F0704030504030204" pitchFamily="34" charset="77"/>
              </a:rPr>
              <a:t>100000</a:t>
            </a:r>
            <a:r>
              <a:rPr lang="ko-KR" altLang="en-US" sz="2400" dirty="0">
                <a:latin typeface="Arial Rounded MT Bold" panose="020F0704030504030204" pitchFamily="34" charset="77"/>
              </a:rPr>
              <a:t> * </a:t>
            </a:r>
            <a:r>
              <a:rPr lang="en-US" altLang="ko-KR" sz="2400" dirty="0">
                <a:latin typeface="Arial Rounded MT Bold" panose="020F0704030504030204" pitchFamily="34" charset="77"/>
              </a:rPr>
              <a:t>10</a:t>
            </a:r>
          </a:p>
          <a:p>
            <a:endParaRPr lang="en-US" sz="2400" dirty="0">
              <a:latin typeface="Arial Rounded MT Bold" panose="020F0704030504030204" pitchFamily="34" charset="77"/>
            </a:endParaRPr>
          </a:p>
          <a:p>
            <a:r>
              <a:rPr lang="ko-KR" altLang="en-US" sz="2400" dirty="0">
                <a:latin typeface="Arial Rounded MT Bold" panose="020F0704030504030204" pitchFamily="34" charset="77"/>
              </a:rPr>
              <a:t>주식이 현재가 대비 </a:t>
            </a:r>
            <a:r>
              <a:rPr lang="en-US" altLang="ko-KR" sz="2400" dirty="0">
                <a:latin typeface="Arial Rounded MT Bold" panose="020F0704030504030204" pitchFamily="34" charset="77"/>
              </a:rPr>
              <a:t>3%</a:t>
            </a:r>
            <a:r>
              <a:rPr lang="ko-KR" altLang="en-US" sz="2400" dirty="0">
                <a:latin typeface="Arial Rounded MT Bold" panose="020F0704030504030204" pitchFamily="34" charset="77"/>
              </a:rPr>
              <a:t> 이상 떨어지면 보유 주식을 모두 매도하는 프로그램</a:t>
            </a:r>
            <a:r>
              <a:rPr lang="en-US" altLang="ko-KR" sz="2400" dirty="0">
                <a:latin typeface="Arial Rounded MT Bold" panose="020F0704030504030204" pitchFamily="34" charset="77"/>
              </a:rPr>
              <a:t>!</a:t>
            </a:r>
          </a:p>
          <a:p>
            <a:r>
              <a:rPr lang="en-US" altLang="ko-KR" sz="2400" dirty="0">
                <a:latin typeface="Arial Rounded MT Bold" panose="020F0704030504030204" pitchFamily="34" charset="77"/>
              </a:rPr>
              <a:t>&gt;&gt;&gt;100000</a:t>
            </a:r>
            <a:r>
              <a:rPr lang="ko-KR" altLang="en-US" sz="2400" dirty="0">
                <a:latin typeface="Arial Rounded MT Bold" panose="020F0704030504030204" pitchFamily="34" charset="77"/>
              </a:rPr>
              <a:t> * </a:t>
            </a:r>
            <a:r>
              <a:rPr lang="en-US" altLang="ko-KR" sz="2400" dirty="0">
                <a:latin typeface="Arial Rounded MT Bold" panose="020F0704030504030204" pitchFamily="34" charset="77"/>
              </a:rPr>
              <a:t>0.97</a:t>
            </a:r>
          </a:p>
          <a:p>
            <a:endParaRPr lang="en-US" altLang="ko-KR" sz="2400" dirty="0">
              <a:latin typeface="Arial Rounded MT Bold" panose="020F0704030504030204" pitchFamily="34" charset="77"/>
            </a:endParaRPr>
          </a:p>
          <a:p>
            <a:r>
              <a:rPr lang="ko-KR" altLang="en-US" sz="2400" dirty="0">
                <a:latin typeface="Arial Rounded MT Bold" panose="020F0704030504030204" pitchFamily="34" charset="77"/>
              </a:rPr>
              <a:t>만약 </a:t>
            </a:r>
            <a:r>
              <a:rPr lang="ko-KR" altLang="en-US" sz="2400" dirty="0" err="1">
                <a:latin typeface="Arial Rounded MT Bold" panose="020F0704030504030204" pitchFamily="34" charset="77"/>
              </a:rPr>
              <a:t>현재가가</a:t>
            </a:r>
            <a:r>
              <a:rPr lang="ko-KR" altLang="en-US" sz="2400" dirty="0">
                <a:latin typeface="Arial Rounded MT Bold" panose="020F0704030504030204" pitchFamily="34" charset="77"/>
              </a:rPr>
              <a:t> </a:t>
            </a:r>
            <a:r>
              <a:rPr lang="en-US" altLang="ko-KR" sz="2400" dirty="0">
                <a:latin typeface="Arial Rounded MT Bold" panose="020F0704030504030204" pitchFamily="34" charset="77"/>
              </a:rPr>
              <a:t>97000</a:t>
            </a:r>
            <a:r>
              <a:rPr lang="ko-KR" altLang="en-US" sz="2400" dirty="0">
                <a:latin typeface="Arial Rounded MT Bold" panose="020F0704030504030204" pitchFamily="34" charset="77"/>
              </a:rPr>
              <a:t>보다 낮으면</a:t>
            </a:r>
            <a:endParaRPr lang="en-US" altLang="ko-KR" sz="2400" dirty="0">
              <a:latin typeface="Arial Rounded MT Bold" panose="020F0704030504030204" pitchFamily="34" charset="77"/>
            </a:endParaRPr>
          </a:p>
          <a:p>
            <a:r>
              <a:rPr lang="en-US" altLang="ko-KR" sz="2400" dirty="0">
                <a:latin typeface="Arial Rounded MT Bold" panose="020F0704030504030204" pitchFamily="34" charset="77"/>
              </a:rPr>
              <a:t>	</a:t>
            </a:r>
            <a:r>
              <a:rPr lang="ko-KR" altLang="en-US" sz="2400" dirty="0">
                <a:latin typeface="Arial Rounded MT Bold" panose="020F0704030504030204" pitchFamily="34" charset="77"/>
              </a:rPr>
              <a:t>보유 주식을 전량 매도</a:t>
            </a:r>
            <a:endParaRPr lang="en-US" altLang="ko-KR" sz="2400" dirty="0">
              <a:latin typeface="Arial Rounded MT Bold" panose="020F0704030504030204" pitchFamily="34" charset="77"/>
            </a:endParaRPr>
          </a:p>
          <a:p>
            <a:r>
              <a:rPr lang="ko-KR" altLang="en-US" sz="2400" dirty="0">
                <a:latin typeface="Arial Rounded MT Bold" panose="020F0704030504030204" pitchFamily="34" charset="77"/>
              </a:rPr>
              <a:t>그렇지 않으면</a:t>
            </a:r>
            <a:endParaRPr lang="en-US" altLang="ko-KR" sz="2400" dirty="0">
              <a:latin typeface="Arial Rounded MT Bold" panose="020F0704030504030204" pitchFamily="34" charset="77"/>
            </a:endParaRPr>
          </a:p>
          <a:p>
            <a:r>
              <a:rPr lang="en-US" altLang="ko-KR" sz="2400" dirty="0">
                <a:latin typeface="Arial Rounded MT Bold" panose="020F0704030504030204" pitchFamily="34" charset="77"/>
              </a:rPr>
              <a:t>	</a:t>
            </a:r>
            <a:r>
              <a:rPr lang="ko-KR" altLang="en-US" sz="2400" dirty="0">
                <a:latin typeface="Arial Rounded MT Bold" panose="020F0704030504030204" pitchFamily="34" charset="77"/>
              </a:rPr>
              <a:t>보유</a:t>
            </a:r>
            <a:r>
              <a:rPr lang="en-US" sz="2800" dirty="0">
                <a:latin typeface="Arial Rounded MT Bold" panose="020F0704030504030204" pitchFamily="34" charset="7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CF892-986A-1A43-80AF-1624730168FB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latin typeface="Arial Rounded MT Bold" panose="020F0704030504030204" pitchFamily="34" charset="77"/>
              </a:rPr>
              <a:t>어디에 써먹을 수 있을까</a:t>
            </a:r>
            <a:r>
              <a:rPr lang="en-US" altLang="ko-KR" sz="5400" dirty="0">
                <a:latin typeface="Arial Rounded MT Bold" panose="020F0704030504030204" pitchFamily="34" charset="77"/>
              </a:rPr>
              <a:t>?</a:t>
            </a:r>
            <a:r>
              <a:rPr lang="en-US" sz="5400" dirty="0">
                <a:latin typeface="Arial Rounded MT Bold" panose="020F0704030504030204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715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latin typeface="Arial Rounded MT Bold" panose="020F0704030504030204" pitchFamily="34" charset="77"/>
              </a:rPr>
              <a:t>변수와 </a:t>
            </a:r>
            <a:r>
              <a:rPr lang="en-US" altLang="ko-KR" sz="5400" dirty="0">
                <a:latin typeface="Arial Rounded MT Bold" panose="020F0704030504030204" pitchFamily="34" charset="77"/>
              </a:rPr>
              <a:t>binding</a:t>
            </a:r>
            <a:r>
              <a:rPr lang="en-US" sz="5400" dirty="0">
                <a:latin typeface="Arial Rounded MT Bold" panose="020F0704030504030204" pitchFamily="34" charset="7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78257-BDED-E746-83BE-E55F522A5BB9}"/>
              </a:ext>
            </a:extLst>
          </p:cNvPr>
          <p:cNvSpPr txBox="1"/>
          <p:nvPr/>
        </p:nvSpPr>
        <p:spPr>
          <a:xfrm>
            <a:off x="1452401" y="1280169"/>
            <a:ext cx="925277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 Rounded MT Bold" panose="020F0704030504030204" pitchFamily="34" charset="77"/>
              </a:rPr>
              <a:t>naver</a:t>
            </a:r>
            <a:r>
              <a:rPr lang="en-US" sz="2800" dirty="0">
                <a:latin typeface="Arial Rounded MT Bold" panose="020F0704030504030204" pitchFamily="34" charset="77"/>
              </a:rPr>
              <a:t> = 601000</a:t>
            </a: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r>
              <a:rPr lang="en-US" sz="2800" dirty="0">
                <a:latin typeface="Arial Rounded MT Bold" panose="020F0704030504030204" pitchFamily="34" charset="77"/>
              </a:rPr>
              <a:t>python</a:t>
            </a:r>
            <a:r>
              <a:rPr lang="ko-KR" altLang="en-US" sz="2800" dirty="0">
                <a:latin typeface="Arial Rounded MT Bold" panose="020F0704030504030204" pitchFamily="34" charset="77"/>
              </a:rPr>
              <a:t>에서는 </a:t>
            </a:r>
            <a:r>
              <a:rPr lang="en-US" altLang="ko-KR" sz="2800" dirty="0">
                <a:latin typeface="Arial Rounded MT Bold" panose="020F0704030504030204" pitchFamily="34" charset="77"/>
              </a:rPr>
              <a:t>=</a:t>
            </a:r>
            <a:r>
              <a:rPr lang="ko-KR" altLang="en-US" sz="2800" dirty="0">
                <a:latin typeface="Arial Rounded MT Bold" panose="020F0704030504030204" pitchFamily="34" charset="77"/>
              </a:rPr>
              <a:t> 가 </a:t>
            </a:r>
            <a:r>
              <a:rPr lang="en-US" altLang="ko-KR" sz="2800" dirty="0">
                <a:latin typeface="Arial Rounded MT Bold" panose="020F0704030504030204" pitchFamily="34" charset="77"/>
              </a:rPr>
              <a:t>binding</a:t>
            </a:r>
            <a:r>
              <a:rPr lang="ko-KR" altLang="en-US" sz="2800" dirty="0">
                <a:latin typeface="Arial Rounded MT Bold" panose="020F0704030504030204" pitchFamily="34" charset="77"/>
              </a:rPr>
              <a:t>을 의미한다</a:t>
            </a:r>
            <a:r>
              <a:rPr lang="en-US" altLang="ko-KR" sz="2800" dirty="0">
                <a:latin typeface="Arial Rounded MT Bold" panose="020F0704030504030204" pitchFamily="34" charset="77"/>
              </a:rPr>
              <a:t>.</a:t>
            </a:r>
          </a:p>
          <a:p>
            <a:r>
              <a:rPr lang="en-US" sz="2800" dirty="0">
                <a:latin typeface="Arial Rounded MT Bold" panose="020F0704030504030204" pitchFamily="34" charset="77"/>
              </a:rPr>
              <a:t>binding</a:t>
            </a:r>
            <a:r>
              <a:rPr lang="ko-KR" altLang="en-US" sz="2800" dirty="0">
                <a:latin typeface="Arial Rounded MT Bold" panose="020F0704030504030204" pitchFamily="34" charset="77"/>
              </a:rPr>
              <a:t>은 </a:t>
            </a:r>
            <a:r>
              <a:rPr lang="en-US" altLang="ko-KR" sz="2800" dirty="0">
                <a:latin typeface="Arial Rounded MT Bold" panose="020F0704030504030204" pitchFamily="34" charset="77"/>
              </a:rPr>
              <a:t>‘</a:t>
            </a:r>
            <a:r>
              <a:rPr lang="ko-KR" altLang="en-US" sz="2800" dirty="0" err="1">
                <a:latin typeface="Arial Rounded MT Bold" panose="020F0704030504030204" pitchFamily="34" charset="77"/>
              </a:rPr>
              <a:t>가르키는</a:t>
            </a:r>
            <a:r>
              <a:rPr lang="ko-KR" altLang="en-US" sz="2800" dirty="0">
                <a:latin typeface="Arial Rounded MT Bold" panose="020F0704030504030204" pitchFamily="34" charset="77"/>
              </a:rPr>
              <a:t> 것</a:t>
            </a:r>
            <a:r>
              <a:rPr lang="en-US" altLang="ko-KR" sz="2800" dirty="0">
                <a:latin typeface="Arial Rounded MT Bold" panose="020F0704030504030204" pitchFamily="34" charset="77"/>
              </a:rPr>
              <a:t>’</a:t>
            </a:r>
            <a:r>
              <a:rPr lang="ko-KR" altLang="en-US" sz="2800" dirty="0">
                <a:latin typeface="Arial Rounded MT Bold" panose="020F0704030504030204" pitchFamily="34" charset="77"/>
              </a:rPr>
              <a:t> 이라는 뜻이다</a:t>
            </a:r>
            <a:r>
              <a:rPr lang="en-US" altLang="ko-KR" sz="2800" dirty="0">
                <a:latin typeface="Arial Rounded MT Bold" panose="020F0704030504030204" pitchFamily="34" charset="77"/>
              </a:rPr>
              <a:t>.</a:t>
            </a: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r>
              <a:rPr lang="en-US" sz="2800" dirty="0" err="1">
                <a:latin typeface="Arial Rounded MT Bold" panose="020F0704030504030204" pitchFamily="34" charset="77"/>
              </a:rPr>
              <a:t>naver</a:t>
            </a:r>
            <a:r>
              <a:rPr lang="en-US" sz="2800" dirty="0">
                <a:latin typeface="Arial Rounded MT Bold" panose="020F0704030504030204" pitchFamily="34" charset="77"/>
              </a:rPr>
              <a:t> : </a:t>
            </a:r>
            <a:r>
              <a:rPr lang="ko-KR" altLang="en-US" sz="2800" dirty="0">
                <a:latin typeface="Arial Rounded MT Bold" panose="020F0704030504030204" pitchFamily="34" charset="77"/>
              </a:rPr>
              <a:t>변수   </a:t>
            </a:r>
            <a:r>
              <a:rPr lang="en-US" altLang="ko-KR" sz="2800" dirty="0">
                <a:latin typeface="Arial Rounded MT Bold" panose="020F0704030504030204" pitchFamily="34" charset="77"/>
              </a:rPr>
              <a:t>(</a:t>
            </a:r>
            <a:r>
              <a:rPr lang="ko-KR" altLang="en-US" sz="2800" dirty="0">
                <a:latin typeface="Arial Rounded MT Bold" panose="020F0704030504030204" pitchFamily="34" charset="77"/>
              </a:rPr>
              <a:t>집 주소 느낌</a:t>
            </a:r>
            <a:r>
              <a:rPr lang="en-US" altLang="ko-KR" sz="2800" dirty="0">
                <a:latin typeface="Arial Rounded MT Bold" panose="020F0704030504030204" pitchFamily="34" charset="77"/>
              </a:rPr>
              <a:t>)</a:t>
            </a:r>
          </a:p>
          <a:p>
            <a:r>
              <a:rPr lang="en-US" altLang="ko-KR" sz="2800" dirty="0">
                <a:latin typeface="Arial Rounded MT Bold" panose="020F0704030504030204" pitchFamily="34" charset="77"/>
              </a:rPr>
              <a:t>601000:</a:t>
            </a:r>
            <a:r>
              <a:rPr lang="ko-KR" altLang="en-US" sz="2800" dirty="0">
                <a:latin typeface="Arial Rounded MT Bold" panose="020F0704030504030204" pitchFamily="34" charset="77"/>
              </a:rPr>
              <a:t> 객체  </a:t>
            </a:r>
            <a:r>
              <a:rPr lang="en-US" altLang="ko-KR" sz="2800" dirty="0">
                <a:latin typeface="Arial Rounded MT Bold" panose="020F0704030504030204" pitchFamily="34" charset="77"/>
              </a:rPr>
              <a:t>(</a:t>
            </a:r>
            <a:r>
              <a:rPr lang="ko-KR" altLang="en-US" sz="2800" dirty="0">
                <a:latin typeface="Arial Rounded MT Bold" panose="020F0704030504030204" pitchFamily="34" charset="77"/>
              </a:rPr>
              <a:t>진짜 사는 집</a:t>
            </a:r>
            <a:r>
              <a:rPr lang="en-US" altLang="ko-KR" sz="2800" dirty="0">
                <a:latin typeface="Arial Rounded MT Bold" panose="020F0704030504030204" pitchFamily="34" charset="77"/>
              </a:rPr>
              <a:t>(</a:t>
            </a:r>
            <a:r>
              <a:rPr lang="ko-KR" altLang="en-US" sz="2800" dirty="0">
                <a:latin typeface="Arial Rounded MT Bold" panose="020F0704030504030204" pitchFamily="34" charset="77"/>
              </a:rPr>
              <a:t>실물</a:t>
            </a:r>
            <a:r>
              <a:rPr lang="en-US" altLang="ko-KR" sz="2800" dirty="0">
                <a:latin typeface="Arial Rounded MT Bold" panose="020F0704030504030204" pitchFamily="34" charset="77"/>
              </a:rPr>
              <a:t>))</a:t>
            </a:r>
            <a:endParaRPr lang="en-US" sz="2800" dirty="0">
              <a:latin typeface="Arial Rounded MT Bold" panose="020F0704030504030204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3695C3-6610-534A-B7A8-E75CD1E2D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01" y="3320585"/>
            <a:ext cx="54483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29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latin typeface="Arial Rounded MT Bold" panose="020F0704030504030204" pitchFamily="34" charset="77"/>
              </a:rPr>
              <a:t>그렇다면 이 변수와 객체는 어디에 저장될까</a:t>
            </a:r>
            <a:r>
              <a:rPr lang="en-US" altLang="ko-KR" sz="3600" dirty="0">
                <a:latin typeface="Arial Rounded MT Bold" panose="020F0704030504030204" pitchFamily="34" charset="77"/>
              </a:rPr>
              <a:t>?</a:t>
            </a:r>
            <a:r>
              <a:rPr lang="en-US" sz="3600" dirty="0">
                <a:latin typeface="Arial Rounded MT Bold" panose="020F0704030504030204" pitchFamily="34" charset="77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CDC97-D08F-E445-98FD-8CF14921416F}"/>
              </a:ext>
            </a:extLst>
          </p:cNvPr>
          <p:cNvSpPr txBox="1"/>
          <p:nvPr/>
        </p:nvSpPr>
        <p:spPr>
          <a:xfrm>
            <a:off x="1452401" y="1280169"/>
            <a:ext cx="925277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77"/>
              </a:rPr>
              <a:t>memory</a:t>
            </a:r>
            <a:r>
              <a:rPr lang="ko-KR" altLang="en-US" sz="2800" dirty="0">
                <a:latin typeface="Arial Rounded MT Bold" panose="020F0704030504030204" pitchFamily="34" charset="77"/>
              </a:rPr>
              <a:t>의 어느 위치에 저장 될까</a:t>
            </a:r>
            <a:r>
              <a:rPr lang="en-US" altLang="ko-KR" sz="2800" dirty="0">
                <a:latin typeface="Arial Rounded MT Bold" panose="020F0704030504030204" pitchFamily="34" charset="77"/>
              </a:rPr>
              <a:t>?</a:t>
            </a:r>
            <a:endParaRPr lang="en-US" sz="2800" dirty="0">
              <a:latin typeface="Arial Rounded MT Bold" panose="020F0704030504030204" pitchFamily="34" charset="77"/>
            </a:endParaRPr>
          </a:p>
          <a:p>
            <a:r>
              <a:rPr lang="en-US" sz="2800" dirty="0">
                <a:latin typeface="Arial Rounded MT Bold" panose="020F0704030504030204" pitchFamily="34" charset="77"/>
              </a:rPr>
              <a:t>x = 100</a:t>
            </a:r>
          </a:p>
          <a:p>
            <a:r>
              <a:rPr lang="en-US" sz="2800" dirty="0">
                <a:latin typeface="Arial Rounded MT Bold" panose="020F0704030504030204" pitchFamily="34" charset="77"/>
              </a:rPr>
              <a:t>id(x)</a:t>
            </a: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r>
              <a:rPr lang="en-US" sz="2800" dirty="0">
                <a:latin typeface="Arial Rounded MT Bold" panose="020F0704030504030204" pitchFamily="34" charset="77"/>
              </a:rPr>
              <a:t>x = 100</a:t>
            </a:r>
          </a:p>
          <a:p>
            <a:r>
              <a:rPr lang="en-US" sz="2800" dirty="0">
                <a:latin typeface="Arial Rounded MT Bold" panose="020F0704030504030204" pitchFamily="34" charset="77"/>
              </a:rPr>
              <a:t>y = 100</a:t>
            </a:r>
          </a:p>
          <a:p>
            <a:r>
              <a:rPr lang="en-US" sz="2800" dirty="0">
                <a:latin typeface="Arial Rounded MT Bold" panose="020F0704030504030204" pitchFamily="34" charset="77"/>
              </a:rPr>
              <a:t>id(x), id(y)</a:t>
            </a: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r>
              <a:rPr lang="en-US" altLang="ko-KR" sz="2800" dirty="0">
                <a:latin typeface="Arial Rounded MT Bold" panose="020F0704030504030204" pitchFamily="34" charset="77"/>
              </a:rPr>
              <a:t>x</a:t>
            </a:r>
            <a:r>
              <a:rPr lang="en-US" sz="2800" dirty="0">
                <a:latin typeface="Arial Rounded MT Bold" panose="020F0704030504030204" pitchFamily="34" charset="77"/>
              </a:rPr>
              <a:t> = 10000</a:t>
            </a:r>
          </a:p>
          <a:p>
            <a:r>
              <a:rPr lang="en-US" altLang="ko-KR" sz="2800" dirty="0">
                <a:latin typeface="Arial Rounded MT Bold" panose="020F0704030504030204" pitchFamily="34" charset="77"/>
              </a:rPr>
              <a:t>y</a:t>
            </a:r>
            <a:r>
              <a:rPr lang="en-US" sz="2800" dirty="0">
                <a:latin typeface="Arial Rounded MT Bold" panose="020F0704030504030204" pitchFamily="34" charset="77"/>
              </a:rPr>
              <a:t> = 10000</a:t>
            </a:r>
          </a:p>
          <a:p>
            <a:r>
              <a:rPr lang="en-US" sz="2800" dirty="0">
                <a:latin typeface="Arial Rounded MT Bold" panose="020F0704030504030204" pitchFamily="34" charset="77"/>
              </a:rPr>
              <a:t>id(</a:t>
            </a:r>
            <a:r>
              <a:rPr lang="en-US" altLang="ko-KR" sz="2800" dirty="0">
                <a:latin typeface="Arial Rounded MT Bold" panose="020F0704030504030204" pitchFamily="34" charset="77"/>
              </a:rPr>
              <a:t>x</a:t>
            </a:r>
            <a:r>
              <a:rPr lang="en-US" sz="2800" dirty="0">
                <a:latin typeface="Arial Rounded MT Bold" panose="020F0704030504030204" pitchFamily="34" charset="77"/>
              </a:rPr>
              <a:t>), id(</a:t>
            </a:r>
            <a:r>
              <a:rPr lang="en-US" altLang="ko-KR" sz="2800" dirty="0">
                <a:latin typeface="Arial Rounded MT Bold" panose="020F0704030504030204" pitchFamily="34" charset="77"/>
              </a:rPr>
              <a:t>y</a:t>
            </a:r>
            <a:r>
              <a:rPr lang="en-US" sz="2800" dirty="0">
                <a:latin typeface="Arial Rounded MT Bold" panose="020F0704030504030204" pitchFamily="34" charset="77"/>
              </a:rPr>
              <a:t>)</a:t>
            </a:r>
          </a:p>
          <a:p>
            <a:endParaRPr lang="en-US" sz="2800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70521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>
            <a:extLst>
              <a:ext uri="{FF2B5EF4-FFF2-40B4-BE49-F238E27FC236}">
                <a16:creationId xmlns:a16="http://schemas.microsoft.com/office/drawing/2014/main" id="{D1FDF194-C99A-4C11-8A97-58FF75F6EC6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3" name="Rectangle 12" title="left edge border">
            <a:extLst>
              <a:ext uri="{FF2B5EF4-FFF2-40B4-BE49-F238E27FC236}">
                <a16:creationId xmlns:a16="http://schemas.microsoft.com/office/drawing/2014/main" id="{DECAB5A9-13C6-4C85-AB53-C7D8B89541C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3199D-2015-4F72-83EB-C6A3ED4C457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reeform 6" title="Left scallop edge">
            <a:extLst>
              <a:ext uri="{FF2B5EF4-FFF2-40B4-BE49-F238E27FC236}">
                <a16:creationId xmlns:a16="http://schemas.microsoft.com/office/drawing/2014/main" id="{CC3D4EFD-F9AF-4231-89CF-74A9A513E0C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9" name="Rectangle 18" title="right edge border">
            <a:extLst>
              <a:ext uri="{FF2B5EF4-FFF2-40B4-BE49-F238E27FC236}">
                <a16:creationId xmlns:a16="http://schemas.microsoft.com/office/drawing/2014/main" id="{6E85F1C8-2D37-4E74-9173-14198641E44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8EBCC4-0109-DA41-9767-572E5A74C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324" y="1306745"/>
            <a:ext cx="4448243" cy="1757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589084-B070-AB45-A560-B89839E41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435" y="1278944"/>
            <a:ext cx="4448242" cy="18126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6D02C8-B44C-784E-8B11-B8F4E4E8FA0C}"/>
              </a:ext>
            </a:extLst>
          </p:cNvPr>
          <p:cNvSpPr txBox="1"/>
          <p:nvPr/>
        </p:nvSpPr>
        <p:spPr>
          <a:xfrm>
            <a:off x="1452401" y="1280169"/>
            <a:ext cx="925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Arial Rounded MT Bold" panose="020F0704030504030204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028901" y="3441594"/>
            <a:ext cx="10134198" cy="1857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7200" cap="all" spc="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7200" cap="all" spc="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가지 방식</a:t>
            </a:r>
            <a:r>
              <a:rPr lang="en-US" sz="7200" cap="all" spc="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451591-ECA0-5D43-A744-6F54EF05CB2B}"/>
              </a:ext>
            </a:extLst>
          </p:cNvPr>
          <p:cNvSpPr txBox="1"/>
          <p:nvPr/>
        </p:nvSpPr>
        <p:spPr>
          <a:xfrm>
            <a:off x="1632656" y="4729806"/>
            <a:ext cx="9252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Arial Rounded MT Bold" panose="020F0704030504030204" pitchFamily="34" charset="77"/>
              </a:rPr>
              <a:t>256</a:t>
            </a:r>
            <a:r>
              <a:rPr lang="ko-KR" altLang="en-US" sz="2400" dirty="0">
                <a:latin typeface="Arial Rounded MT Bold" panose="020F0704030504030204" pitchFamily="34" charset="77"/>
              </a:rPr>
              <a:t>까지는 </a:t>
            </a:r>
            <a:r>
              <a:rPr lang="en-US" altLang="ko-KR" sz="2400" dirty="0">
                <a:latin typeface="Arial Rounded MT Bold" panose="020F0704030504030204" pitchFamily="34" charset="77"/>
              </a:rPr>
              <a:t>id </a:t>
            </a:r>
            <a:r>
              <a:rPr lang="ko-KR" altLang="en-US" sz="2400" dirty="0">
                <a:latin typeface="Arial Rounded MT Bold" panose="020F0704030504030204" pitchFamily="34" charset="77"/>
              </a:rPr>
              <a:t>값이 같고</a:t>
            </a:r>
            <a:r>
              <a:rPr lang="en-US" altLang="ko-KR" sz="2400" dirty="0">
                <a:latin typeface="Arial Rounded MT Bold" panose="020F0704030504030204" pitchFamily="34" charset="77"/>
              </a:rPr>
              <a:t>,</a:t>
            </a:r>
            <a:r>
              <a:rPr lang="ko-KR" altLang="en-US" sz="2400" dirty="0">
                <a:latin typeface="Arial Rounded MT Bold" panose="020F0704030504030204" pitchFamily="34" charset="77"/>
              </a:rPr>
              <a:t> </a:t>
            </a:r>
            <a:r>
              <a:rPr lang="en-US" altLang="ko-KR" sz="2400" dirty="0">
                <a:latin typeface="Arial Rounded MT Bold" panose="020F0704030504030204" pitchFamily="34" charset="77"/>
              </a:rPr>
              <a:t>257</a:t>
            </a:r>
            <a:r>
              <a:rPr lang="ko-KR" altLang="en-US" sz="2400" dirty="0">
                <a:latin typeface="Arial Rounded MT Bold" panose="020F0704030504030204" pitchFamily="34" charset="77"/>
              </a:rPr>
              <a:t> </a:t>
            </a:r>
            <a:r>
              <a:rPr lang="ko-KR" altLang="en-US" sz="2400" dirty="0" err="1">
                <a:latin typeface="Arial Rounded MT Bold" panose="020F0704030504030204" pitchFamily="34" charset="77"/>
              </a:rPr>
              <a:t>부터는</a:t>
            </a:r>
            <a:r>
              <a:rPr lang="ko-KR" altLang="en-US" sz="2400" dirty="0">
                <a:latin typeface="Arial Rounded MT Bold" panose="020F0704030504030204" pitchFamily="34" charset="77"/>
              </a:rPr>
              <a:t> 서로 다른 객체가 생성된다</a:t>
            </a:r>
            <a:endParaRPr lang="en-US" altLang="ko-KR" sz="2400" dirty="0">
              <a:latin typeface="Arial Rounded MT Bold" panose="020F0704030504030204" pitchFamily="34" charset="77"/>
            </a:endParaRPr>
          </a:p>
          <a:p>
            <a:endParaRPr lang="en-US" altLang="ko-KR" sz="2400" dirty="0">
              <a:latin typeface="Arial Rounded MT Bold" panose="020F0704030504030204" pitchFamily="34" charset="77"/>
            </a:endParaRPr>
          </a:p>
          <a:p>
            <a:r>
              <a:rPr lang="en-US" altLang="ko-KR" sz="2400" dirty="0">
                <a:latin typeface="Arial Rounded MT Bold" panose="020F0704030504030204" pitchFamily="34" charset="77"/>
              </a:rPr>
              <a:t>-&gt;</a:t>
            </a:r>
            <a:r>
              <a:rPr lang="ko-KR" altLang="en-US" sz="2400" dirty="0">
                <a:latin typeface="Arial Rounded MT Bold" panose="020F0704030504030204" pitchFamily="34" charset="77"/>
              </a:rPr>
              <a:t> 자주 사용하는 </a:t>
            </a:r>
            <a:r>
              <a:rPr lang="en-US" altLang="ko-KR" sz="2400" dirty="0">
                <a:latin typeface="Arial Rounded MT Bold" panose="020F0704030504030204" pitchFamily="34" charset="77"/>
              </a:rPr>
              <a:t>Integer</a:t>
            </a:r>
            <a:r>
              <a:rPr lang="ko-KR" altLang="en-US" sz="2400" dirty="0">
                <a:latin typeface="Arial Rounded MT Bold" panose="020F0704030504030204" pitchFamily="34" charset="77"/>
              </a:rPr>
              <a:t> 범위는 메모리에 한 번만 올려놓아서 여러 변수가 가리키게 해 메모리를 효과적으로 사용한다</a:t>
            </a:r>
            <a:r>
              <a:rPr lang="en-US" altLang="ko-KR" sz="2400" dirty="0">
                <a:latin typeface="Arial Rounded MT Bold" panose="020F0704030504030204" pitchFamily="34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2493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latin typeface="Arial Rounded MT Bold" panose="020F0704030504030204" pitchFamily="34" charset="77"/>
              </a:rPr>
              <a:t>문자열 </a:t>
            </a:r>
            <a:r>
              <a:rPr lang="en-US" altLang="ko-KR" sz="5400" dirty="0">
                <a:latin typeface="Arial Rounded MT Bold" panose="020F0704030504030204" pitchFamily="34" charset="77"/>
              </a:rPr>
              <a:t>indexing / slicing</a:t>
            </a:r>
            <a:r>
              <a:rPr lang="en-US" sz="5400" dirty="0">
                <a:latin typeface="Arial Rounded MT Bold" panose="020F0704030504030204" pitchFamily="34" charset="77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C804C-8A66-AB45-99C8-C2E607B9A28A}"/>
              </a:ext>
            </a:extLst>
          </p:cNvPr>
          <p:cNvSpPr txBox="1"/>
          <p:nvPr/>
        </p:nvSpPr>
        <p:spPr>
          <a:xfrm>
            <a:off x="1430099" y="1570100"/>
            <a:ext cx="925277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 Rounded MT Bold" panose="020F0704030504030204" pitchFamily="34" charset="77"/>
              </a:rPr>
              <a:t>mystring</a:t>
            </a:r>
            <a:r>
              <a:rPr lang="en-US" sz="2400" dirty="0">
                <a:latin typeface="Arial Rounded MT Bold" panose="020F0704030504030204" pitchFamily="34" charset="77"/>
              </a:rPr>
              <a:t> = ‘hello world’</a:t>
            </a:r>
          </a:p>
          <a:p>
            <a:r>
              <a:rPr lang="en-US" sz="2400" dirty="0" err="1">
                <a:latin typeface="Arial Rounded MT Bold" panose="020F0704030504030204" pitchFamily="34" charset="77"/>
              </a:rPr>
              <a:t>len</a:t>
            </a:r>
            <a:r>
              <a:rPr lang="en-US" sz="2400" dirty="0">
                <a:latin typeface="Arial Rounded MT Bold" panose="020F0704030504030204" pitchFamily="34" charset="77"/>
              </a:rPr>
              <a:t>(</a:t>
            </a:r>
            <a:r>
              <a:rPr lang="en-US" sz="2400" dirty="0" err="1">
                <a:latin typeface="Arial Rounded MT Bold" panose="020F0704030504030204" pitchFamily="34" charset="77"/>
              </a:rPr>
              <a:t>mystring</a:t>
            </a:r>
            <a:r>
              <a:rPr lang="en-US" sz="2400" dirty="0">
                <a:latin typeface="Arial Rounded MT Bold" panose="020F0704030504030204" pitchFamily="34" charset="77"/>
              </a:rPr>
              <a:t>)</a:t>
            </a:r>
          </a:p>
          <a:p>
            <a:endParaRPr lang="en-US" sz="2400" dirty="0">
              <a:latin typeface="Arial Rounded MT Bold" panose="020F0704030504030204" pitchFamily="34" charset="77"/>
            </a:endParaRPr>
          </a:p>
          <a:p>
            <a:r>
              <a:rPr lang="en-US" sz="2400" dirty="0">
                <a:latin typeface="Arial Rounded MT Bold" panose="020F0704030504030204" pitchFamily="34" charset="77"/>
              </a:rPr>
              <a:t>0</a:t>
            </a:r>
            <a:r>
              <a:rPr lang="ko-KR" altLang="en-US" sz="2400" dirty="0" err="1">
                <a:latin typeface="Arial Rounded MT Bold" panose="020F0704030504030204" pitchFamily="34" charset="77"/>
              </a:rPr>
              <a:t>부터</a:t>
            </a:r>
            <a:r>
              <a:rPr lang="ko-KR" altLang="en-US" sz="2400" dirty="0">
                <a:latin typeface="Arial Rounded MT Bold" panose="020F0704030504030204" pitchFamily="34" charset="77"/>
              </a:rPr>
              <a:t> 시작하고 띄어쓰기도 길이에 들어간다</a:t>
            </a:r>
            <a:r>
              <a:rPr lang="en-US" altLang="ko-KR" sz="2400" dirty="0">
                <a:latin typeface="Arial Rounded MT Bold" panose="020F0704030504030204" pitchFamily="34" charset="77"/>
              </a:rPr>
              <a:t>.</a:t>
            </a:r>
          </a:p>
          <a:p>
            <a:endParaRPr lang="en-US" sz="2400" dirty="0">
              <a:latin typeface="Arial Rounded MT Bold" panose="020F0704030504030204" pitchFamily="34" charset="77"/>
            </a:endParaRPr>
          </a:p>
          <a:p>
            <a:r>
              <a:rPr lang="en-US" sz="2400" dirty="0">
                <a:latin typeface="Arial Rounded MT Bold" panose="020F0704030504030204" pitchFamily="34" charset="77"/>
              </a:rPr>
              <a:t>slicing</a:t>
            </a:r>
          </a:p>
          <a:p>
            <a:r>
              <a:rPr lang="en-US" altLang="ko-KR" sz="2400" dirty="0" err="1">
                <a:latin typeface="Arial Rounded MT Bold" panose="020F0704030504030204" pitchFamily="34" charset="77"/>
              </a:rPr>
              <a:t>mystring</a:t>
            </a:r>
            <a:r>
              <a:rPr lang="en-US" altLang="ko-KR" sz="2400" dirty="0">
                <a:latin typeface="Arial Rounded MT Bold" panose="020F0704030504030204" pitchFamily="34" charset="77"/>
              </a:rPr>
              <a:t>[0:5]</a:t>
            </a:r>
          </a:p>
          <a:p>
            <a:r>
              <a:rPr lang="en-US" altLang="ko-KR" sz="2400" dirty="0" err="1">
                <a:latin typeface="Arial Rounded MT Bold" panose="020F0704030504030204" pitchFamily="34" charset="77"/>
              </a:rPr>
              <a:t>mystring</a:t>
            </a:r>
            <a:r>
              <a:rPr lang="en-US" altLang="ko-KR" sz="2400" dirty="0">
                <a:latin typeface="Arial Rounded MT Bold" panose="020F0704030504030204" pitchFamily="34" charset="77"/>
              </a:rPr>
              <a:t>[6:11]</a:t>
            </a:r>
          </a:p>
          <a:p>
            <a:endParaRPr lang="en-US" sz="2400" dirty="0">
              <a:latin typeface="Arial Rounded MT Bold" panose="020F0704030504030204" pitchFamily="34" charset="77"/>
            </a:endParaRPr>
          </a:p>
          <a:p>
            <a:r>
              <a:rPr lang="ko-KR" altLang="en-US" sz="2400" dirty="0" err="1">
                <a:latin typeface="Arial Rounded MT Bold" panose="020F0704030504030204" pitchFamily="34" charset="77"/>
              </a:rPr>
              <a:t>파이썬에서</a:t>
            </a:r>
            <a:r>
              <a:rPr lang="ko-KR" altLang="en-US" sz="2400" dirty="0">
                <a:latin typeface="Arial Rounded MT Bold" panose="020F0704030504030204" pitchFamily="34" charset="77"/>
              </a:rPr>
              <a:t> </a:t>
            </a:r>
            <a:r>
              <a:rPr lang="ko-KR" altLang="en-US" sz="2400" dirty="0" err="1">
                <a:latin typeface="Arial Rounded MT Bold" panose="020F0704030504030204" pitchFamily="34" charset="77"/>
              </a:rPr>
              <a:t>슬라이싱을</a:t>
            </a:r>
            <a:r>
              <a:rPr lang="ko-KR" altLang="en-US" sz="2400" dirty="0">
                <a:latin typeface="Arial Rounded MT Bold" panose="020F0704030504030204" pitchFamily="34" charset="77"/>
              </a:rPr>
              <a:t> 할 때 </a:t>
            </a:r>
            <a:r>
              <a:rPr lang="ko-KR" altLang="en-US" sz="2400" dirty="0" err="1">
                <a:latin typeface="Arial Rounded MT Bold" panose="020F0704030504030204" pitchFamily="34" charset="77"/>
              </a:rPr>
              <a:t>시작값</a:t>
            </a:r>
            <a:r>
              <a:rPr lang="ko-KR" altLang="en-US" sz="2400" dirty="0">
                <a:latin typeface="Arial Rounded MT Bold" panose="020F0704030504030204" pitchFamily="34" charset="77"/>
              </a:rPr>
              <a:t> 이나 </a:t>
            </a:r>
            <a:r>
              <a:rPr lang="ko-KR" altLang="en-US" sz="2400" dirty="0" err="1">
                <a:latin typeface="Arial Rounded MT Bold" panose="020F0704030504030204" pitchFamily="34" charset="77"/>
              </a:rPr>
              <a:t>끝값을</a:t>
            </a:r>
            <a:r>
              <a:rPr lang="ko-KR" altLang="en-US" sz="2400" dirty="0">
                <a:latin typeface="Arial Rounded MT Bold" panose="020F0704030504030204" pitchFamily="34" charset="77"/>
              </a:rPr>
              <a:t> 생략하면 해당 문자열의 시작과 끝을 의미한다</a:t>
            </a:r>
            <a:r>
              <a:rPr lang="en-US" altLang="ko-KR" sz="2400" dirty="0">
                <a:latin typeface="Arial Rounded MT Bold" panose="020F0704030504030204" pitchFamily="34" charset="77"/>
              </a:rPr>
              <a:t>.</a:t>
            </a:r>
          </a:p>
          <a:p>
            <a:r>
              <a:rPr lang="en-US" altLang="ko-KR" sz="2400" dirty="0" err="1">
                <a:latin typeface="Arial Rounded MT Bold" panose="020F0704030504030204" pitchFamily="34" charset="77"/>
              </a:rPr>
              <a:t>mystring</a:t>
            </a:r>
            <a:r>
              <a:rPr lang="en-US" altLang="ko-KR" sz="2400" dirty="0">
                <a:latin typeface="Arial Rounded MT Bold" panose="020F0704030504030204" pitchFamily="34" charset="77"/>
              </a:rPr>
              <a:t>[6:11]</a:t>
            </a:r>
            <a:r>
              <a:rPr lang="ko-KR" altLang="en-US" sz="2400" dirty="0">
                <a:latin typeface="Arial Rounded MT Bold" panose="020F0704030504030204" pitchFamily="34" charset="77"/>
              </a:rPr>
              <a:t> 과 </a:t>
            </a:r>
            <a:r>
              <a:rPr lang="en-US" altLang="ko-KR" sz="2400" dirty="0" err="1">
                <a:latin typeface="Arial Rounded MT Bold" panose="020F0704030504030204" pitchFamily="34" charset="77"/>
              </a:rPr>
              <a:t>mystring</a:t>
            </a:r>
            <a:r>
              <a:rPr lang="en-US" altLang="ko-KR" sz="2400" dirty="0">
                <a:latin typeface="Arial Rounded MT Bold" panose="020F0704030504030204" pitchFamily="34" charset="77"/>
              </a:rPr>
              <a:t>[6:]</a:t>
            </a:r>
            <a:r>
              <a:rPr lang="ko-KR" altLang="en-US" sz="2400" dirty="0">
                <a:latin typeface="Arial Rounded MT Bold" panose="020F0704030504030204" pitchFamily="34" charset="77"/>
              </a:rPr>
              <a:t>이 같다</a:t>
            </a:r>
            <a:r>
              <a:rPr lang="en-US" altLang="ko-KR" sz="2400" dirty="0">
                <a:latin typeface="Arial Rounded MT Bold" panose="020F0704030504030204" pitchFamily="34" charset="77"/>
              </a:rPr>
              <a:t>.</a:t>
            </a:r>
            <a:endParaRPr lang="en-US" sz="2400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52899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latin typeface="Arial Rounded MT Bold" panose="020F0704030504030204" pitchFamily="34" charset="77"/>
              </a:rPr>
              <a:t>문자열 </a:t>
            </a:r>
            <a:r>
              <a:rPr lang="en-US" altLang="ko-KR" sz="5400" dirty="0">
                <a:latin typeface="Arial Rounded MT Bold" panose="020F0704030504030204" pitchFamily="34" charset="77"/>
              </a:rPr>
              <a:t>split</a:t>
            </a:r>
            <a:r>
              <a:rPr lang="en-US" sz="5400" dirty="0">
                <a:latin typeface="Arial Rounded MT Bold" panose="020F0704030504030204" pitchFamily="34" charset="77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B53F0-3686-CD45-9ECF-CEF11DEB5958}"/>
              </a:ext>
            </a:extLst>
          </p:cNvPr>
          <p:cNvSpPr txBox="1"/>
          <p:nvPr/>
        </p:nvSpPr>
        <p:spPr>
          <a:xfrm>
            <a:off x="1452401" y="1280169"/>
            <a:ext cx="1005565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 Rounded MT Bold" panose="020F0704030504030204" pitchFamily="34" charset="77"/>
              </a:rPr>
              <a:t>my_jusik</a:t>
            </a:r>
            <a:r>
              <a:rPr lang="en-US" sz="2800" dirty="0">
                <a:latin typeface="Arial Rounded MT Bold" panose="020F0704030504030204" pitchFamily="34" charset="77"/>
              </a:rPr>
              <a:t> = ‘</a:t>
            </a:r>
            <a:r>
              <a:rPr lang="en-US" sz="2800" dirty="0" err="1">
                <a:latin typeface="Arial Rounded MT Bold" panose="020F0704030504030204" pitchFamily="34" charset="77"/>
              </a:rPr>
              <a:t>naver</a:t>
            </a:r>
            <a:r>
              <a:rPr lang="en-US" sz="2800" dirty="0">
                <a:latin typeface="Arial Rounded MT Bold" panose="020F0704030504030204" pitchFamily="34" charset="77"/>
              </a:rPr>
              <a:t> </a:t>
            </a:r>
            <a:r>
              <a:rPr lang="en-US" sz="2800" dirty="0" err="1">
                <a:latin typeface="Arial Rounded MT Bold" panose="020F0704030504030204" pitchFamily="34" charset="77"/>
              </a:rPr>
              <a:t>daum</a:t>
            </a:r>
            <a:r>
              <a:rPr lang="en-US" sz="2800" dirty="0">
                <a:latin typeface="Arial Rounded MT Bold" panose="020F0704030504030204" pitchFamily="34" charset="77"/>
              </a:rPr>
              <a:t>’</a:t>
            </a:r>
            <a:r>
              <a:rPr lang="ko-KR" altLang="en-US" sz="2800" dirty="0">
                <a:latin typeface="Arial Rounded MT Bold" panose="020F0704030504030204" pitchFamily="34" charset="77"/>
              </a:rPr>
              <a:t> </a:t>
            </a:r>
            <a:r>
              <a:rPr lang="en-US" altLang="ko-KR" dirty="0">
                <a:latin typeface="Arial Rounded MT Bold" panose="020F0704030504030204" pitchFamily="34" charset="77"/>
              </a:rPr>
              <a:t>#split</a:t>
            </a:r>
            <a:r>
              <a:rPr lang="ko-KR" altLang="en-US" dirty="0">
                <a:latin typeface="Arial Rounded MT Bold" panose="020F0704030504030204" pitchFamily="34" charset="77"/>
              </a:rPr>
              <a:t>은 </a:t>
            </a:r>
            <a:r>
              <a:rPr lang="ko-KR" altLang="en-US" dirty="0" err="1">
                <a:latin typeface="Arial Rounded MT Bold" panose="020F0704030504030204" pitchFamily="34" charset="77"/>
              </a:rPr>
              <a:t>파이썬에서</a:t>
            </a:r>
            <a:r>
              <a:rPr lang="ko-KR" altLang="en-US" dirty="0">
                <a:latin typeface="Arial Rounded MT Bold" panose="020F0704030504030204" pitchFamily="34" charset="77"/>
              </a:rPr>
              <a:t> 문자열을 분리하고 싶을 때 사용</a:t>
            </a:r>
            <a:endParaRPr lang="en-US" sz="2800" dirty="0">
              <a:latin typeface="Arial Rounded MT Bold" panose="020F0704030504030204" pitchFamily="34" charset="77"/>
            </a:endParaRPr>
          </a:p>
          <a:p>
            <a:r>
              <a:rPr lang="en-US" sz="2800" dirty="0" err="1">
                <a:latin typeface="Arial Rounded MT Bold" panose="020F0704030504030204" pitchFamily="34" charset="77"/>
              </a:rPr>
              <a:t>my_jusik</a:t>
            </a:r>
            <a:endParaRPr lang="en-US" sz="2800" dirty="0">
              <a:latin typeface="Arial Rounded MT Bold" panose="020F0704030504030204" pitchFamily="34" charset="77"/>
            </a:endParaRP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r>
              <a:rPr lang="en-US" sz="2800" dirty="0" err="1">
                <a:latin typeface="Arial Rounded MT Bold" panose="020F0704030504030204" pitchFamily="34" charset="77"/>
              </a:rPr>
              <a:t>my_jusik.split</a:t>
            </a:r>
            <a:r>
              <a:rPr lang="en-US" sz="2800" dirty="0">
                <a:latin typeface="Arial Rounded MT Bold" panose="020F0704030504030204" pitchFamily="34" charset="77"/>
              </a:rPr>
              <a:t>(‘ ’)</a:t>
            </a:r>
            <a:r>
              <a:rPr lang="ko-KR" altLang="en-US" sz="2800" dirty="0">
                <a:latin typeface="Arial Rounded MT Bold" panose="020F0704030504030204" pitchFamily="34" charset="77"/>
              </a:rPr>
              <a:t>  </a:t>
            </a:r>
            <a:r>
              <a:rPr lang="en-US" altLang="ko-KR" sz="2800" dirty="0">
                <a:latin typeface="Arial Rounded MT Bold" panose="020F0704030504030204" pitchFamily="34" charset="77"/>
              </a:rPr>
              <a:t>#</a:t>
            </a:r>
            <a:r>
              <a:rPr lang="ko-KR" altLang="en-US" sz="2800" dirty="0">
                <a:latin typeface="Arial Rounded MT Bold" panose="020F0704030504030204" pitchFamily="34" charset="77"/>
              </a:rPr>
              <a:t> </a:t>
            </a:r>
            <a:r>
              <a:rPr lang="en-US" altLang="ko-KR" sz="2800" dirty="0">
                <a:latin typeface="Arial Rounded MT Bold" panose="020F0704030504030204" pitchFamily="34" charset="77"/>
              </a:rPr>
              <a:t>‘’</a:t>
            </a:r>
            <a:r>
              <a:rPr lang="ko-KR" altLang="en-US" sz="2800" dirty="0">
                <a:latin typeface="Arial Rounded MT Bold" panose="020F0704030504030204" pitchFamily="34" charset="77"/>
              </a:rPr>
              <a:t>사이에 공백</a:t>
            </a:r>
            <a:r>
              <a:rPr lang="en-US" altLang="ko-KR" sz="2800" dirty="0">
                <a:latin typeface="Arial Rounded MT Bold" panose="020F0704030504030204" pitchFamily="34" charset="77"/>
              </a:rPr>
              <a:t>(blank) </a:t>
            </a:r>
            <a:r>
              <a:rPr lang="ko-KR" altLang="en-US" sz="2800" dirty="0">
                <a:latin typeface="Arial Rounded MT Bold" panose="020F0704030504030204" pitchFamily="34" charset="77"/>
              </a:rPr>
              <a:t>넣은 것은 공백을 기준으로 문자열을 나누겠다는 뜻이다</a:t>
            </a:r>
            <a:r>
              <a:rPr lang="en-US" altLang="ko-KR" sz="2800" dirty="0">
                <a:latin typeface="Arial Rounded MT Bold" panose="020F0704030504030204" pitchFamily="34" charset="77"/>
              </a:rPr>
              <a:t>.</a:t>
            </a:r>
            <a:endParaRPr lang="en-US" sz="2800" dirty="0">
              <a:latin typeface="Arial Rounded MT Bold" panose="020F0704030504030204" pitchFamily="34" charset="77"/>
            </a:endParaRP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endParaRPr lang="en-US" sz="2800" dirty="0">
              <a:latin typeface="Arial Rounded MT Bold" panose="020F0704030504030204" pitchFamily="34" charset="77"/>
            </a:endParaRPr>
          </a:p>
          <a:p>
            <a:r>
              <a:rPr lang="en-US" sz="2800" dirty="0">
                <a:latin typeface="Arial Rounded MT Bold" panose="020F0704030504030204" pitchFamily="34" charset="77"/>
              </a:rPr>
              <a:t>split</a:t>
            </a:r>
            <a:r>
              <a:rPr lang="ko-KR" altLang="en-US" sz="2800" dirty="0">
                <a:latin typeface="Arial Rounded MT Bold" panose="020F0704030504030204" pitchFamily="34" charset="77"/>
              </a:rPr>
              <a:t>은 문자열을 </a:t>
            </a:r>
            <a:r>
              <a:rPr lang="en-US" altLang="ko-KR" sz="2800" dirty="0">
                <a:latin typeface="Arial Rounded MT Bold" panose="020F0704030504030204" pitchFamily="34" charset="77"/>
              </a:rPr>
              <a:t>list</a:t>
            </a:r>
            <a:r>
              <a:rPr lang="ko-KR" altLang="en-US" sz="2800" dirty="0">
                <a:latin typeface="Arial Rounded MT Bold" panose="020F0704030504030204" pitchFamily="34" charset="77"/>
              </a:rPr>
              <a:t>로 만든다</a:t>
            </a:r>
            <a:r>
              <a:rPr lang="en-US" altLang="ko-KR" sz="2800" dirty="0">
                <a:latin typeface="Arial Rounded MT Bold" panose="020F0704030504030204" pitchFamily="34" charset="77"/>
              </a:rPr>
              <a:t>.</a:t>
            </a:r>
          </a:p>
          <a:p>
            <a:r>
              <a:rPr lang="en-US" sz="2800" dirty="0">
                <a:latin typeface="Arial Rounded MT Bold" panose="020F0704030504030204" pitchFamily="34" charset="77"/>
              </a:rPr>
              <a:t> </a:t>
            </a:r>
          </a:p>
          <a:p>
            <a:endParaRPr lang="en-US" sz="2800" dirty="0">
              <a:latin typeface="Arial Rounded MT Bold" panose="020F0704030504030204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BAB4B-91BE-024B-AB4D-2748D412D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01" y="3485478"/>
            <a:ext cx="5436257" cy="1714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9A3FCD-EA73-1744-A14A-C2FD51C78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07" y="3948845"/>
            <a:ext cx="44323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68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6C57B3-5027-D24C-9FB5-F4EEFD700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786" y="4481565"/>
            <a:ext cx="5176744" cy="2174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76BC4F-D62B-0C4D-B78F-42BDA0FFF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786" y="1908564"/>
            <a:ext cx="5176744" cy="21742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1B53F0-3686-CD45-9ECF-CEF11DEB5958}"/>
              </a:ext>
            </a:extLst>
          </p:cNvPr>
          <p:cNvSpPr txBox="1"/>
          <p:nvPr/>
        </p:nvSpPr>
        <p:spPr>
          <a:xfrm>
            <a:off x="1452401" y="1280169"/>
            <a:ext cx="925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Arial Rounded MT Bold" panose="020F0704030504030204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7" y="645105"/>
            <a:ext cx="6018918" cy="132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cap="all" spc="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[]</a:t>
            </a:r>
            <a:r>
              <a:rPr lang="ko-KR" altLang="en-US" sz="4400" cap="all" spc="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로 쌓인 </a:t>
            </a:r>
            <a:r>
              <a:rPr lang="ko-KR" altLang="en-US" sz="4400" cap="all" spc="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자료형</a:t>
            </a:r>
            <a:r>
              <a:rPr lang="en-US" altLang="ko-KR" sz="4400" cap="all" spc="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list</a:t>
            </a:r>
            <a:endParaRPr lang="en-US" sz="4400" cap="all" spc="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32E93D-1D40-4F4B-8A55-B91ECD7E0328}"/>
              </a:ext>
            </a:extLst>
          </p:cNvPr>
          <p:cNvSpPr txBox="1"/>
          <p:nvPr/>
        </p:nvSpPr>
        <p:spPr>
          <a:xfrm>
            <a:off x="1251678" y="2286001"/>
            <a:ext cx="4546956" cy="35935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앞에서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split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한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list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자료의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indexing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은 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naver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가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0, 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daum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naver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만 부르고 싶을 때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print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는 함수다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‘’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있고 없고 차이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endParaRPr lang="en-US" altLang="ko-KR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</a:pP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731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latin typeface="Arial Rounded MT Bold" panose="020F0704030504030204" pitchFamily="34" charset="77"/>
              </a:rPr>
              <a:t>문자열 합치기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B53F0-3686-CD45-9ECF-CEF11DEB5958}"/>
              </a:ext>
            </a:extLst>
          </p:cNvPr>
          <p:cNvSpPr txBox="1"/>
          <p:nvPr/>
        </p:nvSpPr>
        <p:spPr>
          <a:xfrm>
            <a:off x="1452401" y="1280169"/>
            <a:ext cx="925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BDDC23-20BB-6643-8F24-1C71F315F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00" y="1859892"/>
            <a:ext cx="4731557" cy="1262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033252-84C0-CF49-907D-B29DD40AA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401" y="3645984"/>
            <a:ext cx="5823390" cy="110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675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 err="1">
                <a:latin typeface="Arial Rounded MT Bold" panose="020F0704030504030204" pitchFamily="34" charset="77"/>
              </a:rPr>
              <a:t>슬라이싱</a:t>
            </a:r>
            <a:r>
              <a:rPr lang="ko-KR" altLang="en-US" sz="5400" dirty="0">
                <a:latin typeface="Arial Rounded MT Bold" panose="020F0704030504030204" pitchFamily="34" charset="77"/>
              </a:rPr>
              <a:t> 왜 쓸까</a:t>
            </a:r>
            <a:r>
              <a:rPr lang="en-US" altLang="ko-KR" sz="5400" dirty="0">
                <a:latin typeface="Arial Rounded MT Bold" panose="020F0704030504030204" pitchFamily="34" charset="77"/>
              </a:rPr>
              <a:t>?</a:t>
            </a:r>
            <a:r>
              <a:rPr lang="en-US" sz="5400" dirty="0">
                <a:latin typeface="Arial Rounded MT Bold" panose="020F0704030504030204" pitchFamily="34" charset="77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B53F0-3686-CD45-9ECF-CEF11DEB5958}"/>
              </a:ext>
            </a:extLst>
          </p:cNvPr>
          <p:cNvSpPr txBox="1"/>
          <p:nvPr/>
        </p:nvSpPr>
        <p:spPr>
          <a:xfrm>
            <a:off x="1430098" y="1703916"/>
            <a:ext cx="92527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77"/>
              </a:rPr>
              <a:t>[] (</a:t>
            </a:r>
            <a:r>
              <a:rPr lang="ko-KR" altLang="en-US" sz="2800" dirty="0">
                <a:latin typeface="Arial Rounded MT Bold" panose="020F0704030504030204" pitchFamily="34" charset="77"/>
              </a:rPr>
              <a:t>리스트</a:t>
            </a:r>
            <a:r>
              <a:rPr lang="en-US" altLang="ko-KR" sz="2800" dirty="0">
                <a:latin typeface="Arial Rounded MT Bold" panose="020F0704030504030204" pitchFamily="34" charset="77"/>
              </a:rPr>
              <a:t>)</a:t>
            </a:r>
            <a:r>
              <a:rPr lang="ko-KR" altLang="en-US" sz="2800" dirty="0" err="1">
                <a:latin typeface="Arial Rounded MT Bold" panose="020F0704030504030204" pitchFamily="34" charset="77"/>
              </a:rPr>
              <a:t>를</a:t>
            </a:r>
            <a:r>
              <a:rPr lang="ko-KR" altLang="en-US" sz="2800" dirty="0">
                <a:latin typeface="Arial Rounded MT Bold" panose="020F0704030504030204" pitchFamily="34" charset="77"/>
              </a:rPr>
              <a:t> 다룰 때 쓴다</a:t>
            </a:r>
            <a:r>
              <a:rPr lang="en-US" altLang="ko-KR" sz="2800" dirty="0">
                <a:latin typeface="Arial Rounded MT Bold" panose="020F0704030504030204" pitchFamily="34" charset="77"/>
              </a:rPr>
              <a:t>.</a:t>
            </a:r>
          </a:p>
          <a:p>
            <a:r>
              <a:rPr lang="ko-KR" altLang="en-US" sz="2800" dirty="0">
                <a:latin typeface="Arial Rounded MT Bold" panose="020F0704030504030204" pitchFamily="34" charset="77"/>
              </a:rPr>
              <a:t>슬라이스는 리스트를 자르는 것이다</a:t>
            </a:r>
            <a:r>
              <a:rPr lang="en-US" altLang="ko-KR" sz="2800" dirty="0">
                <a:latin typeface="Arial Rounded MT Bold" panose="020F0704030504030204" pitchFamily="34" charset="77"/>
              </a:rPr>
              <a:t>.</a:t>
            </a:r>
          </a:p>
          <a:p>
            <a:endParaRPr lang="en-US" altLang="ko-KR" sz="2800" dirty="0">
              <a:latin typeface="Arial Rounded MT Bold" panose="020F0704030504030204" pitchFamily="34" charset="77"/>
            </a:endParaRPr>
          </a:p>
          <a:p>
            <a:r>
              <a:rPr lang="en-US" altLang="ko-KR" sz="2800" dirty="0">
                <a:latin typeface="Arial Rounded MT Bold" panose="020F0704030504030204" pitchFamily="34" charset="77"/>
              </a:rPr>
              <a:t>csv</a:t>
            </a:r>
            <a:r>
              <a:rPr lang="ko-KR" altLang="en-US" sz="2800" dirty="0">
                <a:latin typeface="Arial Rounded MT Bold" panose="020F0704030504030204" pitchFamily="34" charset="77"/>
              </a:rPr>
              <a:t>파일 형태로 데이터 받은 것을 분석할 때</a:t>
            </a:r>
            <a:endParaRPr lang="en-US" altLang="ko-KR" sz="2800" dirty="0">
              <a:latin typeface="Arial Rounded MT Bold" panose="020F0704030504030204" pitchFamily="34" charset="77"/>
            </a:endParaRPr>
          </a:p>
          <a:p>
            <a:r>
              <a:rPr lang="ko-KR" altLang="en-US" sz="2800" dirty="0" err="1">
                <a:latin typeface="Arial Rounded MT Bold" panose="020F0704030504030204" pitchFamily="34" charset="77"/>
              </a:rPr>
              <a:t>몇번째</a:t>
            </a:r>
            <a:r>
              <a:rPr lang="ko-KR" altLang="en-US" sz="2800" dirty="0">
                <a:latin typeface="Arial Rounded MT Bold" panose="020F0704030504030204" pitchFamily="34" charset="77"/>
              </a:rPr>
              <a:t> </a:t>
            </a:r>
            <a:r>
              <a:rPr lang="ko-KR" altLang="en-US" sz="2800" dirty="0" err="1">
                <a:latin typeface="Arial Rounded MT Bold" panose="020F0704030504030204" pitchFamily="34" charset="77"/>
              </a:rPr>
              <a:t>부터</a:t>
            </a:r>
            <a:r>
              <a:rPr lang="ko-KR" altLang="en-US" sz="2800" dirty="0">
                <a:latin typeface="Arial Rounded MT Bold" panose="020F0704030504030204" pitchFamily="34" charset="77"/>
              </a:rPr>
              <a:t> 몇 번째까지 </a:t>
            </a:r>
            <a:r>
              <a:rPr lang="en-US" altLang="ko-KR" sz="2800" dirty="0">
                <a:latin typeface="Arial Rounded MT Bold" panose="020F0704030504030204" pitchFamily="34" charset="77"/>
              </a:rPr>
              <a:t>column</a:t>
            </a:r>
            <a:r>
              <a:rPr lang="ko-KR" altLang="en-US" sz="2800" dirty="0">
                <a:latin typeface="Arial Rounded MT Bold" panose="020F0704030504030204" pitchFamily="34" charset="77"/>
              </a:rPr>
              <a:t>만 가져와서 회귀분석 </a:t>
            </a:r>
            <a:r>
              <a:rPr lang="en-US" altLang="ko-KR" sz="2800" dirty="0">
                <a:latin typeface="Arial Rounded MT Bold" panose="020F0704030504030204" pitchFamily="34" charset="77"/>
              </a:rPr>
              <a:t>or</a:t>
            </a:r>
            <a:r>
              <a:rPr lang="ko-KR" altLang="en-US" sz="2800" dirty="0">
                <a:latin typeface="Arial Rounded MT Bold" panose="020F0704030504030204" pitchFamily="34" charset="77"/>
              </a:rPr>
              <a:t> 기타 분석들을 하고 싶을 때</a:t>
            </a:r>
            <a:endParaRPr lang="en-US" altLang="ko-KR" sz="2800" dirty="0">
              <a:latin typeface="Arial Rounded MT Bold" panose="020F0704030504030204" pitchFamily="34" charset="77"/>
            </a:endParaRPr>
          </a:p>
          <a:p>
            <a:endParaRPr lang="en-US" altLang="ko-KR" sz="2800" dirty="0">
              <a:latin typeface="Arial Rounded MT Bold" panose="020F0704030504030204" pitchFamily="34" charset="77"/>
            </a:endParaRPr>
          </a:p>
          <a:p>
            <a:r>
              <a:rPr lang="en-US" altLang="ko-KR" sz="2800" dirty="0">
                <a:latin typeface="Arial Rounded MT Bold" panose="020F0704030504030204" pitchFamily="34" charset="77"/>
              </a:rPr>
              <a:t>slice</a:t>
            </a:r>
            <a:r>
              <a:rPr lang="ko-KR" altLang="en-US" sz="2800" dirty="0" err="1">
                <a:latin typeface="Arial Rounded MT Bold" panose="020F0704030504030204" pitchFamily="34" charset="77"/>
              </a:rPr>
              <a:t>를</a:t>
            </a:r>
            <a:r>
              <a:rPr lang="ko-KR" altLang="en-US" sz="2800" dirty="0">
                <a:latin typeface="Arial Rounded MT Bold" panose="020F0704030504030204" pitchFamily="34" charset="77"/>
              </a:rPr>
              <a:t> 이용해서 원하는 것만 가져와서 쓸 수 있음 </a:t>
            </a:r>
            <a:endParaRPr lang="en-US" altLang="ko-KR" sz="2800" dirty="0">
              <a:latin typeface="Arial Rounded MT Bold" panose="020F0704030504030204" pitchFamily="34" charset="77"/>
            </a:endParaRPr>
          </a:p>
          <a:p>
            <a:endParaRPr lang="en-US" sz="2800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8359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scalloped circle">
            <a:extLst>
              <a:ext uri="{FF2B5EF4-FFF2-40B4-BE49-F238E27FC236}">
                <a16:creationId xmlns:a16="http://schemas.microsoft.com/office/drawing/2014/main" id="{B217C2AD-51B4-40CE-A71F-F5D3F846D97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 title="left edge border">
            <a:extLst>
              <a:ext uri="{FF2B5EF4-FFF2-40B4-BE49-F238E27FC236}">
                <a16:creationId xmlns:a16="http://schemas.microsoft.com/office/drawing/2014/main" id="{6F1BF92E-23CF-4BFE-9E1F-C359BACFA3C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DFEFC0-99B4-4D27-9168-1B2F659A34B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C20081-2005-4B05-BEA4-EB8D4C90A35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8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14CDC7-460D-4548-B057-B81FB2067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478" y="643467"/>
            <a:ext cx="7931043" cy="39258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1B53F0-3686-CD45-9ECF-CEF11DEB5958}"/>
              </a:ext>
            </a:extLst>
          </p:cNvPr>
          <p:cNvSpPr txBox="1"/>
          <p:nvPr/>
        </p:nvSpPr>
        <p:spPr>
          <a:xfrm>
            <a:off x="1452401" y="1280169"/>
            <a:ext cx="925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Arial Rounded MT Bold" panose="020F0704030504030204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078523" y="5449151"/>
            <a:ext cx="10318418" cy="523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2400" cap="all" spc="80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기본 데이터 타입</a:t>
            </a:r>
            <a:endParaRPr lang="en-US" sz="2400" cap="all" spc="800">
              <a:solidFill>
                <a:srgbClr val="2A1A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77198-016E-444F-ACE1-9E01378BC9D6}"/>
              </a:ext>
            </a:extLst>
          </p:cNvPr>
          <p:cNvSpPr txBox="1"/>
          <p:nvPr/>
        </p:nvSpPr>
        <p:spPr>
          <a:xfrm>
            <a:off x="7465963" y="4194781"/>
            <a:ext cx="348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float: </a:t>
            </a:r>
            <a:r>
              <a:rPr lang="ko-KR" altLang="en-US" dirty="0"/>
              <a:t>부동 소수점</a:t>
            </a:r>
            <a:r>
              <a:rPr lang="en-US" altLang="ko-KR" dirty="0"/>
              <a:t>(</a:t>
            </a:r>
            <a:r>
              <a:rPr lang="ko-KR" altLang="en-US" dirty="0"/>
              <a:t>실수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의미함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470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 err="1">
                <a:latin typeface="Arial Rounded MT Bold" panose="020F0704030504030204" pitchFamily="34" charset="77"/>
              </a:rPr>
              <a:t>자료형</a:t>
            </a:r>
            <a:r>
              <a:rPr lang="ko-KR" altLang="en-US" sz="5400" dirty="0">
                <a:latin typeface="Arial Rounded MT Bold" panose="020F0704030504030204" pitchFamily="34" charset="77"/>
              </a:rPr>
              <a:t> 개념</a:t>
            </a:r>
            <a:r>
              <a:rPr lang="en-US" sz="5400" dirty="0">
                <a:latin typeface="Arial Rounded MT Bold" panose="020F0704030504030204" pitchFamily="34" charset="77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B53F0-3686-CD45-9ECF-CEF11DEB5958}"/>
              </a:ext>
            </a:extLst>
          </p:cNvPr>
          <p:cNvSpPr txBox="1"/>
          <p:nvPr/>
        </p:nvSpPr>
        <p:spPr>
          <a:xfrm>
            <a:off x="1452401" y="1280169"/>
            <a:ext cx="925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523A6D-C297-BF4D-92D4-E62A47F96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541779"/>
            <a:ext cx="10127593" cy="414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12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scalloped circle">
            <a:extLst>
              <a:ext uri="{FF2B5EF4-FFF2-40B4-BE49-F238E27FC236}">
                <a16:creationId xmlns:a16="http://schemas.microsoft.com/office/drawing/2014/main" id="{B217C2AD-51B4-40CE-A71F-F5D3F846D97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 title="left edge border">
            <a:extLst>
              <a:ext uri="{FF2B5EF4-FFF2-40B4-BE49-F238E27FC236}">
                <a16:creationId xmlns:a16="http://schemas.microsoft.com/office/drawing/2014/main" id="{6F1BF92E-23CF-4BFE-9E1F-C359BACFA3C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EF8384-2545-4ACD-9071-49DD1CFC4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D585B8-45ED-1343-9619-2CB9BD50B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376" y="356839"/>
            <a:ext cx="6021658" cy="6333893"/>
          </a:xfrm>
          <a:prstGeom prst="rect">
            <a:avLst/>
          </a:prstGeom>
        </p:spPr>
      </p:pic>
      <p:sp>
        <p:nvSpPr>
          <p:cNvPr id="15" name="Freeform 22" title="right scallop background shape">
            <a:extLst>
              <a:ext uri="{FF2B5EF4-FFF2-40B4-BE49-F238E27FC236}">
                <a16:creationId xmlns:a16="http://schemas.microsoft.com/office/drawing/2014/main" id="{F77DB8FA-61A7-4DE7-A777-6D258D17248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4695443" cy="6858000"/>
          </a:xfrm>
          <a:custGeom>
            <a:avLst/>
            <a:gdLst>
              <a:gd name="connsiteX0" fmla="*/ 0 w 4992864"/>
              <a:gd name="connsiteY0" fmla="*/ 0 h 6858000"/>
              <a:gd name="connsiteX1" fmla="*/ 4813476 w 4992864"/>
              <a:gd name="connsiteY1" fmla="*/ 0 h 6858000"/>
              <a:gd name="connsiteX2" fmla="*/ 4818239 w 4992864"/>
              <a:gd name="connsiteY2" fmla="*/ 66675 h 6858000"/>
              <a:gd name="connsiteX3" fmla="*/ 4826176 w 4992864"/>
              <a:gd name="connsiteY3" fmla="*/ 122237 h 6858000"/>
              <a:gd name="connsiteX4" fmla="*/ 4835701 w 4992864"/>
              <a:gd name="connsiteY4" fmla="*/ 174625 h 6858000"/>
              <a:gd name="connsiteX5" fmla="*/ 4851576 w 4992864"/>
              <a:gd name="connsiteY5" fmla="*/ 217487 h 6858000"/>
              <a:gd name="connsiteX6" fmla="*/ 4867451 w 4992864"/>
              <a:gd name="connsiteY6" fmla="*/ 260350 h 6858000"/>
              <a:gd name="connsiteX7" fmla="*/ 4886501 w 4992864"/>
              <a:gd name="connsiteY7" fmla="*/ 296862 h 6858000"/>
              <a:gd name="connsiteX8" fmla="*/ 4905551 w 4992864"/>
              <a:gd name="connsiteY8" fmla="*/ 334962 h 6858000"/>
              <a:gd name="connsiteX9" fmla="*/ 4923014 w 4992864"/>
              <a:gd name="connsiteY9" fmla="*/ 369887 h 6858000"/>
              <a:gd name="connsiteX10" fmla="*/ 4940476 w 4992864"/>
              <a:gd name="connsiteY10" fmla="*/ 409575 h 6858000"/>
              <a:gd name="connsiteX11" fmla="*/ 4956351 w 4992864"/>
              <a:gd name="connsiteY11" fmla="*/ 450850 h 6858000"/>
              <a:gd name="connsiteX12" fmla="*/ 4970639 w 4992864"/>
              <a:gd name="connsiteY12" fmla="*/ 496887 h 6858000"/>
              <a:gd name="connsiteX13" fmla="*/ 4981751 w 4992864"/>
              <a:gd name="connsiteY13" fmla="*/ 546100 h 6858000"/>
              <a:gd name="connsiteX14" fmla="*/ 4989689 w 4992864"/>
              <a:gd name="connsiteY14" fmla="*/ 606425 h 6858000"/>
              <a:gd name="connsiteX15" fmla="*/ 4992864 w 4992864"/>
              <a:gd name="connsiteY15" fmla="*/ 673100 h 6858000"/>
              <a:gd name="connsiteX16" fmla="*/ 4989689 w 4992864"/>
              <a:gd name="connsiteY16" fmla="*/ 744537 h 6858000"/>
              <a:gd name="connsiteX17" fmla="*/ 4981751 w 4992864"/>
              <a:gd name="connsiteY17" fmla="*/ 801687 h 6858000"/>
              <a:gd name="connsiteX18" fmla="*/ 4970639 w 4992864"/>
              <a:gd name="connsiteY18" fmla="*/ 854075 h 6858000"/>
              <a:gd name="connsiteX19" fmla="*/ 4956351 w 4992864"/>
              <a:gd name="connsiteY19" fmla="*/ 901700 h 6858000"/>
              <a:gd name="connsiteX20" fmla="*/ 4940476 w 4992864"/>
              <a:gd name="connsiteY20" fmla="*/ 942975 h 6858000"/>
              <a:gd name="connsiteX21" fmla="*/ 4921426 w 4992864"/>
              <a:gd name="connsiteY21" fmla="*/ 981075 h 6858000"/>
              <a:gd name="connsiteX22" fmla="*/ 4902376 w 4992864"/>
              <a:gd name="connsiteY22" fmla="*/ 1017587 h 6858000"/>
              <a:gd name="connsiteX23" fmla="*/ 4883326 w 4992864"/>
              <a:gd name="connsiteY23" fmla="*/ 1055687 h 6858000"/>
              <a:gd name="connsiteX24" fmla="*/ 4865864 w 4992864"/>
              <a:gd name="connsiteY24" fmla="*/ 1095375 h 6858000"/>
              <a:gd name="connsiteX25" fmla="*/ 4848401 w 4992864"/>
              <a:gd name="connsiteY25" fmla="*/ 1136650 h 6858000"/>
              <a:gd name="connsiteX26" fmla="*/ 4834114 w 4992864"/>
              <a:gd name="connsiteY26" fmla="*/ 1182687 h 6858000"/>
              <a:gd name="connsiteX27" fmla="*/ 4824589 w 4992864"/>
              <a:gd name="connsiteY27" fmla="*/ 1235075 h 6858000"/>
              <a:gd name="connsiteX28" fmla="*/ 4815064 w 4992864"/>
              <a:gd name="connsiteY28" fmla="*/ 1295400 h 6858000"/>
              <a:gd name="connsiteX29" fmla="*/ 4813476 w 4992864"/>
              <a:gd name="connsiteY29" fmla="*/ 1363662 h 6858000"/>
              <a:gd name="connsiteX30" fmla="*/ 4815064 w 4992864"/>
              <a:gd name="connsiteY30" fmla="*/ 1431925 h 6858000"/>
              <a:gd name="connsiteX31" fmla="*/ 4824589 w 4992864"/>
              <a:gd name="connsiteY31" fmla="*/ 1492250 h 6858000"/>
              <a:gd name="connsiteX32" fmla="*/ 4834114 w 4992864"/>
              <a:gd name="connsiteY32" fmla="*/ 1544637 h 6858000"/>
              <a:gd name="connsiteX33" fmla="*/ 4848401 w 4992864"/>
              <a:gd name="connsiteY33" fmla="*/ 1589087 h 6858000"/>
              <a:gd name="connsiteX34" fmla="*/ 4865864 w 4992864"/>
              <a:gd name="connsiteY34" fmla="*/ 1631950 h 6858000"/>
              <a:gd name="connsiteX35" fmla="*/ 4883326 w 4992864"/>
              <a:gd name="connsiteY35" fmla="*/ 1671637 h 6858000"/>
              <a:gd name="connsiteX36" fmla="*/ 4902376 w 4992864"/>
              <a:gd name="connsiteY36" fmla="*/ 1708150 h 6858000"/>
              <a:gd name="connsiteX37" fmla="*/ 4921426 w 4992864"/>
              <a:gd name="connsiteY37" fmla="*/ 1743075 h 6858000"/>
              <a:gd name="connsiteX38" fmla="*/ 4940476 w 4992864"/>
              <a:gd name="connsiteY38" fmla="*/ 1782762 h 6858000"/>
              <a:gd name="connsiteX39" fmla="*/ 4956351 w 4992864"/>
              <a:gd name="connsiteY39" fmla="*/ 1824037 h 6858000"/>
              <a:gd name="connsiteX40" fmla="*/ 4970639 w 4992864"/>
              <a:gd name="connsiteY40" fmla="*/ 1870075 h 6858000"/>
              <a:gd name="connsiteX41" fmla="*/ 4981751 w 4992864"/>
              <a:gd name="connsiteY41" fmla="*/ 1922462 h 6858000"/>
              <a:gd name="connsiteX42" fmla="*/ 4989689 w 4992864"/>
              <a:gd name="connsiteY42" fmla="*/ 1982787 h 6858000"/>
              <a:gd name="connsiteX43" fmla="*/ 4992864 w 4992864"/>
              <a:gd name="connsiteY43" fmla="*/ 2051050 h 6858000"/>
              <a:gd name="connsiteX44" fmla="*/ 4989689 w 4992864"/>
              <a:gd name="connsiteY44" fmla="*/ 2119312 h 6858000"/>
              <a:gd name="connsiteX45" fmla="*/ 4981751 w 4992864"/>
              <a:gd name="connsiteY45" fmla="*/ 2179637 h 6858000"/>
              <a:gd name="connsiteX46" fmla="*/ 4970639 w 4992864"/>
              <a:gd name="connsiteY46" fmla="*/ 2232025 h 6858000"/>
              <a:gd name="connsiteX47" fmla="*/ 4956351 w 4992864"/>
              <a:gd name="connsiteY47" fmla="*/ 2278062 h 6858000"/>
              <a:gd name="connsiteX48" fmla="*/ 4940476 w 4992864"/>
              <a:gd name="connsiteY48" fmla="*/ 2319337 h 6858000"/>
              <a:gd name="connsiteX49" fmla="*/ 4921426 w 4992864"/>
              <a:gd name="connsiteY49" fmla="*/ 2359025 h 6858000"/>
              <a:gd name="connsiteX50" fmla="*/ 4902376 w 4992864"/>
              <a:gd name="connsiteY50" fmla="*/ 2395537 h 6858000"/>
              <a:gd name="connsiteX51" fmla="*/ 4883326 w 4992864"/>
              <a:gd name="connsiteY51" fmla="*/ 2433637 h 6858000"/>
              <a:gd name="connsiteX52" fmla="*/ 4865864 w 4992864"/>
              <a:gd name="connsiteY52" fmla="*/ 2471737 h 6858000"/>
              <a:gd name="connsiteX53" fmla="*/ 4848401 w 4992864"/>
              <a:gd name="connsiteY53" fmla="*/ 2513012 h 6858000"/>
              <a:gd name="connsiteX54" fmla="*/ 4834114 w 4992864"/>
              <a:gd name="connsiteY54" fmla="*/ 2560637 h 6858000"/>
              <a:gd name="connsiteX55" fmla="*/ 4824589 w 4992864"/>
              <a:gd name="connsiteY55" fmla="*/ 2613025 h 6858000"/>
              <a:gd name="connsiteX56" fmla="*/ 4815064 w 4992864"/>
              <a:gd name="connsiteY56" fmla="*/ 2671762 h 6858000"/>
              <a:gd name="connsiteX57" fmla="*/ 4813476 w 4992864"/>
              <a:gd name="connsiteY57" fmla="*/ 2741612 h 6858000"/>
              <a:gd name="connsiteX58" fmla="*/ 4815064 w 4992864"/>
              <a:gd name="connsiteY58" fmla="*/ 2809875 h 6858000"/>
              <a:gd name="connsiteX59" fmla="*/ 4824589 w 4992864"/>
              <a:gd name="connsiteY59" fmla="*/ 2868612 h 6858000"/>
              <a:gd name="connsiteX60" fmla="*/ 4834114 w 4992864"/>
              <a:gd name="connsiteY60" fmla="*/ 2922587 h 6858000"/>
              <a:gd name="connsiteX61" fmla="*/ 4848401 w 4992864"/>
              <a:gd name="connsiteY61" fmla="*/ 2967037 h 6858000"/>
              <a:gd name="connsiteX62" fmla="*/ 4865864 w 4992864"/>
              <a:gd name="connsiteY62" fmla="*/ 3009900 h 6858000"/>
              <a:gd name="connsiteX63" fmla="*/ 4883326 w 4992864"/>
              <a:gd name="connsiteY63" fmla="*/ 3046412 h 6858000"/>
              <a:gd name="connsiteX64" fmla="*/ 4902376 w 4992864"/>
              <a:gd name="connsiteY64" fmla="*/ 3084512 h 6858000"/>
              <a:gd name="connsiteX65" fmla="*/ 4921426 w 4992864"/>
              <a:gd name="connsiteY65" fmla="*/ 3121025 h 6858000"/>
              <a:gd name="connsiteX66" fmla="*/ 4940476 w 4992864"/>
              <a:gd name="connsiteY66" fmla="*/ 3160712 h 6858000"/>
              <a:gd name="connsiteX67" fmla="*/ 4956351 w 4992864"/>
              <a:gd name="connsiteY67" fmla="*/ 3201987 h 6858000"/>
              <a:gd name="connsiteX68" fmla="*/ 4970639 w 4992864"/>
              <a:gd name="connsiteY68" fmla="*/ 3248025 h 6858000"/>
              <a:gd name="connsiteX69" fmla="*/ 4981751 w 4992864"/>
              <a:gd name="connsiteY69" fmla="*/ 3300412 h 6858000"/>
              <a:gd name="connsiteX70" fmla="*/ 4989689 w 4992864"/>
              <a:gd name="connsiteY70" fmla="*/ 3360737 h 6858000"/>
              <a:gd name="connsiteX71" fmla="*/ 4992864 w 4992864"/>
              <a:gd name="connsiteY71" fmla="*/ 3427412 h 6858000"/>
              <a:gd name="connsiteX72" fmla="*/ 4989689 w 4992864"/>
              <a:gd name="connsiteY72" fmla="*/ 3497262 h 6858000"/>
              <a:gd name="connsiteX73" fmla="*/ 4981751 w 4992864"/>
              <a:gd name="connsiteY73" fmla="*/ 3557587 h 6858000"/>
              <a:gd name="connsiteX74" fmla="*/ 4970639 w 4992864"/>
              <a:gd name="connsiteY74" fmla="*/ 3609975 h 6858000"/>
              <a:gd name="connsiteX75" fmla="*/ 4956351 w 4992864"/>
              <a:gd name="connsiteY75" fmla="*/ 3656012 h 6858000"/>
              <a:gd name="connsiteX76" fmla="*/ 4940476 w 4992864"/>
              <a:gd name="connsiteY76" fmla="*/ 3697287 h 6858000"/>
              <a:gd name="connsiteX77" fmla="*/ 4921426 w 4992864"/>
              <a:gd name="connsiteY77" fmla="*/ 3736975 h 6858000"/>
              <a:gd name="connsiteX78" fmla="*/ 4883326 w 4992864"/>
              <a:gd name="connsiteY78" fmla="*/ 3811587 h 6858000"/>
              <a:gd name="connsiteX79" fmla="*/ 4865864 w 4992864"/>
              <a:gd name="connsiteY79" fmla="*/ 3848100 h 6858000"/>
              <a:gd name="connsiteX80" fmla="*/ 4848401 w 4992864"/>
              <a:gd name="connsiteY80" fmla="*/ 3890962 h 6858000"/>
              <a:gd name="connsiteX81" fmla="*/ 4834114 w 4992864"/>
              <a:gd name="connsiteY81" fmla="*/ 3935412 h 6858000"/>
              <a:gd name="connsiteX82" fmla="*/ 4824589 w 4992864"/>
              <a:gd name="connsiteY82" fmla="*/ 3987800 h 6858000"/>
              <a:gd name="connsiteX83" fmla="*/ 4815064 w 4992864"/>
              <a:gd name="connsiteY83" fmla="*/ 4048125 h 6858000"/>
              <a:gd name="connsiteX84" fmla="*/ 4813476 w 4992864"/>
              <a:gd name="connsiteY84" fmla="*/ 4116387 h 6858000"/>
              <a:gd name="connsiteX85" fmla="*/ 4815064 w 4992864"/>
              <a:gd name="connsiteY85" fmla="*/ 4186237 h 6858000"/>
              <a:gd name="connsiteX86" fmla="*/ 4824589 w 4992864"/>
              <a:gd name="connsiteY86" fmla="*/ 4244975 h 6858000"/>
              <a:gd name="connsiteX87" fmla="*/ 4834114 w 4992864"/>
              <a:gd name="connsiteY87" fmla="*/ 4297362 h 6858000"/>
              <a:gd name="connsiteX88" fmla="*/ 4848401 w 4992864"/>
              <a:gd name="connsiteY88" fmla="*/ 4343400 h 6858000"/>
              <a:gd name="connsiteX89" fmla="*/ 4865864 w 4992864"/>
              <a:gd name="connsiteY89" fmla="*/ 4386262 h 6858000"/>
              <a:gd name="connsiteX90" fmla="*/ 4883326 w 4992864"/>
              <a:gd name="connsiteY90" fmla="*/ 4424362 h 6858000"/>
              <a:gd name="connsiteX91" fmla="*/ 4921426 w 4992864"/>
              <a:gd name="connsiteY91" fmla="*/ 4498975 h 6858000"/>
              <a:gd name="connsiteX92" fmla="*/ 4940476 w 4992864"/>
              <a:gd name="connsiteY92" fmla="*/ 4537075 h 6858000"/>
              <a:gd name="connsiteX93" fmla="*/ 4956351 w 4992864"/>
              <a:gd name="connsiteY93" fmla="*/ 4579937 h 6858000"/>
              <a:gd name="connsiteX94" fmla="*/ 4970639 w 4992864"/>
              <a:gd name="connsiteY94" fmla="*/ 4625975 h 6858000"/>
              <a:gd name="connsiteX95" fmla="*/ 4981751 w 4992864"/>
              <a:gd name="connsiteY95" fmla="*/ 4678362 h 6858000"/>
              <a:gd name="connsiteX96" fmla="*/ 4989689 w 4992864"/>
              <a:gd name="connsiteY96" fmla="*/ 4738687 h 6858000"/>
              <a:gd name="connsiteX97" fmla="*/ 4992864 w 4992864"/>
              <a:gd name="connsiteY97" fmla="*/ 4806950 h 6858000"/>
              <a:gd name="connsiteX98" fmla="*/ 4989689 w 4992864"/>
              <a:gd name="connsiteY98" fmla="*/ 4875212 h 6858000"/>
              <a:gd name="connsiteX99" fmla="*/ 4981751 w 4992864"/>
              <a:gd name="connsiteY99" fmla="*/ 4935537 h 6858000"/>
              <a:gd name="connsiteX100" fmla="*/ 4970639 w 4992864"/>
              <a:gd name="connsiteY100" fmla="*/ 4987925 h 6858000"/>
              <a:gd name="connsiteX101" fmla="*/ 4956351 w 4992864"/>
              <a:gd name="connsiteY101" fmla="*/ 5033962 h 6858000"/>
              <a:gd name="connsiteX102" fmla="*/ 4940476 w 4992864"/>
              <a:gd name="connsiteY102" fmla="*/ 5075237 h 6858000"/>
              <a:gd name="connsiteX103" fmla="*/ 4921426 w 4992864"/>
              <a:gd name="connsiteY103" fmla="*/ 5114925 h 6858000"/>
              <a:gd name="connsiteX104" fmla="*/ 4902376 w 4992864"/>
              <a:gd name="connsiteY104" fmla="*/ 5149850 h 6858000"/>
              <a:gd name="connsiteX105" fmla="*/ 4883326 w 4992864"/>
              <a:gd name="connsiteY105" fmla="*/ 5186362 h 6858000"/>
              <a:gd name="connsiteX106" fmla="*/ 4865864 w 4992864"/>
              <a:gd name="connsiteY106" fmla="*/ 5226050 h 6858000"/>
              <a:gd name="connsiteX107" fmla="*/ 4848401 w 4992864"/>
              <a:gd name="connsiteY107" fmla="*/ 5268912 h 6858000"/>
              <a:gd name="connsiteX108" fmla="*/ 4834114 w 4992864"/>
              <a:gd name="connsiteY108" fmla="*/ 5313362 h 6858000"/>
              <a:gd name="connsiteX109" fmla="*/ 4824589 w 4992864"/>
              <a:gd name="connsiteY109" fmla="*/ 5365750 h 6858000"/>
              <a:gd name="connsiteX110" fmla="*/ 4815064 w 4992864"/>
              <a:gd name="connsiteY110" fmla="*/ 5426075 h 6858000"/>
              <a:gd name="connsiteX111" fmla="*/ 4813476 w 4992864"/>
              <a:gd name="connsiteY111" fmla="*/ 5494337 h 6858000"/>
              <a:gd name="connsiteX112" fmla="*/ 4815064 w 4992864"/>
              <a:gd name="connsiteY112" fmla="*/ 5562600 h 6858000"/>
              <a:gd name="connsiteX113" fmla="*/ 4824589 w 4992864"/>
              <a:gd name="connsiteY113" fmla="*/ 5622925 h 6858000"/>
              <a:gd name="connsiteX114" fmla="*/ 4834114 w 4992864"/>
              <a:gd name="connsiteY114" fmla="*/ 5675312 h 6858000"/>
              <a:gd name="connsiteX115" fmla="*/ 4848401 w 4992864"/>
              <a:gd name="connsiteY115" fmla="*/ 5721350 h 6858000"/>
              <a:gd name="connsiteX116" fmla="*/ 4865864 w 4992864"/>
              <a:gd name="connsiteY116" fmla="*/ 5762625 h 6858000"/>
              <a:gd name="connsiteX117" fmla="*/ 4883326 w 4992864"/>
              <a:gd name="connsiteY117" fmla="*/ 5802312 h 6858000"/>
              <a:gd name="connsiteX118" fmla="*/ 4902376 w 4992864"/>
              <a:gd name="connsiteY118" fmla="*/ 5840412 h 6858000"/>
              <a:gd name="connsiteX119" fmla="*/ 4921426 w 4992864"/>
              <a:gd name="connsiteY119" fmla="*/ 5876925 h 6858000"/>
              <a:gd name="connsiteX120" fmla="*/ 4940476 w 4992864"/>
              <a:gd name="connsiteY120" fmla="*/ 5915025 h 6858000"/>
              <a:gd name="connsiteX121" fmla="*/ 4956351 w 4992864"/>
              <a:gd name="connsiteY121" fmla="*/ 5956300 h 6858000"/>
              <a:gd name="connsiteX122" fmla="*/ 4970639 w 4992864"/>
              <a:gd name="connsiteY122" fmla="*/ 6003925 h 6858000"/>
              <a:gd name="connsiteX123" fmla="*/ 4981751 w 4992864"/>
              <a:gd name="connsiteY123" fmla="*/ 6056312 h 6858000"/>
              <a:gd name="connsiteX124" fmla="*/ 4989689 w 4992864"/>
              <a:gd name="connsiteY124" fmla="*/ 6113462 h 6858000"/>
              <a:gd name="connsiteX125" fmla="*/ 4992864 w 4992864"/>
              <a:gd name="connsiteY125" fmla="*/ 6183312 h 6858000"/>
              <a:gd name="connsiteX126" fmla="*/ 4989689 w 4992864"/>
              <a:gd name="connsiteY126" fmla="*/ 6251575 h 6858000"/>
              <a:gd name="connsiteX127" fmla="*/ 4981751 w 4992864"/>
              <a:gd name="connsiteY127" fmla="*/ 6311900 h 6858000"/>
              <a:gd name="connsiteX128" fmla="*/ 4970639 w 4992864"/>
              <a:gd name="connsiteY128" fmla="*/ 6361112 h 6858000"/>
              <a:gd name="connsiteX129" fmla="*/ 4956351 w 4992864"/>
              <a:gd name="connsiteY129" fmla="*/ 6407150 h 6858000"/>
              <a:gd name="connsiteX130" fmla="*/ 4940476 w 4992864"/>
              <a:gd name="connsiteY130" fmla="*/ 6448425 h 6858000"/>
              <a:gd name="connsiteX131" fmla="*/ 4923014 w 4992864"/>
              <a:gd name="connsiteY131" fmla="*/ 6488112 h 6858000"/>
              <a:gd name="connsiteX132" fmla="*/ 4905551 w 4992864"/>
              <a:gd name="connsiteY132" fmla="*/ 6523037 h 6858000"/>
              <a:gd name="connsiteX133" fmla="*/ 4886501 w 4992864"/>
              <a:gd name="connsiteY133" fmla="*/ 6561137 h 6858000"/>
              <a:gd name="connsiteX134" fmla="*/ 4867451 w 4992864"/>
              <a:gd name="connsiteY134" fmla="*/ 6597650 h 6858000"/>
              <a:gd name="connsiteX135" fmla="*/ 4851576 w 4992864"/>
              <a:gd name="connsiteY135" fmla="*/ 6640512 h 6858000"/>
              <a:gd name="connsiteX136" fmla="*/ 4835701 w 4992864"/>
              <a:gd name="connsiteY136" fmla="*/ 6683375 h 6858000"/>
              <a:gd name="connsiteX137" fmla="*/ 4826176 w 4992864"/>
              <a:gd name="connsiteY137" fmla="*/ 6735762 h 6858000"/>
              <a:gd name="connsiteX138" fmla="*/ 4818239 w 4992864"/>
              <a:gd name="connsiteY138" fmla="*/ 6791325 h 6858000"/>
              <a:gd name="connsiteX139" fmla="*/ 4813476 w 4992864"/>
              <a:gd name="connsiteY139" fmla="*/ 6858000 h 6858000"/>
              <a:gd name="connsiteX140" fmla="*/ 0 w 499286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644854" y="643463"/>
            <a:ext cx="3437290" cy="5847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연습을 해봅시다</a:t>
            </a:r>
            <a:r>
              <a:rPr lang="en-US" altLang="ko-KR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!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3200" cap="all" spc="800" dirty="0">
              <a:solidFill>
                <a:srgbClr val="2A1A00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답은 간단할 거에요</a:t>
            </a:r>
            <a:r>
              <a:rPr lang="en-US" altLang="ko-KR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!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3200" cap="all" spc="800" dirty="0">
              <a:solidFill>
                <a:srgbClr val="2A1A00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어떻게든 나오기만 하면 </a:t>
            </a:r>
            <a:r>
              <a:rPr lang="ko-KR" altLang="en-US" sz="3200" cap="all" spc="800" dirty="0" err="1">
                <a:solidFill>
                  <a:srgbClr val="2A1A00"/>
                </a:solidFill>
                <a:latin typeface="+mj-lt"/>
                <a:ea typeface="+mj-ea"/>
                <a:cs typeface="+mj-cs"/>
              </a:rPr>
              <a:t>되요</a:t>
            </a:r>
            <a:r>
              <a:rPr lang="en-US" altLang="ko-KR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!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cap="all" spc="800" dirty="0">
              <a:solidFill>
                <a:srgbClr val="2A1A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80939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latin typeface="Arial Rounded MT Bold" panose="020F0704030504030204" pitchFamily="34" charset="77"/>
              </a:rPr>
              <a:t>자료 구조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B53F0-3686-CD45-9ECF-CEF11DEB5958}"/>
              </a:ext>
            </a:extLst>
          </p:cNvPr>
          <p:cNvSpPr txBox="1"/>
          <p:nvPr/>
        </p:nvSpPr>
        <p:spPr>
          <a:xfrm>
            <a:off x="1452401" y="1280169"/>
            <a:ext cx="925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3DF51-35F8-F744-9626-D4E6BFE9A52B}"/>
              </a:ext>
            </a:extLst>
          </p:cNvPr>
          <p:cNvSpPr txBox="1"/>
          <p:nvPr/>
        </p:nvSpPr>
        <p:spPr>
          <a:xfrm>
            <a:off x="1452401" y="1803389"/>
            <a:ext cx="63370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● 리스트 </a:t>
            </a:r>
            <a:r>
              <a:rPr lang="en-US" altLang="ko-KR" sz="2800" dirty="0"/>
              <a:t>(list)</a:t>
            </a:r>
          </a:p>
          <a:p>
            <a:endParaRPr lang="en-US" sz="2800" dirty="0"/>
          </a:p>
          <a:p>
            <a:r>
              <a:rPr lang="ko-KR" altLang="en-US" sz="2800" dirty="0"/>
              <a:t>●</a:t>
            </a:r>
            <a:r>
              <a:rPr lang="en-US" altLang="ko-KR" sz="2800" dirty="0"/>
              <a:t> </a:t>
            </a:r>
            <a:r>
              <a:rPr lang="ko-KR" altLang="en-US" sz="2800" dirty="0" err="1"/>
              <a:t>튜플</a:t>
            </a:r>
            <a:r>
              <a:rPr lang="ko-KR" altLang="en-US" sz="2800" dirty="0"/>
              <a:t> </a:t>
            </a:r>
            <a:r>
              <a:rPr lang="en-US" altLang="ko-KR" sz="2800" dirty="0"/>
              <a:t>(tuple)</a:t>
            </a:r>
          </a:p>
          <a:p>
            <a:endParaRPr lang="en-US" sz="2800" dirty="0"/>
          </a:p>
          <a:p>
            <a:r>
              <a:rPr lang="ko-KR" altLang="en-US" sz="2800" dirty="0"/>
              <a:t>●</a:t>
            </a:r>
            <a:r>
              <a:rPr lang="en-US" altLang="ko-KR" sz="2800" dirty="0"/>
              <a:t> </a:t>
            </a:r>
            <a:r>
              <a:rPr lang="ko-KR" altLang="en-US" sz="2800" dirty="0"/>
              <a:t>사전</a:t>
            </a:r>
            <a:r>
              <a:rPr lang="en-US" altLang="ko-KR" sz="2800" dirty="0"/>
              <a:t> (</a:t>
            </a:r>
            <a:r>
              <a:rPr lang="en-US" altLang="ko-KR" sz="2800" dirty="0" err="1"/>
              <a:t>dict</a:t>
            </a:r>
            <a:r>
              <a:rPr lang="en-US" altLang="ko-KR" sz="2800" dirty="0"/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62349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1.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>
                <a:latin typeface="Arial Rounded MT Bold" panose="020F0704030504030204" pitchFamily="34" charset="77"/>
              </a:rPr>
              <a:t>list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B53F0-3686-CD45-9ECF-CEF11DEB5958}"/>
              </a:ext>
            </a:extLst>
          </p:cNvPr>
          <p:cNvSpPr txBox="1"/>
          <p:nvPr/>
        </p:nvSpPr>
        <p:spPr>
          <a:xfrm>
            <a:off x="1452401" y="1280169"/>
            <a:ext cx="925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Arial Rounded MT Bold" panose="020F070403050403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61E0EE-56B8-B741-AC92-128FF2672C75}"/>
              </a:ext>
            </a:extLst>
          </p:cNvPr>
          <p:cNvSpPr txBox="1"/>
          <p:nvPr/>
        </p:nvSpPr>
        <p:spPr>
          <a:xfrm>
            <a:off x="1452401" y="1335891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계속 주식에 대해 생각해 봅시다</a:t>
            </a:r>
            <a:r>
              <a:rPr lang="en-US" altLang="ko-KR" dirty="0"/>
              <a:t>!</a:t>
            </a:r>
            <a:r>
              <a:rPr lang="ko-KR" altLang="en-US" dirty="0"/>
              <a:t> 주식 말고도 여러가지 데이터가 있는 경우에 쓰면 유용함</a:t>
            </a:r>
            <a:r>
              <a:rPr lang="en-US" altLang="ko-KR" dirty="0"/>
              <a:t>!</a:t>
            </a:r>
          </a:p>
          <a:p>
            <a:endParaRPr lang="en-US" dirty="0"/>
          </a:p>
          <a:p>
            <a:r>
              <a:rPr lang="ko-KR" altLang="en-US" dirty="0"/>
              <a:t>주식 약 </a:t>
            </a:r>
            <a:r>
              <a:rPr lang="en-US" altLang="ko-KR" dirty="0"/>
              <a:t>2000</a:t>
            </a:r>
            <a:r>
              <a:rPr lang="ko-KR" altLang="en-US" dirty="0"/>
              <a:t>종목 </a:t>
            </a:r>
            <a:r>
              <a:rPr lang="en-US" altLang="ko-KR" dirty="0"/>
              <a:t> -&gt; </a:t>
            </a:r>
            <a:r>
              <a:rPr lang="ko-KR" altLang="en-US" dirty="0"/>
              <a:t>이 중 관심 종목만 관리하는 방법은</a:t>
            </a:r>
            <a:r>
              <a:rPr lang="en-US" altLang="ko-KR" dirty="0"/>
              <a:t>??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B7D02D-D660-8E4F-A6E8-176CB9DCB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01" y="2419845"/>
            <a:ext cx="5067300" cy="2585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17AAF8-8F4B-0F43-A6F3-A5A2E5D25992}"/>
              </a:ext>
            </a:extLst>
          </p:cNvPr>
          <p:cNvSpPr txBox="1"/>
          <p:nvPr/>
        </p:nvSpPr>
        <p:spPr>
          <a:xfrm>
            <a:off x="6834921" y="2552635"/>
            <a:ext cx="44143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왼쪽 사진은 바인딩을 보여준다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en-US" dirty="0"/>
              <a:t>binding : </a:t>
            </a:r>
            <a:r>
              <a:rPr lang="ko-KR" altLang="en-US" dirty="0"/>
              <a:t>변수가 실제 데이터가 존재하는 위치를 가리키고 있는 것</a:t>
            </a:r>
            <a:endParaRPr lang="en-US" altLang="ko-KR" dirty="0"/>
          </a:p>
          <a:p>
            <a:endParaRPr lang="en-US" dirty="0"/>
          </a:p>
          <a:p>
            <a:r>
              <a:rPr lang="en-US" dirty="0"/>
              <a:t>python</a:t>
            </a:r>
            <a:r>
              <a:rPr lang="ko-KR" altLang="en-US" dirty="0"/>
              <a:t>에서의 변수 </a:t>
            </a:r>
            <a:r>
              <a:rPr lang="en-US" altLang="ko-KR" dirty="0"/>
              <a:t>:</a:t>
            </a:r>
            <a:r>
              <a:rPr lang="ko-KR" altLang="en-US" dirty="0"/>
              <a:t> 실제 데이터가 저장되는 공간 자체가 아니라 데이터가 메모리상에서 위치하는 </a:t>
            </a:r>
            <a:r>
              <a:rPr lang="ko-KR" altLang="en-US" dirty="0" err="1"/>
              <a:t>주소값이</a:t>
            </a:r>
            <a:r>
              <a:rPr lang="ko-KR" altLang="en-US" dirty="0"/>
              <a:t> 저장되는 공간</a:t>
            </a:r>
            <a:r>
              <a:rPr lang="en-US" altLang="ko-KR" dirty="0"/>
              <a:t>!!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8D72BD-D5F2-4046-8698-58475BB50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401" y="5240039"/>
            <a:ext cx="2463800" cy="139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D8B6B8-EEBC-2741-9683-2DAC770012F7}"/>
              </a:ext>
            </a:extLst>
          </p:cNvPr>
          <p:cNvSpPr txBox="1"/>
          <p:nvPr/>
        </p:nvSpPr>
        <p:spPr>
          <a:xfrm>
            <a:off x="4292987" y="5615373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 </a:t>
            </a:r>
            <a:r>
              <a:rPr lang="ko-KR" altLang="en-US" dirty="0"/>
              <a:t>에서 변수</a:t>
            </a:r>
            <a:r>
              <a:rPr lang="en-US" altLang="ko-KR" dirty="0"/>
              <a:t>(interest1)</a:t>
            </a:r>
            <a:r>
              <a:rPr lang="ko-KR" altLang="en-US" dirty="0"/>
              <a:t> 가 어떤 값을 바인딩하고 있으면 </a:t>
            </a:r>
            <a:r>
              <a:rPr lang="en-US" altLang="ko-KR" dirty="0"/>
              <a:t>-&gt;</a:t>
            </a:r>
            <a:r>
              <a:rPr lang="ko-KR" altLang="en-US" dirty="0"/>
              <a:t> 변수를 입력하면 그 값이 반환됨</a:t>
            </a:r>
            <a:r>
              <a:rPr lang="en-US" altLang="ko-KR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368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latin typeface="Arial Rounded MT Bold" panose="020F0704030504030204" pitchFamily="34" charset="77"/>
              </a:rPr>
              <a:t>앞의 것은 </a:t>
            </a:r>
            <a:r>
              <a:rPr lang="en-US" altLang="ko-KR" sz="5400" dirty="0">
                <a:latin typeface="Arial Rounded MT Bold" panose="020F0704030504030204" pitchFamily="34" charset="77"/>
              </a:rPr>
              <a:t>list</a:t>
            </a:r>
            <a:r>
              <a:rPr lang="ko-KR" altLang="en-US" sz="5400" dirty="0">
                <a:latin typeface="Arial Rounded MT Bold" panose="020F0704030504030204" pitchFamily="34" charset="77"/>
              </a:rPr>
              <a:t>가 아니다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B53F0-3686-CD45-9ECF-CEF11DEB5958}"/>
              </a:ext>
            </a:extLst>
          </p:cNvPr>
          <p:cNvSpPr txBox="1"/>
          <p:nvPr/>
        </p:nvSpPr>
        <p:spPr>
          <a:xfrm>
            <a:off x="1452401" y="1280169"/>
            <a:ext cx="925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Arial Rounded MT Bold" panose="020F070403050403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52D5E5-1130-2A4E-BF89-AB26DEA5D178}"/>
              </a:ext>
            </a:extLst>
          </p:cNvPr>
          <p:cNvSpPr txBox="1"/>
          <p:nvPr/>
        </p:nvSpPr>
        <p:spPr>
          <a:xfrm>
            <a:off x="1702675" y="1541779"/>
            <a:ext cx="8568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관심 있는 정보가 많아지면 </a:t>
            </a:r>
            <a:r>
              <a:rPr lang="en-US" altLang="ko-KR" sz="2400" dirty="0"/>
              <a:t>interest1,</a:t>
            </a:r>
            <a:r>
              <a:rPr lang="ko-KR" altLang="en-US" sz="2400" dirty="0"/>
              <a:t> </a:t>
            </a:r>
            <a:r>
              <a:rPr lang="en-US" altLang="ko-KR" sz="2400" dirty="0"/>
              <a:t>interest2,</a:t>
            </a:r>
            <a:r>
              <a:rPr lang="ko-KR" altLang="en-US" sz="2400" dirty="0"/>
              <a:t> </a:t>
            </a:r>
            <a:r>
              <a:rPr lang="en-US" altLang="ko-KR" sz="2400" dirty="0"/>
              <a:t>…</a:t>
            </a:r>
            <a:r>
              <a:rPr lang="ko-KR" altLang="en-US" sz="2400" dirty="0"/>
              <a:t> </a:t>
            </a:r>
            <a:r>
              <a:rPr lang="en-US" altLang="ko-KR" sz="2400" dirty="0"/>
              <a:t>interest</a:t>
            </a:r>
            <a:r>
              <a:rPr lang="ko-KR" altLang="en-US" sz="2400" dirty="0"/>
              <a:t> </a:t>
            </a:r>
            <a:r>
              <a:rPr lang="en-US" altLang="ko-KR" sz="2400" dirty="0"/>
              <a:t>100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endParaRPr lang="en-US" sz="2400" dirty="0"/>
          </a:p>
          <a:p>
            <a:r>
              <a:rPr lang="ko-KR" altLang="en-US" sz="2400" dirty="0" err="1"/>
              <a:t>어휴</a:t>
            </a:r>
            <a:r>
              <a:rPr lang="ko-KR" altLang="en-US" sz="2400" dirty="0"/>
              <a:t> 너무 많다</a:t>
            </a:r>
            <a:r>
              <a:rPr lang="en-US" altLang="ko-KR" sz="2400" dirty="0"/>
              <a:t>..!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9E136-2A7A-3145-BCDE-6AF112AA33E7}"/>
              </a:ext>
            </a:extLst>
          </p:cNvPr>
          <p:cNvSpPr txBox="1"/>
          <p:nvPr/>
        </p:nvSpPr>
        <p:spPr>
          <a:xfrm>
            <a:off x="1684794" y="3189767"/>
            <a:ext cx="9732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list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쓰자</a:t>
            </a:r>
            <a:r>
              <a:rPr lang="en-US" altLang="ko-KR" sz="2000" dirty="0"/>
              <a:t>!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r>
              <a:rPr lang="en-US" altLang="ko-KR" sz="2000" dirty="0"/>
              <a:t>list</a:t>
            </a:r>
            <a:r>
              <a:rPr lang="ko-KR" altLang="en-US" sz="2000" dirty="0"/>
              <a:t>는 여러 데이터를  한 번에 저장할 수 있어서 </a:t>
            </a:r>
            <a:r>
              <a:rPr lang="ko-KR" altLang="en-US" sz="2000" dirty="0" err="1"/>
              <a:t>변수명을</a:t>
            </a:r>
            <a:r>
              <a:rPr lang="ko-KR" altLang="en-US" sz="2000" dirty="0"/>
              <a:t> 여러 개 사용할 필요가 없다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3E83A4-0834-D74C-BB38-8636EF7B6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793" y="4345311"/>
            <a:ext cx="6022383" cy="19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98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1-1) list </a:t>
            </a:r>
            <a:r>
              <a:rPr lang="ko-KR" altLang="en-US" sz="5400" dirty="0">
                <a:latin typeface="Arial Rounded MT Bold" panose="020F0704030504030204" pitchFamily="34" charset="77"/>
              </a:rPr>
              <a:t>생성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B53F0-3686-CD45-9ECF-CEF11DEB5958}"/>
              </a:ext>
            </a:extLst>
          </p:cNvPr>
          <p:cNvSpPr txBox="1"/>
          <p:nvPr/>
        </p:nvSpPr>
        <p:spPr>
          <a:xfrm>
            <a:off x="1452401" y="1280169"/>
            <a:ext cx="925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Arial Rounded MT Bold" panose="020F070403050403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2BA85A-D2D3-D04A-8160-3E6ECD22C4B8}"/>
              </a:ext>
            </a:extLst>
          </p:cNvPr>
          <p:cNvSpPr txBox="1"/>
          <p:nvPr/>
        </p:nvSpPr>
        <p:spPr>
          <a:xfrm>
            <a:off x="1190847" y="1467293"/>
            <a:ext cx="105474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list</a:t>
            </a:r>
            <a:r>
              <a:rPr lang="ko-KR" altLang="en-US" sz="2000" dirty="0"/>
              <a:t>는 순서가 있다</a:t>
            </a:r>
            <a:r>
              <a:rPr lang="en-US" altLang="ko-KR" sz="2000" dirty="0"/>
              <a:t>!</a:t>
            </a:r>
            <a:r>
              <a:rPr lang="ko-KR" altLang="en-US" sz="2000" dirty="0"/>
              <a:t> </a:t>
            </a:r>
            <a:r>
              <a:rPr lang="en-US" altLang="ko-KR" sz="2000" dirty="0"/>
              <a:t>-&gt;</a:t>
            </a:r>
            <a:r>
              <a:rPr lang="ko-KR" altLang="en-US" sz="2000" dirty="0"/>
              <a:t> </a:t>
            </a:r>
            <a:r>
              <a:rPr lang="en-US" altLang="ko-KR" sz="2000" dirty="0"/>
              <a:t>list</a:t>
            </a:r>
            <a:r>
              <a:rPr lang="ko-KR" altLang="en-US" sz="2000" dirty="0"/>
              <a:t>는 여러 개의 데이터를 순서대로 저장하고 관리 할 때 사용하면 좋다</a:t>
            </a:r>
            <a:r>
              <a:rPr lang="en-US" altLang="ko-KR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ex) </a:t>
            </a:r>
            <a:r>
              <a:rPr lang="en-US" sz="2000" dirty="0" err="1"/>
              <a:t>naver</a:t>
            </a:r>
            <a:r>
              <a:rPr lang="ko-KR" altLang="en-US" sz="2000" dirty="0"/>
              <a:t>의 </a:t>
            </a:r>
            <a:r>
              <a:rPr lang="en-US" altLang="ko-KR" sz="2000" dirty="0"/>
              <a:t>5</a:t>
            </a:r>
            <a:r>
              <a:rPr lang="ko-KR" altLang="en-US" sz="2000" dirty="0"/>
              <a:t>일 동안의 주식 값을 하나의 리스트로 저장할 수 있다</a:t>
            </a:r>
            <a:r>
              <a:rPr lang="en-US" altLang="ko-KR" sz="2000" dirty="0"/>
              <a:t>!</a:t>
            </a:r>
          </a:p>
          <a:p>
            <a:r>
              <a:rPr lang="en-US" altLang="ko-KR" sz="2000" dirty="0"/>
              <a:t>list</a:t>
            </a:r>
            <a:r>
              <a:rPr lang="ko-KR" altLang="en-US" sz="2000" dirty="0"/>
              <a:t> </a:t>
            </a:r>
            <a:r>
              <a:rPr lang="en-US" altLang="ko-KR" sz="2000" dirty="0"/>
              <a:t>data</a:t>
            </a:r>
            <a:r>
              <a:rPr lang="ko-KR" altLang="en-US" sz="2000" dirty="0"/>
              <a:t>에는 </a:t>
            </a:r>
            <a:r>
              <a:rPr lang="en-US" altLang="ko-KR" sz="2000" dirty="0" err="1"/>
              <a:t>str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, float</a:t>
            </a:r>
            <a:r>
              <a:rPr lang="ko-KR" altLang="en-US" sz="2000" dirty="0"/>
              <a:t> 등이 들어 갈 수 있다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B537F-CB46-BB4A-BB49-FDE06C6F2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00" y="2977855"/>
            <a:ext cx="8273507" cy="321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25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1-2)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>
                <a:latin typeface="Arial Rounded MT Bold" panose="020F0704030504030204" pitchFamily="34" charset="77"/>
              </a:rPr>
              <a:t>list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>
                <a:latin typeface="Arial Rounded MT Bold" panose="020F0704030504030204" pitchFamily="34" charset="77"/>
              </a:rPr>
              <a:t>indexing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3998E-D33C-9C49-8D64-78126E9009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898" b="86065"/>
          <a:stretch/>
        </p:blipFill>
        <p:spPr>
          <a:xfrm>
            <a:off x="1251678" y="3319189"/>
            <a:ext cx="9654216" cy="6617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6E974FF-19AE-6349-8115-696176450D26}"/>
              </a:ext>
            </a:extLst>
          </p:cNvPr>
          <p:cNvGrpSpPr/>
          <p:nvPr/>
        </p:nvGrpSpPr>
        <p:grpSpPr>
          <a:xfrm>
            <a:off x="2998380" y="3980909"/>
            <a:ext cx="808075" cy="1454625"/>
            <a:chOff x="3062177" y="3763766"/>
            <a:chExt cx="574158" cy="1308621"/>
          </a:xfrm>
        </p:grpSpPr>
        <p:sp>
          <p:nvSpPr>
            <p:cNvPr id="6" name="Up Arrow 5">
              <a:extLst>
                <a:ext uri="{FF2B5EF4-FFF2-40B4-BE49-F238E27FC236}">
                  <a16:creationId xmlns:a16="http://schemas.microsoft.com/office/drawing/2014/main" id="{6A0F0CE0-B6D6-BF45-8404-1E880E8A5996}"/>
                </a:ext>
              </a:extLst>
            </p:cNvPr>
            <p:cNvSpPr/>
            <p:nvPr/>
          </p:nvSpPr>
          <p:spPr>
            <a:xfrm>
              <a:off x="3062177" y="3763766"/>
              <a:ext cx="361507" cy="893293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5CF431-7688-BB44-97F6-9FBAEB8E89D5}"/>
                </a:ext>
              </a:extLst>
            </p:cNvPr>
            <p:cNvSpPr txBox="1"/>
            <p:nvPr/>
          </p:nvSpPr>
          <p:spPr>
            <a:xfrm>
              <a:off x="3062177" y="4657060"/>
              <a:ext cx="574158" cy="415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-5</a:t>
              </a:r>
              <a:endParaRPr lang="en-US" sz="24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825A9A2-0F1C-6740-9A26-F6B39B2BF5C2}"/>
              </a:ext>
            </a:extLst>
          </p:cNvPr>
          <p:cNvGrpSpPr/>
          <p:nvPr/>
        </p:nvGrpSpPr>
        <p:grpSpPr>
          <a:xfrm>
            <a:off x="4289056" y="3980909"/>
            <a:ext cx="808075" cy="1454625"/>
            <a:chOff x="3062177" y="3763766"/>
            <a:chExt cx="574158" cy="1308621"/>
          </a:xfrm>
        </p:grpSpPr>
        <p:sp>
          <p:nvSpPr>
            <p:cNvPr id="10" name="Up Arrow 9">
              <a:extLst>
                <a:ext uri="{FF2B5EF4-FFF2-40B4-BE49-F238E27FC236}">
                  <a16:creationId xmlns:a16="http://schemas.microsoft.com/office/drawing/2014/main" id="{C35CF024-83C5-C546-B4DF-9B58E77CE513}"/>
                </a:ext>
              </a:extLst>
            </p:cNvPr>
            <p:cNvSpPr/>
            <p:nvPr/>
          </p:nvSpPr>
          <p:spPr>
            <a:xfrm>
              <a:off x="3062177" y="3763766"/>
              <a:ext cx="361507" cy="893293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DCCD04-6D09-E342-9011-32A6D88189F6}"/>
                </a:ext>
              </a:extLst>
            </p:cNvPr>
            <p:cNvSpPr txBox="1"/>
            <p:nvPr/>
          </p:nvSpPr>
          <p:spPr>
            <a:xfrm>
              <a:off x="3062177" y="4657060"/>
              <a:ext cx="574158" cy="415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-4</a:t>
              </a:r>
              <a:endParaRPr lang="en-US" sz="24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B31D70-DFBB-6F40-9AAB-9D1B6A2447CD}"/>
              </a:ext>
            </a:extLst>
          </p:cNvPr>
          <p:cNvGrpSpPr/>
          <p:nvPr/>
        </p:nvGrpSpPr>
        <p:grpSpPr>
          <a:xfrm>
            <a:off x="5950687" y="3980909"/>
            <a:ext cx="808075" cy="1454625"/>
            <a:chOff x="3062177" y="3763766"/>
            <a:chExt cx="574158" cy="1308621"/>
          </a:xfrm>
        </p:grpSpPr>
        <p:sp>
          <p:nvSpPr>
            <p:cNvPr id="13" name="Up Arrow 12">
              <a:extLst>
                <a:ext uri="{FF2B5EF4-FFF2-40B4-BE49-F238E27FC236}">
                  <a16:creationId xmlns:a16="http://schemas.microsoft.com/office/drawing/2014/main" id="{45C86A3C-FB55-7C46-8284-28F9C36FDBAC}"/>
                </a:ext>
              </a:extLst>
            </p:cNvPr>
            <p:cNvSpPr/>
            <p:nvPr/>
          </p:nvSpPr>
          <p:spPr>
            <a:xfrm>
              <a:off x="3062177" y="3763766"/>
              <a:ext cx="361507" cy="893293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FB2216-2897-E24F-82D5-614DE7B661A1}"/>
                </a:ext>
              </a:extLst>
            </p:cNvPr>
            <p:cNvSpPr txBox="1"/>
            <p:nvPr/>
          </p:nvSpPr>
          <p:spPr>
            <a:xfrm>
              <a:off x="3062177" y="4657060"/>
              <a:ext cx="574158" cy="415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-3</a:t>
              </a:r>
              <a:endParaRPr lang="en-US" sz="2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7C46DA4-7F57-D24F-8951-A5ED6ACE0B84}"/>
              </a:ext>
            </a:extLst>
          </p:cNvPr>
          <p:cNvGrpSpPr/>
          <p:nvPr/>
        </p:nvGrpSpPr>
        <p:grpSpPr>
          <a:xfrm>
            <a:off x="7507567" y="3980909"/>
            <a:ext cx="808075" cy="1454625"/>
            <a:chOff x="3062177" y="3763766"/>
            <a:chExt cx="574158" cy="1308621"/>
          </a:xfrm>
        </p:grpSpPr>
        <p:sp>
          <p:nvSpPr>
            <p:cNvPr id="16" name="Up Arrow 15">
              <a:extLst>
                <a:ext uri="{FF2B5EF4-FFF2-40B4-BE49-F238E27FC236}">
                  <a16:creationId xmlns:a16="http://schemas.microsoft.com/office/drawing/2014/main" id="{FBF1BE45-AD15-4044-89BB-5BA931CD6C12}"/>
                </a:ext>
              </a:extLst>
            </p:cNvPr>
            <p:cNvSpPr/>
            <p:nvPr/>
          </p:nvSpPr>
          <p:spPr>
            <a:xfrm>
              <a:off x="3062177" y="3763766"/>
              <a:ext cx="361507" cy="893293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5185CC-2E10-8A44-BB8C-0FC29CD45FBD}"/>
                </a:ext>
              </a:extLst>
            </p:cNvPr>
            <p:cNvSpPr txBox="1"/>
            <p:nvPr/>
          </p:nvSpPr>
          <p:spPr>
            <a:xfrm>
              <a:off x="3062177" y="4657060"/>
              <a:ext cx="574158" cy="415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-2</a:t>
              </a:r>
              <a:endParaRPr lang="en-US" sz="2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33B1BE-817E-3F47-B5CB-9373AC960715}"/>
              </a:ext>
            </a:extLst>
          </p:cNvPr>
          <p:cNvGrpSpPr/>
          <p:nvPr/>
        </p:nvGrpSpPr>
        <p:grpSpPr>
          <a:xfrm>
            <a:off x="8902994" y="3983983"/>
            <a:ext cx="808075" cy="1454625"/>
            <a:chOff x="3062177" y="3763766"/>
            <a:chExt cx="574158" cy="1308621"/>
          </a:xfrm>
        </p:grpSpPr>
        <p:sp>
          <p:nvSpPr>
            <p:cNvPr id="19" name="Up Arrow 18">
              <a:extLst>
                <a:ext uri="{FF2B5EF4-FFF2-40B4-BE49-F238E27FC236}">
                  <a16:creationId xmlns:a16="http://schemas.microsoft.com/office/drawing/2014/main" id="{6078F7AA-1D52-B844-973E-5D15BA4EE625}"/>
                </a:ext>
              </a:extLst>
            </p:cNvPr>
            <p:cNvSpPr/>
            <p:nvPr/>
          </p:nvSpPr>
          <p:spPr>
            <a:xfrm>
              <a:off x="3062177" y="3763766"/>
              <a:ext cx="361507" cy="893293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AA9C9C9-5B70-4547-AE05-481AB8E310A6}"/>
                </a:ext>
              </a:extLst>
            </p:cNvPr>
            <p:cNvSpPr txBox="1"/>
            <p:nvPr/>
          </p:nvSpPr>
          <p:spPr>
            <a:xfrm>
              <a:off x="3062177" y="4657060"/>
              <a:ext cx="574158" cy="415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-1</a:t>
              </a:r>
              <a:endParaRPr lang="en-US" sz="2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621C85-56E4-9549-8BC4-2487C61286EF}"/>
              </a:ext>
            </a:extLst>
          </p:cNvPr>
          <p:cNvGrpSpPr/>
          <p:nvPr/>
        </p:nvGrpSpPr>
        <p:grpSpPr>
          <a:xfrm>
            <a:off x="4358401" y="1759868"/>
            <a:ext cx="508788" cy="1533112"/>
            <a:chOff x="2998380" y="1751452"/>
            <a:chExt cx="508788" cy="153311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21B53F0-3686-CD45-9ECF-CEF11DEB5958}"/>
                </a:ext>
              </a:extLst>
            </p:cNvPr>
            <p:cNvSpPr txBox="1"/>
            <p:nvPr/>
          </p:nvSpPr>
          <p:spPr>
            <a:xfrm>
              <a:off x="3110290" y="1751452"/>
              <a:ext cx="2700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 Rounded MT Bold" panose="020F0704030504030204" pitchFamily="34" charset="77"/>
                </a:rPr>
                <a:t>1</a:t>
              </a:r>
              <a:endParaRPr lang="en-US" sz="2800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24" name="Down Arrow 23">
              <a:extLst>
                <a:ext uri="{FF2B5EF4-FFF2-40B4-BE49-F238E27FC236}">
                  <a16:creationId xmlns:a16="http://schemas.microsoft.com/office/drawing/2014/main" id="{32EA4679-E451-6A46-9BC6-DA08E7D73FBA}"/>
                </a:ext>
              </a:extLst>
            </p:cNvPr>
            <p:cNvSpPr/>
            <p:nvPr/>
          </p:nvSpPr>
          <p:spPr>
            <a:xfrm>
              <a:off x="2998380" y="2168874"/>
              <a:ext cx="508788" cy="111569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ED9A6A8-C9AD-4A47-BC80-B018222CEF1F}"/>
              </a:ext>
            </a:extLst>
          </p:cNvPr>
          <p:cNvGrpSpPr/>
          <p:nvPr/>
        </p:nvGrpSpPr>
        <p:grpSpPr>
          <a:xfrm>
            <a:off x="5950687" y="1751452"/>
            <a:ext cx="508788" cy="1533112"/>
            <a:chOff x="2998380" y="1751452"/>
            <a:chExt cx="508788" cy="153311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988F5E9-1678-684D-A7B2-718D6958CB1D}"/>
                </a:ext>
              </a:extLst>
            </p:cNvPr>
            <p:cNvSpPr txBox="1"/>
            <p:nvPr/>
          </p:nvSpPr>
          <p:spPr>
            <a:xfrm>
              <a:off x="3110290" y="1751452"/>
              <a:ext cx="2700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 Rounded MT Bold" panose="020F0704030504030204" pitchFamily="34" charset="77"/>
                </a:rPr>
                <a:t>2</a:t>
              </a:r>
              <a:endParaRPr lang="en-US" sz="2800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31" name="Down Arrow 30">
              <a:extLst>
                <a:ext uri="{FF2B5EF4-FFF2-40B4-BE49-F238E27FC236}">
                  <a16:creationId xmlns:a16="http://schemas.microsoft.com/office/drawing/2014/main" id="{CEC6D5CE-D095-2143-A45E-0A93D6831C7D}"/>
                </a:ext>
              </a:extLst>
            </p:cNvPr>
            <p:cNvSpPr/>
            <p:nvPr/>
          </p:nvSpPr>
          <p:spPr>
            <a:xfrm>
              <a:off x="2998380" y="2168874"/>
              <a:ext cx="508788" cy="111569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1A50AEF-5CA2-2A41-81C5-A5AF6D008D22}"/>
              </a:ext>
            </a:extLst>
          </p:cNvPr>
          <p:cNvGrpSpPr/>
          <p:nvPr/>
        </p:nvGrpSpPr>
        <p:grpSpPr>
          <a:xfrm>
            <a:off x="7507567" y="1768765"/>
            <a:ext cx="508788" cy="1533112"/>
            <a:chOff x="2998380" y="1751452"/>
            <a:chExt cx="508788" cy="153311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CED9D81-0765-F647-A087-8BF810396C4B}"/>
                </a:ext>
              </a:extLst>
            </p:cNvPr>
            <p:cNvSpPr txBox="1"/>
            <p:nvPr/>
          </p:nvSpPr>
          <p:spPr>
            <a:xfrm>
              <a:off x="3110290" y="1751452"/>
              <a:ext cx="2700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 Rounded MT Bold" panose="020F0704030504030204" pitchFamily="34" charset="77"/>
                </a:rPr>
                <a:t>3</a:t>
              </a:r>
              <a:endParaRPr lang="en-US" sz="2800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34" name="Down Arrow 33">
              <a:extLst>
                <a:ext uri="{FF2B5EF4-FFF2-40B4-BE49-F238E27FC236}">
                  <a16:creationId xmlns:a16="http://schemas.microsoft.com/office/drawing/2014/main" id="{2FB5DD09-5056-9A47-9938-EF7AAF492338}"/>
                </a:ext>
              </a:extLst>
            </p:cNvPr>
            <p:cNvSpPr/>
            <p:nvPr/>
          </p:nvSpPr>
          <p:spPr>
            <a:xfrm>
              <a:off x="2998380" y="2168874"/>
              <a:ext cx="508788" cy="111569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C06CE1-8F7B-FB4B-88FA-E5A1E3F6671D}"/>
              </a:ext>
            </a:extLst>
          </p:cNvPr>
          <p:cNvGrpSpPr/>
          <p:nvPr/>
        </p:nvGrpSpPr>
        <p:grpSpPr>
          <a:xfrm>
            <a:off x="8850291" y="1733659"/>
            <a:ext cx="508788" cy="1533112"/>
            <a:chOff x="2998380" y="1751452"/>
            <a:chExt cx="508788" cy="153311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5519BD6-9A21-1946-BF25-B550FA68998C}"/>
                </a:ext>
              </a:extLst>
            </p:cNvPr>
            <p:cNvSpPr txBox="1"/>
            <p:nvPr/>
          </p:nvSpPr>
          <p:spPr>
            <a:xfrm>
              <a:off x="3110290" y="1751452"/>
              <a:ext cx="2700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 Rounded MT Bold" panose="020F0704030504030204" pitchFamily="34" charset="77"/>
                </a:rPr>
                <a:t>4</a:t>
              </a:r>
              <a:endParaRPr lang="en-US" sz="2800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A0B161B7-0DCE-B44A-B1B1-CC05C0A3103E}"/>
                </a:ext>
              </a:extLst>
            </p:cNvPr>
            <p:cNvSpPr/>
            <p:nvPr/>
          </p:nvSpPr>
          <p:spPr>
            <a:xfrm>
              <a:off x="2998380" y="2168874"/>
              <a:ext cx="508788" cy="111569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7AC77B4-F194-834A-93CC-3D2616FB0CD9}"/>
              </a:ext>
            </a:extLst>
          </p:cNvPr>
          <p:cNvGrpSpPr/>
          <p:nvPr/>
        </p:nvGrpSpPr>
        <p:grpSpPr>
          <a:xfrm>
            <a:off x="3003412" y="1733659"/>
            <a:ext cx="508788" cy="1533112"/>
            <a:chOff x="2998380" y="1751452"/>
            <a:chExt cx="508788" cy="153311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0A7C5F1-8FB6-754B-B5A2-3B5DF064495D}"/>
                </a:ext>
              </a:extLst>
            </p:cNvPr>
            <p:cNvSpPr txBox="1"/>
            <p:nvPr/>
          </p:nvSpPr>
          <p:spPr>
            <a:xfrm>
              <a:off x="3110290" y="1751452"/>
              <a:ext cx="2700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 Rounded MT Bold" panose="020F0704030504030204" pitchFamily="34" charset="77"/>
                </a:rPr>
                <a:t>0</a:t>
              </a:r>
              <a:endParaRPr lang="en-US" sz="2800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8E3724EF-F2D6-6945-B048-7A206F39FF9A}"/>
                </a:ext>
              </a:extLst>
            </p:cNvPr>
            <p:cNvSpPr/>
            <p:nvPr/>
          </p:nvSpPr>
          <p:spPr>
            <a:xfrm>
              <a:off x="2998380" y="2168874"/>
              <a:ext cx="508788" cy="111569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D7A9B66-A49F-C043-B422-A8F5EED3D45B}"/>
              </a:ext>
            </a:extLst>
          </p:cNvPr>
          <p:cNvSpPr txBox="1"/>
          <p:nvPr/>
        </p:nvSpPr>
        <p:spPr>
          <a:xfrm>
            <a:off x="1467293" y="5635587"/>
            <a:ext cx="8612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indexing</a:t>
            </a:r>
            <a:r>
              <a:rPr lang="ko-KR" altLang="en-US" sz="2400" dirty="0"/>
              <a:t>은 그 값이 아니라</a:t>
            </a:r>
            <a:r>
              <a:rPr lang="ko-KR" altLang="en-US" sz="3200" b="1" dirty="0"/>
              <a:t>  </a:t>
            </a:r>
            <a:r>
              <a:rPr lang="en-US" altLang="ko-KR" sz="3200" b="1" dirty="0"/>
              <a:t>,</a:t>
            </a:r>
            <a:r>
              <a:rPr lang="ko-KR" altLang="en-US" sz="3200" b="1" dirty="0"/>
              <a:t>  </a:t>
            </a:r>
            <a:r>
              <a:rPr lang="ko-KR" altLang="en-US" sz="2400" dirty="0"/>
              <a:t>기준으로 자르는 겁니다</a:t>
            </a:r>
            <a:r>
              <a:rPr lang="en-US" altLang="ko-KR" sz="2400" dirty="0"/>
              <a:t>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922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74BD3A9-25D1-4691-BE05-149182EC4C1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Freeform 10" title="right scallop background shape">
            <a:extLst>
              <a:ext uri="{FF2B5EF4-FFF2-40B4-BE49-F238E27FC236}">
                <a16:creationId xmlns:a16="http://schemas.microsoft.com/office/drawing/2014/main" id="{8D49CF1A-01DD-4115-A6BB-CFA8F704534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6" name="Rectangle 15" title="left edge border">
            <a:extLst>
              <a:ext uri="{FF2B5EF4-FFF2-40B4-BE49-F238E27FC236}">
                <a16:creationId xmlns:a16="http://schemas.microsoft.com/office/drawing/2014/main" id="{5FDAFA16-9D2D-4BEC-89D0-B4EABEE911B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3B6E6C-331D-1E4E-964D-E4D7812E0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474" y="484632"/>
            <a:ext cx="2635207" cy="58887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0E1C-E3B6-8B41-8611-B3A66D3D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144" y="1635066"/>
            <a:ext cx="6306309" cy="4738302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>
              <a:buNone/>
            </a:pPr>
            <a:r>
              <a:rPr lang="ko-KR" altLang="en-US" dirty="0">
                <a:solidFill>
                  <a:schemeClr val="tx1"/>
                </a:solidFill>
              </a:rPr>
              <a:t>리스트에 있는 데이터에 하나 씩 접근할 때는 </a:t>
            </a:r>
            <a:r>
              <a:rPr lang="en-US" altLang="ko-KR" dirty="0">
                <a:solidFill>
                  <a:schemeClr val="tx1"/>
                </a:solidFill>
              </a:rPr>
              <a:t>index</a:t>
            </a:r>
            <a:r>
              <a:rPr lang="ko-KR" altLang="en-US" dirty="0">
                <a:solidFill>
                  <a:schemeClr val="tx1"/>
                </a:solidFill>
              </a:rPr>
              <a:t>이용 가능</a:t>
            </a:r>
            <a:endParaRPr lang="en-US" altLang="ko-KR" dirty="0">
              <a:solidFill>
                <a:schemeClr val="tx1"/>
              </a:solidFill>
            </a:endParaRPr>
          </a:p>
          <a:p>
            <a:pPr marL="0">
              <a:buNone/>
            </a:pPr>
            <a:r>
              <a:rPr lang="en-US" altLang="ko-KR" dirty="0">
                <a:solidFill>
                  <a:schemeClr val="tx1"/>
                </a:solidFill>
              </a:rPr>
              <a:t>but </a:t>
            </a:r>
            <a:r>
              <a:rPr lang="ko-KR" altLang="en-US" dirty="0">
                <a:solidFill>
                  <a:schemeClr val="tx1"/>
                </a:solidFill>
              </a:rPr>
              <a:t>여러 개의 데이터에 동시에 접근하려면 </a:t>
            </a:r>
            <a:r>
              <a:rPr lang="en-US" altLang="ko-KR" dirty="0">
                <a:solidFill>
                  <a:schemeClr val="tx1"/>
                </a:solidFill>
              </a:rPr>
              <a:t>slicing</a:t>
            </a:r>
            <a:r>
              <a:rPr lang="ko-KR" altLang="en-US" dirty="0">
                <a:solidFill>
                  <a:schemeClr val="tx1"/>
                </a:solidFill>
              </a:rPr>
              <a:t>을 써야한다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pPr marL="0">
              <a:buNone/>
            </a:pPr>
            <a:r>
              <a:rPr lang="ko-KR" altLang="en-US" dirty="0">
                <a:solidFill>
                  <a:schemeClr val="tx1"/>
                </a:solidFill>
              </a:rPr>
              <a:t>*</a:t>
            </a:r>
            <a:r>
              <a:rPr lang="en-US" altLang="ko-KR" dirty="0">
                <a:solidFill>
                  <a:schemeClr val="tx1"/>
                </a:solidFill>
              </a:rPr>
              <a:t>slicing</a:t>
            </a:r>
            <a:r>
              <a:rPr lang="ko-KR" altLang="en-US" dirty="0">
                <a:solidFill>
                  <a:schemeClr val="tx1"/>
                </a:solidFill>
              </a:rPr>
              <a:t>은 문자열 </a:t>
            </a:r>
            <a:r>
              <a:rPr lang="en-US" altLang="ko-KR" dirty="0">
                <a:solidFill>
                  <a:schemeClr val="tx1"/>
                </a:solidFill>
              </a:rPr>
              <a:t>slicing</a:t>
            </a:r>
            <a:r>
              <a:rPr lang="ko-KR" altLang="en-US" dirty="0">
                <a:solidFill>
                  <a:schemeClr val="tx1"/>
                </a:solidFill>
              </a:rPr>
              <a:t> 때와 동일합니다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marL="0"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 marL="0">
              <a:buNone/>
            </a:pPr>
            <a:r>
              <a:rPr lang="ko-KR" altLang="en-US" dirty="0">
                <a:solidFill>
                  <a:schemeClr val="tx1"/>
                </a:solidFill>
              </a:rPr>
              <a:t>오른쪽의 자료를 </a:t>
            </a:r>
            <a:r>
              <a:rPr lang="en-US" altLang="ko-KR" dirty="0">
                <a:solidFill>
                  <a:schemeClr val="tx1"/>
                </a:solidFill>
              </a:rPr>
              <a:t>list</a:t>
            </a:r>
            <a:r>
              <a:rPr lang="ko-KR" altLang="en-US" dirty="0">
                <a:solidFill>
                  <a:schemeClr val="tx1"/>
                </a:solidFill>
              </a:rPr>
              <a:t>로 표현해 주세요</a:t>
            </a:r>
            <a:endParaRPr lang="en-US" altLang="ko-KR" dirty="0">
              <a:solidFill>
                <a:schemeClr val="tx1"/>
              </a:solidFill>
            </a:endParaRPr>
          </a:p>
          <a:p>
            <a:pPr marL="0">
              <a:buNone/>
            </a:pP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변수명은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kospi_top10)</a:t>
            </a:r>
            <a:r>
              <a:rPr lang="ko-KR" altLang="en-US" dirty="0" err="1">
                <a:solidFill>
                  <a:schemeClr val="tx1"/>
                </a:solidFill>
              </a:rPr>
              <a:t>으로</a:t>
            </a:r>
            <a:r>
              <a:rPr lang="ko-KR" altLang="en-US" dirty="0">
                <a:solidFill>
                  <a:schemeClr val="tx1"/>
                </a:solidFill>
              </a:rPr>
              <a:t> 합시다</a:t>
            </a:r>
            <a:r>
              <a:rPr lang="en-US" altLang="ko-KR" dirty="0">
                <a:solidFill>
                  <a:schemeClr val="tx1"/>
                </a:solidFill>
              </a:rPr>
              <a:t>.)</a:t>
            </a:r>
          </a:p>
          <a:p>
            <a:pPr marL="0"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 marL="0">
              <a:buNone/>
            </a:pPr>
            <a:r>
              <a:rPr lang="ko-KR" altLang="en-US" dirty="0">
                <a:solidFill>
                  <a:schemeClr val="tx1"/>
                </a:solidFill>
              </a:rPr>
              <a:t>순위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등만 나오도록 </a:t>
            </a:r>
            <a:r>
              <a:rPr lang="en-US" altLang="ko-KR" dirty="0">
                <a:solidFill>
                  <a:schemeClr val="tx1"/>
                </a:solidFill>
              </a:rPr>
              <a:t>code</a:t>
            </a:r>
            <a:r>
              <a:rPr lang="ko-KR" altLang="en-US" dirty="0" err="1">
                <a:solidFill>
                  <a:schemeClr val="tx1"/>
                </a:solidFill>
              </a:rPr>
              <a:t>를</a:t>
            </a:r>
            <a:r>
              <a:rPr lang="ko-KR" altLang="en-US" dirty="0">
                <a:solidFill>
                  <a:schemeClr val="tx1"/>
                </a:solidFill>
              </a:rPr>
              <a:t> 작성해 주세요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*</a:t>
            </a:r>
            <a:r>
              <a:rPr lang="en-US" altLang="ko-KR" dirty="0">
                <a:solidFill>
                  <a:schemeClr val="tx1"/>
                </a:solidFill>
              </a:rPr>
              <a:t>hint: index)</a:t>
            </a:r>
          </a:p>
          <a:p>
            <a:pPr marL="0">
              <a:buNone/>
            </a:pPr>
            <a:r>
              <a:rPr lang="ko-KR" altLang="en-US" dirty="0">
                <a:solidFill>
                  <a:schemeClr val="tx1"/>
                </a:solidFill>
              </a:rPr>
              <a:t>순위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위 </a:t>
            </a:r>
            <a:r>
              <a:rPr lang="ko-KR" altLang="en-US" dirty="0" err="1">
                <a:solidFill>
                  <a:schemeClr val="tx1"/>
                </a:solidFill>
              </a:rPr>
              <a:t>부터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위 까지 나오는 </a:t>
            </a:r>
            <a:r>
              <a:rPr lang="en-US" altLang="ko-KR" dirty="0">
                <a:solidFill>
                  <a:schemeClr val="tx1"/>
                </a:solidFill>
              </a:rPr>
              <a:t>code</a:t>
            </a:r>
            <a:r>
              <a:rPr lang="ko-KR" altLang="en-US" dirty="0" err="1">
                <a:solidFill>
                  <a:schemeClr val="tx1"/>
                </a:solidFill>
              </a:rPr>
              <a:t>를</a:t>
            </a:r>
            <a:r>
              <a:rPr lang="ko-KR" altLang="en-US" dirty="0">
                <a:solidFill>
                  <a:schemeClr val="tx1"/>
                </a:solidFill>
              </a:rPr>
              <a:t> 작성해 주세요</a:t>
            </a:r>
            <a:r>
              <a:rPr lang="en-US" altLang="ko-KR" dirty="0">
                <a:solidFill>
                  <a:schemeClr val="tx1"/>
                </a:solidFill>
              </a:rPr>
              <a:t> (*hint: slicing)</a:t>
            </a:r>
          </a:p>
          <a:p>
            <a:pPr marL="0">
              <a:buNone/>
            </a:pPr>
            <a:r>
              <a:rPr lang="ko-KR" altLang="en-US" dirty="0">
                <a:solidFill>
                  <a:schemeClr val="tx1"/>
                </a:solidFill>
              </a:rPr>
              <a:t>순위 </a:t>
            </a:r>
            <a:r>
              <a:rPr lang="en-US" altLang="ko-KR" dirty="0">
                <a:solidFill>
                  <a:schemeClr val="tx1"/>
                </a:solidFill>
              </a:rPr>
              <a:t>6</a:t>
            </a:r>
            <a:r>
              <a:rPr lang="ko-KR" altLang="en-US" dirty="0">
                <a:solidFill>
                  <a:schemeClr val="tx1"/>
                </a:solidFill>
              </a:rPr>
              <a:t>위 </a:t>
            </a:r>
            <a:r>
              <a:rPr lang="ko-KR" altLang="en-US" dirty="0" err="1">
                <a:solidFill>
                  <a:schemeClr val="tx1"/>
                </a:solidFill>
              </a:rPr>
              <a:t>부터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10</a:t>
            </a:r>
            <a:r>
              <a:rPr lang="ko-KR" altLang="en-US" dirty="0">
                <a:solidFill>
                  <a:schemeClr val="tx1"/>
                </a:solidFill>
              </a:rPr>
              <a:t>위 까지 나오는 </a:t>
            </a:r>
            <a:r>
              <a:rPr lang="en-US" altLang="ko-KR" dirty="0">
                <a:solidFill>
                  <a:schemeClr val="tx1"/>
                </a:solidFill>
              </a:rPr>
              <a:t>code</a:t>
            </a:r>
            <a:r>
              <a:rPr lang="ko-KR" altLang="en-US" dirty="0" err="1">
                <a:solidFill>
                  <a:schemeClr val="tx1"/>
                </a:solidFill>
              </a:rPr>
              <a:t>를</a:t>
            </a:r>
            <a:r>
              <a:rPr lang="ko-KR" altLang="en-US" dirty="0">
                <a:solidFill>
                  <a:schemeClr val="tx1"/>
                </a:solidFill>
              </a:rPr>
              <a:t> 작성해 주세요</a:t>
            </a:r>
            <a:endParaRPr lang="en-US" altLang="ko-KR" dirty="0">
              <a:solidFill>
                <a:schemeClr val="tx1"/>
              </a:solidFill>
            </a:endParaRPr>
          </a:p>
          <a:p>
            <a:pPr marL="0"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 marL="0">
              <a:buNone/>
            </a:pP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BABAF-7191-034B-B8B2-933859B4C2FA}"/>
              </a:ext>
            </a:extLst>
          </p:cNvPr>
          <p:cNvSpPr txBox="1"/>
          <p:nvPr/>
        </p:nvSpPr>
        <p:spPr>
          <a:xfrm>
            <a:off x="754144" y="484631"/>
            <a:ext cx="6340519" cy="16384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5100" cap="all" spc="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1-3) list slicing</a:t>
            </a:r>
            <a:endParaRPr lang="en-US" sz="5100" cap="all" spc="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79763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0E1C-E3B6-8B41-8611-B3A66D3D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80169"/>
            <a:ext cx="10178322" cy="51631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1) append method </a:t>
            </a:r>
          </a:p>
          <a:p>
            <a:pPr marL="0" indent="0">
              <a:buNone/>
            </a:pPr>
            <a:r>
              <a:rPr lang="ko-KR" altLang="en-US" sz="2800" dirty="0">
                <a:solidFill>
                  <a:schemeClr val="tx1"/>
                </a:solidFill>
              </a:rPr>
              <a:t>앞의 순위에 </a:t>
            </a:r>
            <a:r>
              <a:rPr lang="en-US" altLang="ko-KR" sz="2800" dirty="0">
                <a:solidFill>
                  <a:schemeClr val="tx1"/>
                </a:solidFill>
              </a:rPr>
              <a:t>11</a:t>
            </a:r>
            <a:r>
              <a:rPr lang="ko-KR" altLang="en-US" sz="2800" dirty="0">
                <a:solidFill>
                  <a:schemeClr val="tx1"/>
                </a:solidFill>
              </a:rPr>
              <a:t>등을 넣고 싶을 때</a:t>
            </a:r>
            <a:r>
              <a:rPr lang="en-US" altLang="ko-KR" sz="2800" dirty="0">
                <a:solidFill>
                  <a:schemeClr val="tx1"/>
                </a:solidFill>
              </a:rPr>
              <a:t>!  </a:t>
            </a:r>
            <a:r>
              <a:rPr lang="ko-KR" altLang="en-US" sz="2800" dirty="0">
                <a:solidFill>
                  <a:schemeClr val="tx1"/>
                </a:solidFill>
              </a:rPr>
              <a:t>그러나</a:t>
            </a:r>
            <a:r>
              <a:rPr lang="en-US" altLang="ko-KR" sz="2800" dirty="0">
                <a:solidFill>
                  <a:schemeClr val="tx1"/>
                </a:solidFill>
              </a:rPr>
              <a:t> append</a:t>
            </a:r>
            <a:r>
              <a:rPr lang="ko-KR" altLang="en-US" sz="2800" dirty="0">
                <a:solidFill>
                  <a:schemeClr val="tx1"/>
                </a:solidFill>
              </a:rPr>
              <a:t>는 </a:t>
            </a:r>
            <a:r>
              <a:rPr lang="en-US" altLang="ko-KR" sz="2800" dirty="0">
                <a:solidFill>
                  <a:schemeClr val="tx1"/>
                </a:solidFill>
              </a:rPr>
              <a:t>data</a:t>
            </a:r>
            <a:r>
              <a:rPr lang="ko-KR" altLang="en-US" sz="2800" dirty="0" err="1">
                <a:solidFill>
                  <a:schemeClr val="tx1"/>
                </a:solidFill>
              </a:rPr>
              <a:t>를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list</a:t>
            </a:r>
            <a:r>
              <a:rPr lang="ko-KR" altLang="en-US" sz="2800" dirty="0">
                <a:solidFill>
                  <a:schemeClr val="tx1"/>
                </a:solidFill>
              </a:rPr>
              <a:t> 끝에만 삽입 가능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2) insert method</a:t>
            </a:r>
          </a:p>
          <a:p>
            <a:pPr marL="0" indent="0">
              <a:buNone/>
            </a:pPr>
            <a:r>
              <a:rPr lang="ko-KR" altLang="en-US" sz="2800" dirty="0">
                <a:solidFill>
                  <a:schemeClr val="tx1"/>
                </a:solidFill>
              </a:rPr>
              <a:t>원하는 위치에 </a:t>
            </a:r>
            <a:r>
              <a:rPr lang="en-US" altLang="ko-KR" sz="2800" dirty="0">
                <a:solidFill>
                  <a:schemeClr val="tx1"/>
                </a:solidFill>
              </a:rPr>
              <a:t>data </a:t>
            </a:r>
            <a:r>
              <a:rPr lang="ko-KR" altLang="en-US" sz="2800" dirty="0">
                <a:solidFill>
                  <a:schemeClr val="tx1"/>
                </a:solidFill>
              </a:rPr>
              <a:t>삽입 할 수 있음</a:t>
            </a:r>
            <a:r>
              <a:rPr lang="en-US" altLang="ko-KR" sz="2800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800" dirty="0">
                <a:solidFill>
                  <a:schemeClr val="tx1"/>
                </a:solidFill>
              </a:rPr>
              <a:t>결과를 확인해 보아요</a:t>
            </a:r>
            <a:r>
              <a:rPr lang="en-US" altLang="ko-KR" sz="280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BABAF-7191-034B-B8B2-933859B4C2FA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1-4)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>
                <a:latin typeface="Arial Rounded MT Bold" panose="020F0704030504030204" pitchFamily="34" charset="77"/>
              </a:rPr>
              <a:t>list</a:t>
            </a:r>
            <a:r>
              <a:rPr lang="ko-KR" altLang="en-US" sz="5400" dirty="0">
                <a:latin typeface="Arial Rounded MT Bold" panose="020F0704030504030204" pitchFamily="34" charset="77"/>
              </a:rPr>
              <a:t>에 </a:t>
            </a:r>
            <a:r>
              <a:rPr lang="en-US" altLang="ko-KR" sz="5400" dirty="0">
                <a:latin typeface="Arial Rounded MT Bold" panose="020F0704030504030204" pitchFamily="34" charset="77"/>
              </a:rPr>
              <a:t>data</a:t>
            </a:r>
            <a:r>
              <a:rPr lang="ko-KR" altLang="en-US" sz="5400" dirty="0">
                <a:latin typeface="Arial Rounded MT Bold" panose="020F0704030504030204" pitchFamily="34" charset="77"/>
              </a:rPr>
              <a:t> 삽입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26666F-0B4B-414E-9D1F-15E6F986F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609" y="2715140"/>
            <a:ext cx="5228901" cy="7936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772C83-1839-9C4E-A54C-C3B30CE8C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608" y="4943925"/>
            <a:ext cx="5228902" cy="71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370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0E1C-E3B6-8B41-8611-B3A66D3D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46029"/>
            <a:ext cx="10178322" cy="443356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>
                <a:solidFill>
                  <a:schemeClr val="tx1"/>
                </a:solidFill>
              </a:rPr>
              <a:t>앞에서</a:t>
            </a:r>
            <a:r>
              <a:rPr lang="en-US" altLang="ko-KR" dirty="0">
                <a:solidFill>
                  <a:schemeClr val="tx1"/>
                </a:solidFill>
              </a:rPr>
              <a:t> data</a:t>
            </a:r>
            <a:r>
              <a:rPr lang="ko-KR" altLang="en-US" dirty="0" err="1">
                <a:solidFill>
                  <a:schemeClr val="tx1"/>
                </a:solidFill>
              </a:rPr>
              <a:t>를</a:t>
            </a:r>
            <a:r>
              <a:rPr lang="ko-KR" altLang="en-US" dirty="0">
                <a:solidFill>
                  <a:schemeClr val="tx1"/>
                </a:solidFill>
              </a:rPr>
              <a:t> 추가해서 </a:t>
            </a:r>
            <a:r>
              <a:rPr lang="en-US" altLang="ko-KR" dirty="0">
                <a:solidFill>
                  <a:schemeClr val="tx1"/>
                </a:solidFill>
              </a:rPr>
              <a:t>top10</a:t>
            </a:r>
            <a:r>
              <a:rPr lang="ko-KR" altLang="en-US" dirty="0">
                <a:solidFill>
                  <a:schemeClr val="tx1"/>
                </a:solidFill>
              </a:rPr>
              <a:t>이 </a:t>
            </a:r>
            <a:r>
              <a:rPr lang="en-US" altLang="ko-KR" dirty="0">
                <a:solidFill>
                  <a:schemeClr val="tx1"/>
                </a:solidFill>
              </a:rPr>
              <a:t>top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12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+</a:t>
            </a:r>
            <a:r>
              <a:rPr lang="ko-KR" altLang="en-US" dirty="0">
                <a:solidFill>
                  <a:schemeClr val="tx1"/>
                </a:solidFill>
              </a:rPr>
              <a:t> 알파가 되었네요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tx1"/>
                </a:solidFill>
              </a:rPr>
              <a:t>다시 </a:t>
            </a:r>
            <a:r>
              <a:rPr lang="en-US" altLang="ko-KR" dirty="0">
                <a:solidFill>
                  <a:schemeClr val="tx1"/>
                </a:solidFill>
              </a:rPr>
              <a:t>10</a:t>
            </a:r>
            <a:r>
              <a:rPr lang="ko-KR" altLang="en-US" dirty="0">
                <a:solidFill>
                  <a:schemeClr val="tx1"/>
                </a:solidFill>
              </a:rPr>
              <a:t>등 </a:t>
            </a:r>
            <a:r>
              <a:rPr lang="ko-KR" altLang="en-US" dirty="0" err="1">
                <a:solidFill>
                  <a:schemeClr val="tx1"/>
                </a:solidFill>
              </a:rPr>
              <a:t>까지로</a:t>
            </a:r>
            <a:r>
              <a:rPr lang="ko-KR" altLang="en-US" dirty="0">
                <a:solidFill>
                  <a:schemeClr val="tx1"/>
                </a:solidFill>
              </a:rPr>
              <a:t> 맞춰 봅시다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len</a:t>
            </a:r>
            <a:r>
              <a:rPr lang="en-US" dirty="0">
                <a:solidFill>
                  <a:schemeClr val="tx1"/>
                </a:solidFill>
              </a:rPr>
              <a:t>(kospi_top10)</a:t>
            </a:r>
            <a:r>
              <a:rPr lang="ko-KR" altLang="en-US" dirty="0" err="1">
                <a:solidFill>
                  <a:schemeClr val="tx1"/>
                </a:solidFill>
              </a:rPr>
              <a:t>으로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data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갯수</a:t>
            </a:r>
            <a:r>
              <a:rPr lang="ko-KR" altLang="en-US" dirty="0">
                <a:solidFill>
                  <a:schemeClr val="tx1"/>
                </a:solidFill>
              </a:rPr>
              <a:t> 확인 가능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del</a:t>
            </a:r>
            <a:r>
              <a:rPr lang="ko-KR" altLang="en-US" dirty="0">
                <a:solidFill>
                  <a:schemeClr val="tx1"/>
                </a:solidFill>
              </a:rPr>
              <a:t>로 지운다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BABAF-7191-034B-B8B2-933859B4C2FA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1-5)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>
                <a:latin typeface="Arial Rounded MT Bold" panose="020F0704030504030204" pitchFamily="34" charset="77"/>
              </a:rPr>
              <a:t>list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>
                <a:latin typeface="Arial Rounded MT Bold" panose="020F0704030504030204" pitchFamily="34" charset="77"/>
              </a:rPr>
              <a:t>data delete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0D0D43-E326-D649-8BFD-8D0AC7E67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73" y="3662811"/>
            <a:ext cx="4474690" cy="18382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1AD86B-2ACD-6F45-A151-5494C8C69F36}"/>
              </a:ext>
            </a:extLst>
          </p:cNvPr>
          <p:cNvSpPr txBox="1"/>
          <p:nvPr/>
        </p:nvSpPr>
        <p:spPr>
          <a:xfrm>
            <a:off x="6029758" y="3832932"/>
            <a:ext cx="414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이런 식으로 지우면 됩니다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411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0E1C-E3B6-8B41-8611-B3A66D3D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09823"/>
            <a:ext cx="10178322" cy="48909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tuple </a:t>
            </a:r>
            <a:r>
              <a:rPr lang="ko-KR" altLang="en-US" sz="2800" dirty="0">
                <a:solidFill>
                  <a:schemeClr val="tx1"/>
                </a:solidFill>
              </a:rPr>
              <a:t>자료구조에도 순서가 있습니다</a:t>
            </a:r>
            <a:r>
              <a:rPr lang="en-US" altLang="ko-KR" sz="2800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list</a:t>
            </a:r>
            <a:r>
              <a:rPr lang="ko-KR" altLang="en-US" sz="2800" dirty="0" err="1">
                <a:solidFill>
                  <a:schemeClr val="tx1"/>
                </a:solidFill>
              </a:rPr>
              <a:t>와의</a:t>
            </a:r>
            <a:r>
              <a:rPr lang="ko-KR" altLang="en-US" sz="2800" dirty="0">
                <a:solidFill>
                  <a:schemeClr val="tx1"/>
                </a:solidFill>
              </a:rPr>
              <a:t> 차이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514350" indent="-514350">
              <a:buAutoNum type="arabicParenR"/>
            </a:pPr>
            <a:r>
              <a:rPr lang="en-US" altLang="ko-KR" sz="2800" dirty="0">
                <a:solidFill>
                  <a:schemeClr val="tx1"/>
                </a:solidFill>
              </a:rPr>
              <a:t>list</a:t>
            </a:r>
            <a:r>
              <a:rPr lang="ko-KR" altLang="en-US" sz="2800" dirty="0">
                <a:solidFill>
                  <a:schemeClr val="tx1"/>
                </a:solidFill>
              </a:rPr>
              <a:t>는 </a:t>
            </a:r>
            <a:r>
              <a:rPr lang="en-US" altLang="ko-KR" sz="2800" dirty="0">
                <a:solidFill>
                  <a:schemeClr val="tx1"/>
                </a:solidFill>
              </a:rPr>
              <a:t>[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]</a:t>
            </a:r>
            <a:r>
              <a:rPr lang="ko-KR" altLang="en-US" sz="2800" dirty="0">
                <a:solidFill>
                  <a:schemeClr val="tx1"/>
                </a:solidFill>
              </a:rPr>
              <a:t> 사용</a:t>
            </a:r>
            <a:r>
              <a:rPr lang="en-US" altLang="ko-KR" sz="2800" dirty="0">
                <a:solidFill>
                  <a:schemeClr val="tx1"/>
                </a:solidFill>
              </a:rPr>
              <a:t>,</a:t>
            </a:r>
            <a:r>
              <a:rPr lang="ko-KR" altLang="en-US" sz="2800" dirty="0">
                <a:solidFill>
                  <a:schemeClr val="tx1"/>
                </a:solidFill>
              </a:rPr>
              <a:t>  </a:t>
            </a:r>
            <a:r>
              <a:rPr lang="en-US" altLang="ko-KR" sz="2800" dirty="0">
                <a:solidFill>
                  <a:schemeClr val="tx1"/>
                </a:solidFill>
              </a:rPr>
              <a:t>tuple</a:t>
            </a:r>
            <a:r>
              <a:rPr lang="ko-KR" altLang="en-US" sz="2800" dirty="0">
                <a:solidFill>
                  <a:schemeClr val="tx1"/>
                </a:solidFill>
              </a:rPr>
              <a:t>은 </a:t>
            </a:r>
            <a:r>
              <a:rPr lang="en-US" altLang="ko-KR" sz="2800" dirty="0">
                <a:solidFill>
                  <a:schemeClr val="tx1"/>
                </a:solidFill>
              </a:rPr>
              <a:t>()</a:t>
            </a:r>
            <a:r>
              <a:rPr lang="ko-KR" altLang="en-US" sz="2800" dirty="0">
                <a:solidFill>
                  <a:schemeClr val="tx1"/>
                </a:solidFill>
              </a:rPr>
              <a:t>사용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514350" indent="-514350">
              <a:buAutoNum type="arabicParenR"/>
            </a:pPr>
            <a:r>
              <a:rPr lang="en-US" altLang="ko-KR" sz="2800" dirty="0">
                <a:solidFill>
                  <a:schemeClr val="tx1"/>
                </a:solidFill>
              </a:rPr>
              <a:t>tuple</a:t>
            </a:r>
            <a:r>
              <a:rPr lang="ko-KR" altLang="en-US" sz="2800" dirty="0">
                <a:solidFill>
                  <a:schemeClr val="tx1"/>
                </a:solidFill>
              </a:rPr>
              <a:t>은 안의 원소를 변경할 수 없다</a:t>
            </a:r>
            <a:r>
              <a:rPr lang="en-US" altLang="ko-KR" sz="2800" dirty="0">
                <a:solidFill>
                  <a:schemeClr val="tx1"/>
                </a:solidFill>
              </a:rPr>
              <a:t>!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/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data</a:t>
            </a:r>
            <a:r>
              <a:rPr lang="ko-KR" altLang="en-US" sz="2800" dirty="0">
                <a:solidFill>
                  <a:schemeClr val="tx1"/>
                </a:solidFill>
              </a:rPr>
              <a:t>삭제도 할 수 없음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514350" indent="-514350">
              <a:buAutoNum type="arabicParenR"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tuple</a:t>
            </a:r>
            <a:r>
              <a:rPr lang="ko-KR" altLang="en-US" sz="2800" dirty="0">
                <a:solidFill>
                  <a:schemeClr val="tx1"/>
                </a:solidFill>
              </a:rPr>
              <a:t>  왜 쓰는 거죠</a:t>
            </a:r>
            <a:r>
              <a:rPr lang="en-US" altLang="ko-KR" sz="2800" dirty="0">
                <a:solidFill>
                  <a:schemeClr val="tx1"/>
                </a:solidFill>
              </a:rPr>
              <a:t>?</a:t>
            </a:r>
          </a:p>
          <a:p>
            <a:pPr>
              <a:buFontTx/>
              <a:buChar char="-"/>
            </a:pPr>
            <a:r>
              <a:rPr lang="en-US" altLang="ko-KR" sz="2800" dirty="0">
                <a:solidFill>
                  <a:schemeClr val="tx1"/>
                </a:solidFill>
              </a:rPr>
              <a:t>list</a:t>
            </a:r>
            <a:r>
              <a:rPr lang="ko-KR" altLang="en-US" sz="2800" dirty="0">
                <a:solidFill>
                  <a:schemeClr val="tx1"/>
                </a:solidFill>
              </a:rPr>
              <a:t>보다 속도가 빠름</a:t>
            </a:r>
            <a:endParaRPr lang="en-US" altLang="ko-KR" sz="2800" dirty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sz="2800" dirty="0">
                <a:solidFill>
                  <a:schemeClr val="tx1"/>
                </a:solidFill>
              </a:rPr>
              <a:t>한 번 데이터를 입력한 후 추가나 삭제 할 필요가 없는 경우 사용하면 좋음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514350" indent="-514350">
              <a:buAutoNum type="arabicParenR"/>
            </a:pPr>
            <a:endParaRPr lang="en-US" altLang="ko-KR" sz="2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BABAF-7191-034B-B8B2-933859B4C2FA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2. tuple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08978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EBABAF-7191-034B-B8B2-933859B4C2FA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Arial Rounded MT Bold" panose="020F0704030504030204" pitchFamily="34" charset="77"/>
              </a:rPr>
              <a:t>tuple </a:t>
            </a:r>
            <a:r>
              <a:rPr lang="ko-KR" altLang="en-US" sz="5400" dirty="0">
                <a:latin typeface="Arial Rounded MT Bold" panose="020F0704030504030204" pitchFamily="34" charset="77"/>
              </a:rPr>
              <a:t>쓰는 법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7D822F-BD84-F549-962D-CD0D4988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76" y="3587200"/>
            <a:ext cx="9462209" cy="23097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EC942C-E8D5-A74E-8589-A206C5D99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77" y="1570611"/>
            <a:ext cx="4176086" cy="20165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2EC649-E47D-7948-822F-9CA6993D26D9}"/>
              </a:ext>
            </a:extLst>
          </p:cNvPr>
          <p:cNvSpPr txBox="1"/>
          <p:nvPr/>
        </p:nvSpPr>
        <p:spPr>
          <a:xfrm>
            <a:off x="1701976" y="6124352"/>
            <a:ext cx="984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tuple</a:t>
            </a:r>
            <a:r>
              <a:rPr lang="ko-KR" altLang="en-US" sz="2000" dirty="0"/>
              <a:t>은 </a:t>
            </a:r>
            <a:r>
              <a:rPr lang="en-US" altLang="ko-KR" sz="2000" dirty="0"/>
              <a:t>list</a:t>
            </a:r>
            <a:r>
              <a:rPr lang="ko-KR" altLang="en-US" sz="2000" dirty="0"/>
              <a:t>와 달리 원소를 수정할 수 없기 때문에 원소 내용을 바꾸려고 하면 </a:t>
            </a:r>
            <a:r>
              <a:rPr lang="en-US" altLang="ko-KR" sz="2000" dirty="0"/>
              <a:t>error</a:t>
            </a:r>
            <a:r>
              <a:rPr lang="ko-KR" altLang="en-US" sz="2000" dirty="0"/>
              <a:t>발생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110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0E1C-E3B6-8B41-8611-B3A66D3D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73619"/>
            <a:ext cx="10178322" cy="47846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sz="2800" dirty="0" err="1">
                <a:solidFill>
                  <a:schemeClr val="tx1"/>
                </a:solidFill>
              </a:rPr>
              <a:t>똑같아윰</a:t>
            </a:r>
            <a:r>
              <a:rPr lang="en-US" altLang="ko-KR" sz="2800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chemeClr val="tx1"/>
                </a:solidFill>
              </a:rPr>
              <a:t>my_tup</a:t>
            </a:r>
            <a:r>
              <a:rPr lang="en-US" sz="2800" dirty="0">
                <a:solidFill>
                  <a:schemeClr val="tx1"/>
                </a:solidFill>
              </a:rPr>
              <a:t>[:2]</a:t>
            </a:r>
          </a:p>
          <a:p>
            <a:pPr marL="0" indent="0">
              <a:buNone/>
            </a:pPr>
            <a:r>
              <a:rPr lang="en-US" sz="2800" dirty="0" err="1">
                <a:solidFill>
                  <a:schemeClr val="tx1"/>
                </a:solidFill>
              </a:rPr>
              <a:t>my_tup</a:t>
            </a:r>
            <a:r>
              <a:rPr lang="en-US" sz="2800" dirty="0">
                <a:solidFill>
                  <a:schemeClr val="tx1"/>
                </a:solidFill>
              </a:rPr>
              <a:t>[1:]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my </a:t>
            </a:r>
            <a:r>
              <a:rPr lang="en-US" sz="2800" dirty="0" err="1">
                <a:solidFill>
                  <a:schemeClr val="tx1"/>
                </a:solidFill>
              </a:rPr>
              <a:t>tup</a:t>
            </a:r>
            <a:r>
              <a:rPr lang="en-US" sz="2800" dirty="0">
                <a:solidFill>
                  <a:schemeClr val="tx1"/>
                </a:solidFill>
              </a:rPr>
              <a:t>[0:1]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800" dirty="0">
                <a:solidFill>
                  <a:schemeClr val="tx1"/>
                </a:solidFill>
              </a:rPr>
              <a:t>*주의할 점*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tuple = (, , ,)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slicing</a:t>
            </a:r>
            <a:r>
              <a:rPr lang="ko-KR" altLang="en-US" sz="2800" dirty="0">
                <a:solidFill>
                  <a:schemeClr val="tx1"/>
                </a:solidFill>
              </a:rPr>
              <a:t> 은 </a:t>
            </a:r>
            <a:r>
              <a:rPr lang="en-US" altLang="ko-KR" sz="2800" dirty="0">
                <a:solidFill>
                  <a:schemeClr val="tx1"/>
                </a:solidFill>
              </a:rPr>
              <a:t>[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tuple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=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[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: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]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BABAF-7191-034B-B8B2-933859B4C2FA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2-1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>
                <a:latin typeface="Arial Rounded MT Bold" panose="020F0704030504030204" pitchFamily="34" charset="77"/>
              </a:rPr>
              <a:t>tuple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>
                <a:latin typeface="Arial Rounded MT Bold" panose="020F0704030504030204" pitchFamily="34" charset="77"/>
              </a:rPr>
              <a:t>slicing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0ECF4A-94AA-C54E-A95F-EF25B6AF2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726" y="1842543"/>
            <a:ext cx="6825218" cy="424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06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0E1C-E3B6-8B41-8611-B3A66D3D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943" y="1280169"/>
            <a:ext cx="10164726" cy="5577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key</a:t>
            </a:r>
            <a:r>
              <a:rPr lang="ko-KR" altLang="en-US" sz="2400" dirty="0">
                <a:solidFill>
                  <a:schemeClr val="tx1"/>
                </a:solidFill>
              </a:rPr>
              <a:t>값과 </a:t>
            </a:r>
            <a:r>
              <a:rPr lang="en-US" altLang="ko-KR" sz="2400" dirty="0">
                <a:solidFill>
                  <a:schemeClr val="tx1"/>
                </a:solidFill>
              </a:rPr>
              <a:t>value</a:t>
            </a:r>
            <a:r>
              <a:rPr lang="ko-KR" altLang="en-US" sz="2400" dirty="0">
                <a:solidFill>
                  <a:schemeClr val="tx1"/>
                </a:solidFill>
              </a:rPr>
              <a:t>값이 있어 쌍으로 저장함</a:t>
            </a:r>
            <a:r>
              <a:rPr lang="en-US" altLang="ko-KR" sz="2400" dirty="0">
                <a:solidFill>
                  <a:schemeClr val="tx1"/>
                </a:solidFill>
              </a:rPr>
              <a:t>/ </a:t>
            </a:r>
            <a:r>
              <a:rPr lang="en-US" altLang="ko-KR" sz="2400" u="sng" dirty="0">
                <a:solidFill>
                  <a:schemeClr val="tx1"/>
                </a:solidFill>
              </a:rPr>
              <a:t>{</a:t>
            </a:r>
            <a:r>
              <a:rPr lang="ko-KR" altLang="en-US" sz="2400" u="sng" dirty="0">
                <a:solidFill>
                  <a:schemeClr val="tx1"/>
                </a:solidFill>
              </a:rPr>
              <a:t> </a:t>
            </a:r>
            <a:r>
              <a:rPr lang="en-US" altLang="ko-KR" sz="2400" u="sng" dirty="0">
                <a:solidFill>
                  <a:schemeClr val="tx1"/>
                </a:solidFill>
              </a:rPr>
              <a:t>}</a:t>
            </a:r>
            <a:r>
              <a:rPr lang="ko-KR" altLang="en-US" sz="2400" u="sng" dirty="0">
                <a:solidFill>
                  <a:schemeClr val="tx1"/>
                </a:solidFill>
              </a:rPr>
              <a:t> </a:t>
            </a:r>
            <a:r>
              <a:rPr lang="ko-KR" altLang="en-US" sz="2400" u="sng" dirty="0" err="1">
                <a:solidFill>
                  <a:schemeClr val="tx1"/>
                </a:solidFill>
              </a:rPr>
              <a:t>를</a:t>
            </a:r>
            <a:r>
              <a:rPr lang="ko-KR" altLang="en-US" sz="2400" u="sng" dirty="0">
                <a:solidFill>
                  <a:schemeClr val="tx1"/>
                </a:solidFill>
              </a:rPr>
              <a:t> 사용함</a:t>
            </a:r>
            <a:r>
              <a:rPr lang="en-US" altLang="ko-KR" sz="2400" u="sng" dirty="0">
                <a:solidFill>
                  <a:schemeClr val="tx1"/>
                </a:solidFill>
              </a:rPr>
              <a:t>!</a:t>
            </a:r>
            <a:r>
              <a:rPr lang="ko-KR" altLang="en-US" sz="2400" u="sng" dirty="0">
                <a:solidFill>
                  <a:schemeClr val="tx1"/>
                </a:solidFill>
              </a:rPr>
              <a:t> 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400" dirty="0">
                <a:solidFill>
                  <a:schemeClr val="tx1"/>
                </a:solidFill>
              </a:rPr>
              <a:t>순서가 없는 자료 구조임 </a:t>
            </a:r>
            <a:r>
              <a:rPr lang="en-US" altLang="ko-KR" sz="2400" dirty="0">
                <a:solidFill>
                  <a:schemeClr val="tx1"/>
                </a:solidFill>
              </a:rPr>
              <a:t>-&gt; </a:t>
            </a:r>
            <a:r>
              <a:rPr lang="en-US" altLang="ko-KR" sz="2400" dirty="0" err="1">
                <a:solidFill>
                  <a:schemeClr val="tx1"/>
                </a:solidFill>
              </a:rPr>
              <a:t>indexting</a:t>
            </a:r>
            <a:r>
              <a:rPr lang="ko-KR" altLang="en-US" sz="2400" dirty="0">
                <a:solidFill>
                  <a:schemeClr val="tx1"/>
                </a:solidFill>
              </a:rPr>
              <a:t>을 지원하지 않음</a:t>
            </a:r>
            <a:endParaRPr lang="en-US" altLang="ko-KR" sz="24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ex) </a:t>
            </a:r>
            <a:r>
              <a:rPr lang="ko-KR" altLang="en-US" sz="2400" dirty="0">
                <a:solidFill>
                  <a:schemeClr val="tx1"/>
                </a:solidFill>
              </a:rPr>
              <a:t>주식에서 여러 종목의 </a:t>
            </a:r>
            <a:r>
              <a:rPr lang="ko-KR" altLang="en-US" sz="2400" dirty="0" err="1">
                <a:solidFill>
                  <a:schemeClr val="tx1"/>
                </a:solidFill>
              </a:rPr>
              <a:t>현재가를</a:t>
            </a:r>
            <a:r>
              <a:rPr lang="ko-KR" altLang="en-US" sz="2400" dirty="0">
                <a:solidFill>
                  <a:schemeClr val="tx1"/>
                </a:solidFill>
              </a:rPr>
              <a:t> 저장하는 프로그램을 만든다고 생각해보자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400" dirty="0" err="1">
                <a:solidFill>
                  <a:schemeClr val="tx1"/>
                </a:solidFill>
              </a:rPr>
              <a:t>dic</a:t>
            </a:r>
            <a:r>
              <a:rPr lang="ko-KR" altLang="en-US" sz="2400" dirty="0">
                <a:solidFill>
                  <a:schemeClr val="tx1"/>
                </a:solidFill>
              </a:rPr>
              <a:t>에</a:t>
            </a:r>
            <a:r>
              <a:rPr lang="en-US" altLang="ko-KR" sz="2400" dirty="0">
                <a:solidFill>
                  <a:schemeClr val="tx1"/>
                </a:solidFill>
              </a:rPr>
              <a:t> key-value</a:t>
            </a:r>
            <a:r>
              <a:rPr lang="ko-KR" altLang="en-US" sz="2400" dirty="0">
                <a:solidFill>
                  <a:schemeClr val="tx1"/>
                </a:solidFill>
              </a:rPr>
              <a:t>값 추가하기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BABAF-7191-034B-B8B2-933859B4C2FA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3) </a:t>
            </a:r>
            <a:r>
              <a:rPr lang="en-US" altLang="ko-KR" sz="5400" dirty="0" err="1">
                <a:latin typeface="Arial Rounded MT Bold" panose="020F0704030504030204" pitchFamily="34" charset="77"/>
              </a:rPr>
              <a:t>Dict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134EAC-790E-3D4F-8A5B-CFB4BCF93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3" y="3707219"/>
            <a:ext cx="3359889" cy="12217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56A413-EBD1-AF46-8B9F-83E1B1F43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942" y="5750726"/>
            <a:ext cx="4580693" cy="3523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3ABA01-7507-074C-BC19-95D1060C0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622106"/>
            <a:ext cx="544386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821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0E1C-E3B6-8B41-8611-B3A66D3D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63658"/>
            <a:ext cx="10178322" cy="4412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tx1"/>
                </a:solidFill>
              </a:rPr>
              <a:t>dict</a:t>
            </a:r>
            <a:r>
              <a:rPr lang="ko-KR" altLang="en-US" sz="2400" dirty="0">
                <a:solidFill>
                  <a:schemeClr val="tx1"/>
                </a:solidFill>
              </a:rPr>
              <a:t>는 데이터를 순서대로 저장하는 것이 아니라 키와 값의 쌍이 서로 연결되도록만 저장합니다</a:t>
            </a:r>
            <a:r>
              <a:rPr lang="en-US" altLang="ko-KR" sz="2400" dirty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dictionary</a:t>
            </a:r>
            <a:r>
              <a:rPr lang="ko-KR" altLang="en-US" sz="2400" dirty="0">
                <a:solidFill>
                  <a:schemeClr val="tx1"/>
                </a:solidFill>
              </a:rPr>
              <a:t>에 우리가 추가한 </a:t>
            </a:r>
            <a:r>
              <a:rPr lang="en-US" altLang="ko-KR" sz="2400" dirty="0">
                <a:solidFill>
                  <a:schemeClr val="tx1"/>
                </a:solidFill>
              </a:rPr>
              <a:t>value(</a:t>
            </a:r>
            <a:r>
              <a:rPr lang="ko-KR" altLang="en-US" sz="2400" dirty="0">
                <a:solidFill>
                  <a:schemeClr val="tx1"/>
                </a:solidFill>
              </a:rPr>
              <a:t>데이터 값</a:t>
            </a:r>
            <a:r>
              <a:rPr lang="en-US" altLang="ko-KR" sz="2400" dirty="0">
                <a:solidFill>
                  <a:schemeClr val="tx1"/>
                </a:solidFill>
              </a:rPr>
              <a:t>)</a:t>
            </a:r>
            <a:r>
              <a:rPr lang="ko-KR" altLang="en-US" sz="2400" dirty="0" err="1">
                <a:solidFill>
                  <a:schemeClr val="tx1"/>
                </a:solidFill>
              </a:rPr>
              <a:t>를</a:t>
            </a:r>
            <a:r>
              <a:rPr lang="ko-KR" altLang="en-US" sz="2400" dirty="0">
                <a:solidFill>
                  <a:schemeClr val="tx1"/>
                </a:solidFill>
              </a:rPr>
              <a:t> 구하려면 </a:t>
            </a:r>
            <a:r>
              <a:rPr lang="en-US" altLang="ko-KR" sz="2400" dirty="0">
                <a:solidFill>
                  <a:schemeClr val="tx1"/>
                </a:solidFill>
              </a:rPr>
              <a:t>key </a:t>
            </a:r>
            <a:r>
              <a:rPr lang="ko-KR" altLang="en-US" sz="2400" dirty="0">
                <a:solidFill>
                  <a:schemeClr val="tx1"/>
                </a:solidFill>
              </a:rPr>
              <a:t>값을 사용해야 합니다</a:t>
            </a:r>
            <a:r>
              <a:rPr lang="en-US" altLang="ko-KR" sz="2400" dirty="0">
                <a:solidFill>
                  <a:schemeClr val="tx1"/>
                </a:solidFill>
              </a:rPr>
              <a:t>!!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BABAF-7191-034B-B8B2-933859B4C2FA}"/>
              </a:ext>
            </a:extLst>
          </p:cNvPr>
          <p:cNvSpPr txBox="1"/>
          <p:nvPr/>
        </p:nvSpPr>
        <p:spPr>
          <a:xfrm>
            <a:off x="1251678" y="356839"/>
            <a:ext cx="9252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3)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 err="1">
                <a:latin typeface="Arial Rounded MT Bold" panose="020F0704030504030204" pitchFamily="34" charset="77"/>
              </a:rPr>
              <a:t>Dict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77AE0A-EA3A-144D-838C-1F35680E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993" y="4231315"/>
            <a:ext cx="3908503" cy="61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129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0E1C-E3B6-8B41-8611-B3A66D3D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88558"/>
            <a:ext cx="10178322" cy="51036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dictionary</a:t>
            </a:r>
            <a:r>
              <a:rPr lang="ko-KR" altLang="en-US" dirty="0"/>
              <a:t>는 </a:t>
            </a:r>
            <a:r>
              <a:rPr lang="en-US" altLang="ko-KR" dirty="0"/>
              <a:t>append</a:t>
            </a:r>
            <a:r>
              <a:rPr lang="ko-KR" altLang="en-US" dirty="0"/>
              <a:t>와 </a:t>
            </a:r>
            <a:r>
              <a:rPr lang="en-US" altLang="ko-KR" dirty="0"/>
              <a:t>insert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 err="1"/>
              <a:t>를</a:t>
            </a:r>
            <a:r>
              <a:rPr lang="ko-KR" altLang="en-US" dirty="0"/>
              <a:t> 지원하지 않습니다</a:t>
            </a:r>
            <a:r>
              <a:rPr lang="en-US" altLang="ko-KR" dirty="0"/>
              <a:t> -&gt; key-value</a:t>
            </a:r>
            <a:r>
              <a:rPr lang="ko-KR" altLang="en-US" dirty="0"/>
              <a:t>값을 넣어야 합니다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앞에서는 </a:t>
            </a:r>
            <a:r>
              <a:rPr lang="en-US" altLang="ko-KR" dirty="0" err="1"/>
              <a:t>cur_price</a:t>
            </a:r>
            <a:r>
              <a:rPr lang="en-US" altLang="ko-KR" dirty="0"/>
              <a:t> = {} </a:t>
            </a:r>
            <a:r>
              <a:rPr lang="ko-KR" altLang="en-US" dirty="0" err="1"/>
              <a:t>라고</a:t>
            </a:r>
            <a:r>
              <a:rPr lang="ko-KR" altLang="en-US" dirty="0"/>
              <a:t> 빈 </a:t>
            </a:r>
            <a:r>
              <a:rPr lang="en-US" altLang="ko-KR" dirty="0" err="1"/>
              <a:t>dict</a:t>
            </a:r>
            <a:r>
              <a:rPr lang="ko-KR" altLang="en-US" dirty="0" err="1"/>
              <a:t>를</a:t>
            </a:r>
            <a:r>
              <a:rPr lang="ko-KR" altLang="en-US" dirty="0"/>
              <a:t> 만들고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cur_price</a:t>
            </a:r>
            <a:r>
              <a:rPr lang="en-US" altLang="ko-KR" dirty="0"/>
              <a:t>[‘apple’] = 80000 </a:t>
            </a:r>
            <a:r>
              <a:rPr lang="ko-KR" altLang="en-US" dirty="0"/>
              <a:t>같이 </a:t>
            </a:r>
            <a:r>
              <a:rPr lang="en-US" altLang="ko-KR" dirty="0"/>
              <a:t>data</a:t>
            </a:r>
            <a:r>
              <a:rPr lang="ko-KR" altLang="en-US" dirty="0" err="1"/>
              <a:t>를</a:t>
            </a:r>
            <a:r>
              <a:rPr lang="ko-KR" altLang="en-US" dirty="0"/>
              <a:t> 추가 해주었지만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처음부터 초기 값이 있는 </a:t>
            </a:r>
            <a:r>
              <a:rPr lang="en-US" altLang="ko-KR" dirty="0" err="1"/>
              <a:t>dict</a:t>
            </a:r>
            <a:r>
              <a:rPr lang="ko-KR" altLang="en-US" dirty="0" err="1"/>
              <a:t>를</a:t>
            </a:r>
            <a:r>
              <a:rPr lang="ko-KR" altLang="en-US" dirty="0"/>
              <a:t> 만들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cur_price2 = {‘CJ’ = 20000 ,  ‘KT’ = 30000}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delete</a:t>
            </a:r>
            <a:r>
              <a:rPr lang="ko-KR" altLang="en-US" dirty="0"/>
              <a:t>방법 </a:t>
            </a:r>
            <a:r>
              <a:rPr lang="en-US" altLang="ko-KR" dirty="0"/>
              <a:t>(list</a:t>
            </a:r>
            <a:r>
              <a:rPr lang="ko-KR" altLang="en-US" dirty="0"/>
              <a:t>에서와 같다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9D200-C509-ED4E-A4C0-1A14E605B595}"/>
              </a:ext>
            </a:extLst>
          </p:cNvPr>
          <p:cNvSpPr txBox="1"/>
          <p:nvPr/>
        </p:nvSpPr>
        <p:spPr>
          <a:xfrm>
            <a:off x="1251678" y="356839"/>
            <a:ext cx="10178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3-1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 err="1">
                <a:latin typeface="Arial Rounded MT Bold" panose="020F0704030504030204" pitchFamily="34" charset="77"/>
              </a:rPr>
              <a:t>dict</a:t>
            </a:r>
            <a:r>
              <a:rPr lang="ko-KR" altLang="en-US" sz="5400" dirty="0">
                <a:latin typeface="Arial Rounded MT Bold" panose="020F0704030504030204" pitchFamily="34" charset="77"/>
              </a:rPr>
              <a:t>에 </a:t>
            </a:r>
            <a:r>
              <a:rPr lang="en-US" altLang="ko-KR" sz="5400" dirty="0">
                <a:latin typeface="Arial Rounded MT Bold" panose="020F0704030504030204" pitchFamily="34" charset="77"/>
              </a:rPr>
              <a:t>data </a:t>
            </a:r>
            <a:r>
              <a:rPr lang="ko-KR" altLang="en-US" sz="5400" dirty="0">
                <a:latin typeface="Arial Rounded MT Bold" panose="020F0704030504030204" pitchFamily="34" charset="77"/>
              </a:rPr>
              <a:t>삽입 </a:t>
            </a:r>
            <a:r>
              <a:rPr lang="en-US" altLang="ko-KR" sz="5400" dirty="0">
                <a:latin typeface="Arial Rounded MT Bold" panose="020F0704030504030204" pitchFamily="34" charset="77"/>
              </a:rPr>
              <a:t>&amp;</a:t>
            </a:r>
            <a:r>
              <a:rPr lang="ko-KR" altLang="en-US" sz="5400" dirty="0">
                <a:latin typeface="Arial Rounded MT Bold" panose="020F0704030504030204" pitchFamily="34" charset="77"/>
              </a:rPr>
              <a:t> </a:t>
            </a:r>
            <a:r>
              <a:rPr lang="en-US" altLang="ko-KR" sz="5400" dirty="0">
                <a:latin typeface="Arial Rounded MT Bold" panose="020F0704030504030204" pitchFamily="34" charset="77"/>
              </a:rPr>
              <a:t>delete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3435B8-D123-CB49-83A2-42A353BBA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7" y="5463362"/>
            <a:ext cx="5766499" cy="78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851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0E1C-E3B6-8B41-8611-B3A66D3D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80169"/>
            <a:ext cx="10178322" cy="4599423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>
                <a:solidFill>
                  <a:schemeClr val="tx1"/>
                </a:solidFill>
              </a:rPr>
              <a:t>key </a:t>
            </a:r>
            <a:r>
              <a:rPr lang="ko-KR" altLang="en-US" dirty="0">
                <a:solidFill>
                  <a:schemeClr val="tx1"/>
                </a:solidFill>
              </a:rPr>
              <a:t>값만 구하고 싶을 때  </a:t>
            </a:r>
            <a:r>
              <a:rPr lang="en-US" altLang="ko-KR" dirty="0">
                <a:solidFill>
                  <a:schemeClr val="tx1"/>
                </a:solidFill>
              </a:rPr>
              <a:t>keys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method</a:t>
            </a:r>
            <a:r>
              <a:rPr lang="ko-KR" altLang="en-US" dirty="0" err="1">
                <a:solidFill>
                  <a:schemeClr val="tx1"/>
                </a:solidFill>
              </a:rPr>
              <a:t>를</a:t>
            </a:r>
            <a:r>
              <a:rPr lang="ko-KR" altLang="en-US" dirty="0">
                <a:solidFill>
                  <a:schemeClr val="tx1"/>
                </a:solidFill>
              </a:rPr>
              <a:t> 쓰면 됨</a:t>
            </a:r>
            <a:endParaRPr lang="en-US" altLang="ko-KR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altLang="ko-KR" dirty="0">
                <a:solidFill>
                  <a:schemeClr val="tx1"/>
                </a:solidFill>
              </a:rPr>
              <a:t>value </a:t>
            </a:r>
            <a:r>
              <a:rPr lang="ko-KR" altLang="en-US" dirty="0">
                <a:solidFill>
                  <a:schemeClr val="tx1"/>
                </a:solidFill>
              </a:rPr>
              <a:t>값만 구하고 싶을 때는 </a:t>
            </a:r>
            <a:r>
              <a:rPr lang="en-US" altLang="ko-KR" dirty="0">
                <a:solidFill>
                  <a:schemeClr val="tx1"/>
                </a:solidFill>
              </a:rPr>
              <a:t>value method</a:t>
            </a:r>
            <a:r>
              <a:rPr lang="ko-KR" altLang="en-US" dirty="0" err="1">
                <a:solidFill>
                  <a:schemeClr val="tx1"/>
                </a:solidFill>
              </a:rPr>
              <a:t>를</a:t>
            </a:r>
            <a:r>
              <a:rPr lang="ko-KR" altLang="en-US" dirty="0">
                <a:solidFill>
                  <a:schemeClr val="tx1"/>
                </a:solidFill>
              </a:rPr>
              <a:t> 쓰면 됨</a:t>
            </a:r>
            <a:endParaRPr lang="en-US" altLang="ko-KR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altLang="ko-KR" dirty="0">
                <a:solidFill>
                  <a:schemeClr val="tx1"/>
                </a:solidFill>
              </a:rPr>
              <a:t>key </a:t>
            </a:r>
            <a:r>
              <a:rPr lang="ko-KR" altLang="en-US" dirty="0">
                <a:solidFill>
                  <a:schemeClr val="tx1"/>
                </a:solidFill>
              </a:rPr>
              <a:t>값이 </a:t>
            </a:r>
            <a:r>
              <a:rPr lang="en-US" altLang="ko-KR" dirty="0" err="1">
                <a:solidFill>
                  <a:schemeClr val="tx1"/>
                </a:solidFill>
              </a:rPr>
              <a:t>dict</a:t>
            </a:r>
            <a:r>
              <a:rPr lang="ko-KR" altLang="en-US" dirty="0">
                <a:solidFill>
                  <a:schemeClr val="tx1"/>
                </a:solidFill>
              </a:rPr>
              <a:t>에 있는지 확인하고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 있으면 </a:t>
            </a:r>
            <a:r>
              <a:rPr lang="en-US" altLang="ko-KR" dirty="0">
                <a:solidFill>
                  <a:schemeClr val="tx1"/>
                </a:solidFill>
              </a:rPr>
              <a:t>key</a:t>
            </a:r>
            <a:r>
              <a:rPr lang="ko-KR" altLang="en-US" dirty="0">
                <a:solidFill>
                  <a:schemeClr val="tx1"/>
                </a:solidFill>
              </a:rPr>
              <a:t> 이름으로 </a:t>
            </a:r>
            <a:r>
              <a:rPr lang="en-US" altLang="ko-KR" dirty="0">
                <a:solidFill>
                  <a:schemeClr val="tx1"/>
                </a:solidFill>
              </a:rPr>
              <a:t>value</a:t>
            </a:r>
            <a:r>
              <a:rPr lang="ko-KR" altLang="en-US" dirty="0" err="1">
                <a:solidFill>
                  <a:schemeClr val="tx1"/>
                </a:solidFill>
              </a:rPr>
              <a:t>를</a:t>
            </a:r>
            <a:r>
              <a:rPr lang="ko-KR" altLang="en-US" dirty="0">
                <a:solidFill>
                  <a:schemeClr val="tx1"/>
                </a:solidFill>
              </a:rPr>
              <a:t> 알 수 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BABAF-7191-034B-B8B2-933859B4C2FA}"/>
              </a:ext>
            </a:extLst>
          </p:cNvPr>
          <p:cNvSpPr txBox="1"/>
          <p:nvPr/>
        </p:nvSpPr>
        <p:spPr>
          <a:xfrm>
            <a:off x="1251678" y="356839"/>
            <a:ext cx="10486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rial Rounded MT Bold" panose="020F0704030504030204" pitchFamily="34" charset="77"/>
              </a:rPr>
              <a:t>3-2 </a:t>
            </a:r>
            <a:r>
              <a:rPr lang="en-US" altLang="ko-KR" sz="5400" dirty="0" err="1">
                <a:latin typeface="Arial Rounded MT Bold" panose="020F0704030504030204" pitchFamily="34" charset="77"/>
              </a:rPr>
              <a:t>dict</a:t>
            </a:r>
            <a:r>
              <a:rPr lang="ko-KR" altLang="en-US" sz="5400" dirty="0">
                <a:latin typeface="Arial Rounded MT Bold" panose="020F0704030504030204" pitchFamily="34" charset="77"/>
              </a:rPr>
              <a:t>에서 </a:t>
            </a:r>
            <a:r>
              <a:rPr lang="en-US" altLang="ko-KR" sz="5400" dirty="0">
                <a:latin typeface="Arial Rounded MT Bold" panose="020F0704030504030204" pitchFamily="34" charset="77"/>
              </a:rPr>
              <a:t>key or value </a:t>
            </a:r>
            <a:r>
              <a:rPr lang="ko-KR" altLang="en-US" sz="5400" dirty="0">
                <a:latin typeface="Arial Rounded MT Bold" panose="020F0704030504030204" pitchFamily="34" charset="77"/>
              </a:rPr>
              <a:t>구하기</a:t>
            </a:r>
            <a:endParaRPr lang="en-US" sz="5400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9857B3-92E0-814E-BACA-B9697E815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1" y="1860598"/>
            <a:ext cx="8646485" cy="4533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31C6F7-538D-6944-84FD-44557F26F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420" y="3159956"/>
            <a:ext cx="8646485" cy="365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97E73-0A02-E44F-88A6-60644B6ED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420" y="5404818"/>
            <a:ext cx="1943100" cy="44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C15EC5-471D-114B-9D03-65ABB248C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420" y="4663753"/>
            <a:ext cx="3187700" cy="55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FD6AC5-1E88-BF42-B049-F91430F68A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3419" y="1689801"/>
            <a:ext cx="9168227" cy="251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9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scalloped circle">
            <a:extLst>
              <a:ext uri="{FF2B5EF4-FFF2-40B4-BE49-F238E27FC236}">
                <a16:creationId xmlns:a16="http://schemas.microsoft.com/office/drawing/2014/main" id="{B217C2AD-51B4-40CE-A71F-F5D3F846D97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 title="left edge border">
            <a:extLst>
              <a:ext uri="{FF2B5EF4-FFF2-40B4-BE49-F238E27FC236}">
                <a16:creationId xmlns:a16="http://schemas.microsoft.com/office/drawing/2014/main" id="{6F1BF92E-23CF-4BFE-9E1F-C359BACFA3C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EF8384-2545-4ACD-9071-49DD1CFC4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5" name="Freeform 22" title="right scallop background shape">
            <a:extLst>
              <a:ext uri="{FF2B5EF4-FFF2-40B4-BE49-F238E27FC236}">
                <a16:creationId xmlns:a16="http://schemas.microsoft.com/office/drawing/2014/main" id="{F77DB8FA-61A7-4DE7-A777-6D258D17248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4695443" cy="6858000"/>
          </a:xfrm>
          <a:custGeom>
            <a:avLst/>
            <a:gdLst>
              <a:gd name="connsiteX0" fmla="*/ 0 w 4992864"/>
              <a:gd name="connsiteY0" fmla="*/ 0 h 6858000"/>
              <a:gd name="connsiteX1" fmla="*/ 4813476 w 4992864"/>
              <a:gd name="connsiteY1" fmla="*/ 0 h 6858000"/>
              <a:gd name="connsiteX2" fmla="*/ 4818239 w 4992864"/>
              <a:gd name="connsiteY2" fmla="*/ 66675 h 6858000"/>
              <a:gd name="connsiteX3" fmla="*/ 4826176 w 4992864"/>
              <a:gd name="connsiteY3" fmla="*/ 122237 h 6858000"/>
              <a:gd name="connsiteX4" fmla="*/ 4835701 w 4992864"/>
              <a:gd name="connsiteY4" fmla="*/ 174625 h 6858000"/>
              <a:gd name="connsiteX5" fmla="*/ 4851576 w 4992864"/>
              <a:gd name="connsiteY5" fmla="*/ 217487 h 6858000"/>
              <a:gd name="connsiteX6" fmla="*/ 4867451 w 4992864"/>
              <a:gd name="connsiteY6" fmla="*/ 260350 h 6858000"/>
              <a:gd name="connsiteX7" fmla="*/ 4886501 w 4992864"/>
              <a:gd name="connsiteY7" fmla="*/ 296862 h 6858000"/>
              <a:gd name="connsiteX8" fmla="*/ 4905551 w 4992864"/>
              <a:gd name="connsiteY8" fmla="*/ 334962 h 6858000"/>
              <a:gd name="connsiteX9" fmla="*/ 4923014 w 4992864"/>
              <a:gd name="connsiteY9" fmla="*/ 369887 h 6858000"/>
              <a:gd name="connsiteX10" fmla="*/ 4940476 w 4992864"/>
              <a:gd name="connsiteY10" fmla="*/ 409575 h 6858000"/>
              <a:gd name="connsiteX11" fmla="*/ 4956351 w 4992864"/>
              <a:gd name="connsiteY11" fmla="*/ 450850 h 6858000"/>
              <a:gd name="connsiteX12" fmla="*/ 4970639 w 4992864"/>
              <a:gd name="connsiteY12" fmla="*/ 496887 h 6858000"/>
              <a:gd name="connsiteX13" fmla="*/ 4981751 w 4992864"/>
              <a:gd name="connsiteY13" fmla="*/ 546100 h 6858000"/>
              <a:gd name="connsiteX14" fmla="*/ 4989689 w 4992864"/>
              <a:gd name="connsiteY14" fmla="*/ 606425 h 6858000"/>
              <a:gd name="connsiteX15" fmla="*/ 4992864 w 4992864"/>
              <a:gd name="connsiteY15" fmla="*/ 673100 h 6858000"/>
              <a:gd name="connsiteX16" fmla="*/ 4989689 w 4992864"/>
              <a:gd name="connsiteY16" fmla="*/ 744537 h 6858000"/>
              <a:gd name="connsiteX17" fmla="*/ 4981751 w 4992864"/>
              <a:gd name="connsiteY17" fmla="*/ 801687 h 6858000"/>
              <a:gd name="connsiteX18" fmla="*/ 4970639 w 4992864"/>
              <a:gd name="connsiteY18" fmla="*/ 854075 h 6858000"/>
              <a:gd name="connsiteX19" fmla="*/ 4956351 w 4992864"/>
              <a:gd name="connsiteY19" fmla="*/ 901700 h 6858000"/>
              <a:gd name="connsiteX20" fmla="*/ 4940476 w 4992864"/>
              <a:gd name="connsiteY20" fmla="*/ 942975 h 6858000"/>
              <a:gd name="connsiteX21" fmla="*/ 4921426 w 4992864"/>
              <a:gd name="connsiteY21" fmla="*/ 981075 h 6858000"/>
              <a:gd name="connsiteX22" fmla="*/ 4902376 w 4992864"/>
              <a:gd name="connsiteY22" fmla="*/ 1017587 h 6858000"/>
              <a:gd name="connsiteX23" fmla="*/ 4883326 w 4992864"/>
              <a:gd name="connsiteY23" fmla="*/ 1055687 h 6858000"/>
              <a:gd name="connsiteX24" fmla="*/ 4865864 w 4992864"/>
              <a:gd name="connsiteY24" fmla="*/ 1095375 h 6858000"/>
              <a:gd name="connsiteX25" fmla="*/ 4848401 w 4992864"/>
              <a:gd name="connsiteY25" fmla="*/ 1136650 h 6858000"/>
              <a:gd name="connsiteX26" fmla="*/ 4834114 w 4992864"/>
              <a:gd name="connsiteY26" fmla="*/ 1182687 h 6858000"/>
              <a:gd name="connsiteX27" fmla="*/ 4824589 w 4992864"/>
              <a:gd name="connsiteY27" fmla="*/ 1235075 h 6858000"/>
              <a:gd name="connsiteX28" fmla="*/ 4815064 w 4992864"/>
              <a:gd name="connsiteY28" fmla="*/ 1295400 h 6858000"/>
              <a:gd name="connsiteX29" fmla="*/ 4813476 w 4992864"/>
              <a:gd name="connsiteY29" fmla="*/ 1363662 h 6858000"/>
              <a:gd name="connsiteX30" fmla="*/ 4815064 w 4992864"/>
              <a:gd name="connsiteY30" fmla="*/ 1431925 h 6858000"/>
              <a:gd name="connsiteX31" fmla="*/ 4824589 w 4992864"/>
              <a:gd name="connsiteY31" fmla="*/ 1492250 h 6858000"/>
              <a:gd name="connsiteX32" fmla="*/ 4834114 w 4992864"/>
              <a:gd name="connsiteY32" fmla="*/ 1544637 h 6858000"/>
              <a:gd name="connsiteX33" fmla="*/ 4848401 w 4992864"/>
              <a:gd name="connsiteY33" fmla="*/ 1589087 h 6858000"/>
              <a:gd name="connsiteX34" fmla="*/ 4865864 w 4992864"/>
              <a:gd name="connsiteY34" fmla="*/ 1631950 h 6858000"/>
              <a:gd name="connsiteX35" fmla="*/ 4883326 w 4992864"/>
              <a:gd name="connsiteY35" fmla="*/ 1671637 h 6858000"/>
              <a:gd name="connsiteX36" fmla="*/ 4902376 w 4992864"/>
              <a:gd name="connsiteY36" fmla="*/ 1708150 h 6858000"/>
              <a:gd name="connsiteX37" fmla="*/ 4921426 w 4992864"/>
              <a:gd name="connsiteY37" fmla="*/ 1743075 h 6858000"/>
              <a:gd name="connsiteX38" fmla="*/ 4940476 w 4992864"/>
              <a:gd name="connsiteY38" fmla="*/ 1782762 h 6858000"/>
              <a:gd name="connsiteX39" fmla="*/ 4956351 w 4992864"/>
              <a:gd name="connsiteY39" fmla="*/ 1824037 h 6858000"/>
              <a:gd name="connsiteX40" fmla="*/ 4970639 w 4992864"/>
              <a:gd name="connsiteY40" fmla="*/ 1870075 h 6858000"/>
              <a:gd name="connsiteX41" fmla="*/ 4981751 w 4992864"/>
              <a:gd name="connsiteY41" fmla="*/ 1922462 h 6858000"/>
              <a:gd name="connsiteX42" fmla="*/ 4989689 w 4992864"/>
              <a:gd name="connsiteY42" fmla="*/ 1982787 h 6858000"/>
              <a:gd name="connsiteX43" fmla="*/ 4992864 w 4992864"/>
              <a:gd name="connsiteY43" fmla="*/ 2051050 h 6858000"/>
              <a:gd name="connsiteX44" fmla="*/ 4989689 w 4992864"/>
              <a:gd name="connsiteY44" fmla="*/ 2119312 h 6858000"/>
              <a:gd name="connsiteX45" fmla="*/ 4981751 w 4992864"/>
              <a:gd name="connsiteY45" fmla="*/ 2179637 h 6858000"/>
              <a:gd name="connsiteX46" fmla="*/ 4970639 w 4992864"/>
              <a:gd name="connsiteY46" fmla="*/ 2232025 h 6858000"/>
              <a:gd name="connsiteX47" fmla="*/ 4956351 w 4992864"/>
              <a:gd name="connsiteY47" fmla="*/ 2278062 h 6858000"/>
              <a:gd name="connsiteX48" fmla="*/ 4940476 w 4992864"/>
              <a:gd name="connsiteY48" fmla="*/ 2319337 h 6858000"/>
              <a:gd name="connsiteX49" fmla="*/ 4921426 w 4992864"/>
              <a:gd name="connsiteY49" fmla="*/ 2359025 h 6858000"/>
              <a:gd name="connsiteX50" fmla="*/ 4902376 w 4992864"/>
              <a:gd name="connsiteY50" fmla="*/ 2395537 h 6858000"/>
              <a:gd name="connsiteX51" fmla="*/ 4883326 w 4992864"/>
              <a:gd name="connsiteY51" fmla="*/ 2433637 h 6858000"/>
              <a:gd name="connsiteX52" fmla="*/ 4865864 w 4992864"/>
              <a:gd name="connsiteY52" fmla="*/ 2471737 h 6858000"/>
              <a:gd name="connsiteX53" fmla="*/ 4848401 w 4992864"/>
              <a:gd name="connsiteY53" fmla="*/ 2513012 h 6858000"/>
              <a:gd name="connsiteX54" fmla="*/ 4834114 w 4992864"/>
              <a:gd name="connsiteY54" fmla="*/ 2560637 h 6858000"/>
              <a:gd name="connsiteX55" fmla="*/ 4824589 w 4992864"/>
              <a:gd name="connsiteY55" fmla="*/ 2613025 h 6858000"/>
              <a:gd name="connsiteX56" fmla="*/ 4815064 w 4992864"/>
              <a:gd name="connsiteY56" fmla="*/ 2671762 h 6858000"/>
              <a:gd name="connsiteX57" fmla="*/ 4813476 w 4992864"/>
              <a:gd name="connsiteY57" fmla="*/ 2741612 h 6858000"/>
              <a:gd name="connsiteX58" fmla="*/ 4815064 w 4992864"/>
              <a:gd name="connsiteY58" fmla="*/ 2809875 h 6858000"/>
              <a:gd name="connsiteX59" fmla="*/ 4824589 w 4992864"/>
              <a:gd name="connsiteY59" fmla="*/ 2868612 h 6858000"/>
              <a:gd name="connsiteX60" fmla="*/ 4834114 w 4992864"/>
              <a:gd name="connsiteY60" fmla="*/ 2922587 h 6858000"/>
              <a:gd name="connsiteX61" fmla="*/ 4848401 w 4992864"/>
              <a:gd name="connsiteY61" fmla="*/ 2967037 h 6858000"/>
              <a:gd name="connsiteX62" fmla="*/ 4865864 w 4992864"/>
              <a:gd name="connsiteY62" fmla="*/ 3009900 h 6858000"/>
              <a:gd name="connsiteX63" fmla="*/ 4883326 w 4992864"/>
              <a:gd name="connsiteY63" fmla="*/ 3046412 h 6858000"/>
              <a:gd name="connsiteX64" fmla="*/ 4902376 w 4992864"/>
              <a:gd name="connsiteY64" fmla="*/ 3084512 h 6858000"/>
              <a:gd name="connsiteX65" fmla="*/ 4921426 w 4992864"/>
              <a:gd name="connsiteY65" fmla="*/ 3121025 h 6858000"/>
              <a:gd name="connsiteX66" fmla="*/ 4940476 w 4992864"/>
              <a:gd name="connsiteY66" fmla="*/ 3160712 h 6858000"/>
              <a:gd name="connsiteX67" fmla="*/ 4956351 w 4992864"/>
              <a:gd name="connsiteY67" fmla="*/ 3201987 h 6858000"/>
              <a:gd name="connsiteX68" fmla="*/ 4970639 w 4992864"/>
              <a:gd name="connsiteY68" fmla="*/ 3248025 h 6858000"/>
              <a:gd name="connsiteX69" fmla="*/ 4981751 w 4992864"/>
              <a:gd name="connsiteY69" fmla="*/ 3300412 h 6858000"/>
              <a:gd name="connsiteX70" fmla="*/ 4989689 w 4992864"/>
              <a:gd name="connsiteY70" fmla="*/ 3360737 h 6858000"/>
              <a:gd name="connsiteX71" fmla="*/ 4992864 w 4992864"/>
              <a:gd name="connsiteY71" fmla="*/ 3427412 h 6858000"/>
              <a:gd name="connsiteX72" fmla="*/ 4989689 w 4992864"/>
              <a:gd name="connsiteY72" fmla="*/ 3497262 h 6858000"/>
              <a:gd name="connsiteX73" fmla="*/ 4981751 w 4992864"/>
              <a:gd name="connsiteY73" fmla="*/ 3557587 h 6858000"/>
              <a:gd name="connsiteX74" fmla="*/ 4970639 w 4992864"/>
              <a:gd name="connsiteY74" fmla="*/ 3609975 h 6858000"/>
              <a:gd name="connsiteX75" fmla="*/ 4956351 w 4992864"/>
              <a:gd name="connsiteY75" fmla="*/ 3656012 h 6858000"/>
              <a:gd name="connsiteX76" fmla="*/ 4940476 w 4992864"/>
              <a:gd name="connsiteY76" fmla="*/ 3697287 h 6858000"/>
              <a:gd name="connsiteX77" fmla="*/ 4921426 w 4992864"/>
              <a:gd name="connsiteY77" fmla="*/ 3736975 h 6858000"/>
              <a:gd name="connsiteX78" fmla="*/ 4883326 w 4992864"/>
              <a:gd name="connsiteY78" fmla="*/ 3811587 h 6858000"/>
              <a:gd name="connsiteX79" fmla="*/ 4865864 w 4992864"/>
              <a:gd name="connsiteY79" fmla="*/ 3848100 h 6858000"/>
              <a:gd name="connsiteX80" fmla="*/ 4848401 w 4992864"/>
              <a:gd name="connsiteY80" fmla="*/ 3890962 h 6858000"/>
              <a:gd name="connsiteX81" fmla="*/ 4834114 w 4992864"/>
              <a:gd name="connsiteY81" fmla="*/ 3935412 h 6858000"/>
              <a:gd name="connsiteX82" fmla="*/ 4824589 w 4992864"/>
              <a:gd name="connsiteY82" fmla="*/ 3987800 h 6858000"/>
              <a:gd name="connsiteX83" fmla="*/ 4815064 w 4992864"/>
              <a:gd name="connsiteY83" fmla="*/ 4048125 h 6858000"/>
              <a:gd name="connsiteX84" fmla="*/ 4813476 w 4992864"/>
              <a:gd name="connsiteY84" fmla="*/ 4116387 h 6858000"/>
              <a:gd name="connsiteX85" fmla="*/ 4815064 w 4992864"/>
              <a:gd name="connsiteY85" fmla="*/ 4186237 h 6858000"/>
              <a:gd name="connsiteX86" fmla="*/ 4824589 w 4992864"/>
              <a:gd name="connsiteY86" fmla="*/ 4244975 h 6858000"/>
              <a:gd name="connsiteX87" fmla="*/ 4834114 w 4992864"/>
              <a:gd name="connsiteY87" fmla="*/ 4297362 h 6858000"/>
              <a:gd name="connsiteX88" fmla="*/ 4848401 w 4992864"/>
              <a:gd name="connsiteY88" fmla="*/ 4343400 h 6858000"/>
              <a:gd name="connsiteX89" fmla="*/ 4865864 w 4992864"/>
              <a:gd name="connsiteY89" fmla="*/ 4386262 h 6858000"/>
              <a:gd name="connsiteX90" fmla="*/ 4883326 w 4992864"/>
              <a:gd name="connsiteY90" fmla="*/ 4424362 h 6858000"/>
              <a:gd name="connsiteX91" fmla="*/ 4921426 w 4992864"/>
              <a:gd name="connsiteY91" fmla="*/ 4498975 h 6858000"/>
              <a:gd name="connsiteX92" fmla="*/ 4940476 w 4992864"/>
              <a:gd name="connsiteY92" fmla="*/ 4537075 h 6858000"/>
              <a:gd name="connsiteX93" fmla="*/ 4956351 w 4992864"/>
              <a:gd name="connsiteY93" fmla="*/ 4579937 h 6858000"/>
              <a:gd name="connsiteX94" fmla="*/ 4970639 w 4992864"/>
              <a:gd name="connsiteY94" fmla="*/ 4625975 h 6858000"/>
              <a:gd name="connsiteX95" fmla="*/ 4981751 w 4992864"/>
              <a:gd name="connsiteY95" fmla="*/ 4678362 h 6858000"/>
              <a:gd name="connsiteX96" fmla="*/ 4989689 w 4992864"/>
              <a:gd name="connsiteY96" fmla="*/ 4738687 h 6858000"/>
              <a:gd name="connsiteX97" fmla="*/ 4992864 w 4992864"/>
              <a:gd name="connsiteY97" fmla="*/ 4806950 h 6858000"/>
              <a:gd name="connsiteX98" fmla="*/ 4989689 w 4992864"/>
              <a:gd name="connsiteY98" fmla="*/ 4875212 h 6858000"/>
              <a:gd name="connsiteX99" fmla="*/ 4981751 w 4992864"/>
              <a:gd name="connsiteY99" fmla="*/ 4935537 h 6858000"/>
              <a:gd name="connsiteX100" fmla="*/ 4970639 w 4992864"/>
              <a:gd name="connsiteY100" fmla="*/ 4987925 h 6858000"/>
              <a:gd name="connsiteX101" fmla="*/ 4956351 w 4992864"/>
              <a:gd name="connsiteY101" fmla="*/ 5033962 h 6858000"/>
              <a:gd name="connsiteX102" fmla="*/ 4940476 w 4992864"/>
              <a:gd name="connsiteY102" fmla="*/ 5075237 h 6858000"/>
              <a:gd name="connsiteX103" fmla="*/ 4921426 w 4992864"/>
              <a:gd name="connsiteY103" fmla="*/ 5114925 h 6858000"/>
              <a:gd name="connsiteX104" fmla="*/ 4902376 w 4992864"/>
              <a:gd name="connsiteY104" fmla="*/ 5149850 h 6858000"/>
              <a:gd name="connsiteX105" fmla="*/ 4883326 w 4992864"/>
              <a:gd name="connsiteY105" fmla="*/ 5186362 h 6858000"/>
              <a:gd name="connsiteX106" fmla="*/ 4865864 w 4992864"/>
              <a:gd name="connsiteY106" fmla="*/ 5226050 h 6858000"/>
              <a:gd name="connsiteX107" fmla="*/ 4848401 w 4992864"/>
              <a:gd name="connsiteY107" fmla="*/ 5268912 h 6858000"/>
              <a:gd name="connsiteX108" fmla="*/ 4834114 w 4992864"/>
              <a:gd name="connsiteY108" fmla="*/ 5313362 h 6858000"/>
              <a:gd name="connsiteX109" fmla="*/ 4824589 w 4992864"/>
              <a:gd name="connsiteY109" fmla="*/ 5365750 h 6858000"/>
              <a:gd name="connsiteX110" fmla="*/ 4815064 w 4992864"/>
              <a:gd name="connsiteY110" fmla="*/ 5426075 h 6858000"/>
              <a:gd name="connsiteX111" fmla="*/ 4813476 w 4992864"/>
              <a:gd name="connsiteY111" fmla="*/ 5494337 h 6858000"/>
              <a:gd name="connsiteX112" fmla="*/ 4815064 w 4992864"/>
              <a:gd name="connsiteY112" fmla="*/ 5562600 h 6858000"/>
              <a:gd name="connsiteX113" fmla="*/ 4824589 w 4992864"/>
              <a:gd name="connsiteY113" fmla="*/ 5622925 h 6858000"/>
              <a:gd name="connsiteX114" fmla="*/ 4834114 w 4992864"/>
              <a:gd name="connsiteY114" fmla="*/ 5675312 h 6858000"/>
              <a:gd name="connsiteX115" fmla="*/ 4848401 w 4992864"/>
              <a:gd name="connsiteY115" fmla="*/ 5721350 h 6858000"/>
              <a:gd name="connsiteX116" fmla="*/ 4865864 w 4992864"/>
              <a:gd name="connsiteY116" fmla="*/ 5762625 h 6858000"/>
              <a:gd name="connsiteX117" fmla="*/ 4883326 w 4992864"/>
              <a:gd name="connsiteY117" fmla="*/ 5802312 h 6858000"/>
              <a:gd name="connsiteX118" fmla="*/ 4902376 w 4992864"/>
              <a:gd name="connsiteY118" fmla="*/ 5840412 h 6858000"/>
              <a:gd name="connsiteX119" fmla="*/ 4921426 w 4992864"/>
              <a:gd name="connsiteY119" fmla="*/ 5876925 h 6858000"/>
              <a:gd name="connsiteX120" fmla="*/ 4940476 w 4992864"/>
              <a:gd name="connsiteY120" fmla="*/ 5915025 h 6858000"/>
              <a:gd name="connsiteX121" fmla="*/ 4956351 w 4992864"/>
              <a:gd name="connsiteY121" fmla="*/ 5956300 h 6858000"/>
              <a:gd name="connsiteX122" fmla="*/ 4970639 w 4992864"/>
              <a:gd name="connsiteY122" fmla="*/ 6003925 h 6858000"/>
              <a:gd name="connsiteX123" fmla="*/ 4981751 w 4992864"/>
              <a:gd name="connsiteY123" fmla="*/ 6056312 h 6858000"/>
              <a:gd name="connsiteX124" fmla="*/ 4989689 w 4992864"/>
              <a:gd name="connsiteY124" fmla="*/ 6113462 h 6858000"/>
              <a:gd name="connsiteX125" fmla="*/ 4992864 w 4992864"/>
              <a:gd name="connsiteY125" fmla="*/ 6183312 h 6858000"/>
              <a:gd name="connsiteX126" fmla="*/ 4989689 w 4992864"/>
              <a:gd name="connsiteY126" fmla="*/ 6251575 h 6858000"/>
              <a:gd name="connsiteX127" fmla="*/ 4981751 w 4992864"/>
              <a:gd name="connsiteY127" fmla="*/ 6311900 h 6858000"/>
              <a:gd name="connsiteX128" fmla="*/ 4970639 w 4992864"/>
              <a:gd name="connsiteY128" fmla="*/ 6361112 h 6858000"/>
              <a:gd name="connsiteX129" fmla="*/ 4956351 w 4992864"/>
              <a:gd name="connsiteY129" fmla="*/ 6407150 h 6858000"/>
              <a:gd name="connsiteX130" fmla="*/ 4940476 w 4992864"/>
              <a:gd name="connsiteY130" fmla="*/ 6448425 h 6858000"/>
              <a:gd name="connsiteX131" fmla="*/ 4923014 w 4992864"/>
              <a:gd name="connsiteY131" fmla="*/ 6488112 h 6858000"/>
              <a:gd name="connsiteX132" fmla="*/ 4905551 w 4992864"/>
              <a:gd name="connsiteY132" fmla="*/ 6523037 h 6858000"/>
              <a:gd name="connsiteX133" fmla="*/ 4886501 w 4992864"/>
              <a:gd name="connsiteY133" fmla="*/ 6561137 h 6858000"/>
              <a:gd name="connsiteX134" fmla="*/ 4867451 w 4992864"/>
              <a:gd name="connsiteY134" fmla="*/ 6597650 h 6858000"/>
              <a:gd name="connsiteX135" fmla="*/ 4851576 w 4992864"/>
              <a:gd name="connsiteY135" fmla="*/ 6640512 h 6858000"/>
              <a:gd name="connsiteX136" fmla="*/ 4835701 w 4992864"/>
              <a:gd name="connsiteY136" fmla="*/ 6683375 h 6858000"/>
              <a:gd name="connsiteX137" fmla="*/ 4826176 w 4992864"/>
              <a:gd name="connsiteY137" fmla="*/ 6735762 h 6858000"/>
              <a:gd name="connsiteX138" fmla="*/ 4818239 w 4992864"/>
              <a:gd name="connsiteY138" fmla="*/ 6791325 h 6858000"/>
              <a:gd name="connsiteX139" fmla="*/ 4813476 w 4992864"/>
              <a:gd name="connsiteY139" fmla="*/ 6858000 h 6858000"/>
              <a:gd name="connsiteX140" fmla="*/ 0 w 499286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644854" y="643463"/>
            <a:ext cx="3437290" cy="5847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all" spc="8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Impact" panose="020B0806030902050204"/>
                <a:ea typeface="맑은 고딕" panose="020B0503020000020004" pitchFamily="34" charset="-127"/>
                <a:cs typeface="+mn-cs"/>
              </a:rPr>
              <a:t>연습을 해봅시다</a:t>
            </a:r>
            <a:r>
              <a:rPr kumimoji="0" lang="en-US" altLang="ko-KR" sz="3200" b="0" i="0" u="none" strike="noStrike" kern="1200" cap="all" spc="8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Impact" panose="020B0806030902050204"/>
                <a:ea typeface="맑은 고딕" panose="020B0503020000020004" pitchFamily="34" charset="-127"/>
                <a:cs typeface="+mn-cs"/>
              </a:rPr>
              <a:t>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all" spc="800" normalizeH="0" baseline="0" noProof="0" dirty="0">
              <a:ln>
                <a:noFill/>
              </a:ln>
              <a:solidFill>
                <a:srgbClr val="2A1A00"/>
              </a:solidFill>
              <a:effectLst/>
              <a:uLnTx/>
              <a:uFillTx/>
              <a:latin typeface="Impact" panose="020B0806030902050204"/>
              <a:ea typeface="맑은 고딕" panose="020B0503020000020004" pitchFamily="34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all" spc="800" normalizeH="0" baseline="0" noProof="0" dirty="0">
              <a:ln>
                <a:noFill/>
              </a:ln>
              <a:solidFill>
                <a:srgbClr val="2A1A00"/>
              </a:solidFill>
              <a:effectLst/>
              <a:uLnTx/>
              <a:uFillTx/>
              <a:latin typeface="Impact" panose="020B0806030902050204"/>
              <a:ea typeface="맑은 고딕" panose="020B0503020000020004" pitchFamily="34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all" spc="8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Impact" panose="020B0806030902050204"/>
                <a:ea typeface="맑은 고딕" panose="020B0503020000020004" pitchFamily="34" charset="-127"/>
                <a:cs typeface="+mn-cs"/>
              </a:rPr>
              <a:t>어떻게든 나오기만 하면 </a:t>
            </a:r>
            <a:r>
              <a:rPr kumimoji="0" lang="ko-KR" altLang="en-US" sz="3200" b="0" i="0" u="none" strike="noStrike" kern="1200" cap="all" spc="800" normalizeH="0" baseline="0" noProof="0" dirty="0" err="1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Impact" panose="020B0806030902050204"/>
                <a:ea typeface="맑은 고딕" panose="020B0503020000020004" pitchFamily="34" charset="-127"/>
                <a:cs typeface="+mn-cs"/>
              </a:rPr>
              <a:t>되요</a:t>
            </a:r>
            <a:r>
              <a:rPr kumimoji="0" lang="en-US" altLang="ko-KR" sz="3200" b="0" i="0" u="none" strike="noStrike" kern="1200" cap="all" spc="8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Impact" panose="020B0806030902050204"/>
                <a:ea typeface="맑은 고딕" panose="020B0503020000020004" pitchFamily="34" charset="-127"/>
                <a:cs typeface="+mn-cs"/>
              </a:rPr>
              <a:t>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all" spc="800" normalizeH="0" baseline="0" noProof="0" dirty="0">
              <a:ln>
                <a:noFill/>
              </a:ln>
              <a:solidFill>
                <a:srgbClr val="2A1A00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3B4842-C11F-1C47-B2DF-68002C775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0"/>
            <a:ext cx="73391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93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7665-D18E-0543-9E99-A753F2AC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616301"/>
            <a:ext cx="10178322" cy="1492132"/>
          </a:xfrm>
        </p:spPr>
        <p:txBody>
          <a:bodyPr/>
          <a:lstStyle/>
          <a:p>
            <a:r>
              <a:rPr lang="ko-KR" altLang="en-US" dirty="0"/>
              <a:t>음</a:t>
            </a:r>
            <a:r>
              <a:rPr lang="en-US" altLang="ko-KR" dirty="0"/>
              <a:t>..</a:t>
            </a:r>
            <a:r>
              <a:rPr lang="ko-KR" altLang="en-US" dirty="0"/>
              <a:t> 추가 상식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07C76-2EFC-8749-9AD3-6A545C38E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775638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&gt;&gt;&gt;</a:t>
            </a:r>
            <a:r>
              <a:rPr lang="ko-KR" altLang="en-US" dirty="0"/>
              <a:t> 는 </a:t>
            </a:r>
            <a:r>
              <a:rPr lang="en-US" altLang="ko-KR" dirty="0"/>
              <a:t>python</a:t>
            </a:r>
            <a:r>
              <a:rPr lang="ko-KR" altLang="en-US" dirty="0"/>
              <a:t>이 대화식</a:t>
            </a:r>
            <a:r>
              <a:rPr lang="en-US" altLang="ko-KR" dirty="0"/>
              <a:t>(interpreter)</a:t>
            </a:r>
            <a:r>
              <a:rPr lang="ko-KR" altLang="en-US" dirty="0"/>
              <a:t>모드임을 나타내는 </a:t>
            </a:r>
            <a:r>
              <a:rPr lang="ko-KR" altLang="en-US" dirty="0" err="1"/>
              <a:t>프롬포트</a:t>
            </a:r>
            <a:r>
              <a:rPr lang="ko-KR" altLang="en-US" dirty="0"/>
              <a:t> 이다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474561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4289</TotalTime>
  <Words>1404</Words>
  <Application>Microsoft Macintosh PowerPoint</Application>
  <PresentationFormat>Widescreen</PresentationFormat>
  <Paragraphs>283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휴먼매직체</vt:lpstr>
      <vt:lpstr>맑은 고딕</vt:lpstr>
      <vt:lpstr>Arial</vt:lpstr>
      <vt:lpstr>Arial Rounded MT Bold</vt:lpstr>
      <vt:lpstr>Calibri</vt:lpstr>
      <vt:lpstr>Gill Sans MT</vt:lpstr>
      <vt:lpstr>Impact</vt:lpstr>
      <vt:lpstr>Wingdings</vt:lpstr>
      <vt:lpstr>Badge</vt:lpstr>
      <vt:lpstr>python -1</vt:lpstr>
      <vt:lpstr>PURPOSE</vt:lpstr>
      <vt:lpstr>Python의 특징</vt:lpstr>
      <vt:lpstr>파이썬 설치   </vt:lpstr>
      <vt:lpstr>파이썬 설치 </vt:lpstr>
      <vt:lpstr>파이썬 설치- 파이썬 아나콘다 </vt:lpstr>
      <vt:lpstr>Python 이 잘 설치되었는지 terminal에서 확인</vt:lpstr>
      <vt:lpstr>PowerPoint Presentation</vt:lpstr>
      <vt:lpstr>PowerPoint Presentation</vt:lpstr>
      <vt:lpstr>python에 내장 되어 있는 함수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음.. 추가 상식</vt:lpstr>
    </vt:vector>
  </TitlesOfParts>
  <Company/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-1</dc:title>
  <dc:creator>김규란</dc:creator>
  <cp:lastModifiedBy>김규란</cp:lastModifiedBy>
  <cp:revision>34</cp:revision>
  <dcterms:created xsi:type="dcterms:W3CDTF">2018-04-22T09:09:03Z</dcterms:created>
  <dcterms:modified xsi:type="dcterms:W3CDTF">2018-04-25T08:40:17Z</dcterms:modified>
</cp:coreProperties>
</file>