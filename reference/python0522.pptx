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37" r:id="rId4"/>
    <p:sldId id="338" r:id="rId5"/>
    <p:sldId id="339" r:id="rId6"/>
    <p:sldId id="341" r:id="rId7"/>
    <p:sldId id="342" r:id="rId8"/>
    <p:sldId id="343" r:id="rId9"/>
    <p:sldId id="344" r:id="rId10"/>
    <p:sldId id="346" r:id="rId11"/>
    <p:sldId id="347" r:id="rId12"/>
    <p:sldId id="348" r:id="rId13"/>
    <p:sldId id="265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6" r:id="rId22"/>
    <p:sldId id="331" r:id="rId23"/>
    <p:sldId id="332" r:id="rId24"/>
    <p:sldId id="333" r:id="rId25"/>
    <p:sldId id="32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규란" initials="김" lastIdx="2" clrIdx="0">
    <p:extLst>
      <p:ext uri="{19B8F6BF-5375-455C-9EA6-DF929625EA0E}">
        <p15:presenceInfo xmlns:p15="http://schemas.microsoft.com/office/powerpoint/2012/main" userId="d425e500-409d-4ea4-9f39-fde5a3d8c61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85"/>
    <p:restoredTop sz="94580"/>
  </p:normalViewPr>
  <p:slideViewPr>
    <p:cSldViewPr snapToGrid="0" snapToObjects="1">
      <p:cViewPr>
        <p:scale>
          <a:sx n="52" d="100"/>
          <a:sy n="52" d="100"/>
        </p:scale>
        <p:origin x="3344" y="1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FA81DE-25F3-DC44-B9D3-A5E7D749502C}" type="datetimeFigureOut">
              <a:rPr lang="en-US" smtClean="0"/>
              <a:t>5/21/18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B462C-2B31-3E40-8A70-11BBFD9774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41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5/21/18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5/21/18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C218-B073-B744-B1FE-F7294467A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A2082-793E-9F49-B197-110F562F2E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20180522</a:t>
            </a:r>
          </a:p>
        </p:txBody>
      </p:sp>
    </p:spTree>
    <p:extLst>
      <p:ext uri="{BB962C8B-B14F-4D97-AF65-F5344CB8AC3E}">
        <p14:creationId xmlns:p14="http://schemas.microsoft.com/office/powerpoint/2010/main" val="137766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EFE63-82B6-C541-9C02-68F7B6E3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6F507-A2E4-6546-A3C8-4EB99796B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84417"/>
            <a:ext cx="10178322" cy="4395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800" dirty="0" err="1">
                <a:solidFill>
                  <a:schemeClr val="tx1"/>
                </a:solidFill>
              </a:rPr>
              <a:t>파이썬</a:t>
            </a:r>
            <a:r>
              <a:rPr lang="ko-KR" altLang="en-US" sz="2800" dirty="0">
                <a:solidFill>
                  <a:schemeClr val="tx1"/>
                </a:solidFill>
              </a:rPr>
              <a:t> 함수와 모듈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2800" dirty="0" err="1">
                <a:solidFill>
                  <a:schemeClr val="tx1"/>
                </a:solidFill>
              </a:rPr>
              <a:t>파이썬</a:t>
            </a:r>
            <a:r>
              <a:rPr lang="ko-KR" altLang="en-US" sz="2800" dirty="0">
                <a:solidFill>
                  <a:schemeClr val="tx1"/>
                </a:solidFill>
              </a:rPr>
              <a:t> </a:t>
            </a:r>
            <a:r>
              <a:rPr lang="en-US" altLang="ko-KR" sz="2800" dirty="0">
                <a:solidFill>
                  <a:schemeClr val="tx1"/>
                </a:solidFill>
              </a:rPr>
              <a:t>Class</a:t>
            </a:r>
            <a:r>
              <a:rPr lang="ko-KR" altLang="en-US" sz="2800" dirty="0">
                <a:solidFill>
                  <a:schemeClr val="tx1"/>
                </a:solidFill>
              </a:rPr>
              <a:t> 클래스와 인스턴스</a:t>
            </a:r>
            <a:endParaRPr lang="en-US" altLang="ko-KR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244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중복되는 코드를 단순히 </a:t>
            </a:r>
            <a:r>
              <a:rPr lang="ko-KR" altLang="en-US" sz="3200" b="1" dirty="0" err="1">
                <a:solidFill>
                  <a:schemeClr val="tx1"/>
                </a:solidFill>
              </a:rPr>
              <a:t>복붙</a:t>
            </a:r>
            <a:r>
              <a:rPr lang="ko-KR" altLang="en-US" sz="3200" b="1" dirty="0">
                <a:solidFill>
                  <a:schemeClr val="tx1"/>
                </a:solidFill>
              </a:rPr>
              <a:t> </a:t>
            </a:r>
            <a:r>
              <a:rPr lang="en-US" altLang="ko-KR" sz="3200" b="1" dirty="0">
                <a:solidFill>
                  <a:schemeClr val="tx1"/>
                </a:solidFill>
              </a:rPr>
              <a:t>x</a:t>
            </a: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함수</a:t>
            </a:r>
            <a:r>
              <a:rPr lang="en-US" altLang="ko-KR" sz="3200" b="1" dirty="0">
                <a:solidFill>
                  <a:schemeClr val="tx1"/>
                </a:solidFill>
              </a:rPr>
              <a:t>(function)</a:t>
            </a:r>
            <a:r>
              <a:rPr lang="ko-KR" altLang="en-US" sz="3200" b="1" dirty="0">
                <a:solidFill>
                  <a:schemeClr val="tx1"/>
                </a:solidFill>
              </a:rPr>
              <a:t>의 형태로 코드를 작성해 두면 이것을 두고두고 호출해서 사용할 수 있음</a:t>
            </a: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3200" b="1" dirty="0">
                <a:solidFill>
                  <a:schemeClr val="tx1"/>
                </a:solidFill>
              </a:rPr>
              <a:t>모듈</a:t>
            </a:r>
            <a:r>
              <a:rPr lang="en-US" altLang="ko-KR" sz="3200" b="1" dirty="0">
                <a:solidFill>
                  <a:schemeClr val="tx1"/>
                </a:solidFill>
              </a:rPr>
              <a:t>(module)</a:t>
            </a:r>
            <a:r>
              <a:rPr lang="ko-KR" altLang="en-US" sz="3200" b="1" dirty="0">
                <a:solidFill>
                  <a:schemeClr val="tx1"/>
                </a:solidFill>
              </a:rPr>
              <a:t>은 코드의 묶음을 의미한다</a:t>
            </a:r>
            <a:r>
              <a:rPr lang="en-US" altLang="ko-KR" sz="3200" b="1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ko-KR" altLang="en-US" b="1" dirty="0">
                <a:latin typeface="Arial Rounded MT Bold" panose="020F0704030504030204" pitchFamily="34" charset="77"/>
              </a:rPr>
              <a:t>함수</a:t>
            </a:r>
            <a:r>
              <a:rPr lang="en-US" altLang="ko-KR" b="1" dirty="0">
                <a:latin typeface="Arial Rounded MT Bold" panose="020F0704030504030204" pitchFamily="34" charset="77"/>
              </a:rPr>
              <a:t>(</a:t>
            </a:r>
            <a:r>
              <a:rPr lang="en-US" altLang="ko-KR" b="1" cap="none" dirty="0">
                <a:latin typeface="Arial Rounded MT Bold" panose="020F0704030504030204" pitchFamily="34" charset="77"/>
              </a:rPr>
              <a:t>function)</a:t>
            </a:r>
            <a:r>
              <a:rPr lang="ko-KR" altLang="en-US" b="1" cap="none" dirty="0">
                <a:latin typeface="Arial Rounded MT Bold" panose="020F0704030504030204" pitchFamily="34" charset="77"/>
              </a:rPr>
              <a:t>와 모듈</a:t>
            </a:r>
            <a:r>
              <a:rPr lang="en-US" altLang="ko-KR" b="1" cap="none" dirty="0">
                <a:latin typeface="Arial Rounded MT Bold" panose="020F0704030504030204" pitchFamily="34" charset="77"/>
              </a:rPr>
              <a:t>(module</a:t>
            </a:r>
            <a:r>
              <a:rPr lang="en-US" altLang="ko-KR" cap="none" dirty="0">
                <a:latin typeface="Arial Rounded MT Bold" panose="020F0704030504030204" pitchFamily="34" charset="77"/>
              </a:rPr>
              <a:t>)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15141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어떤 동작을 내가 원하는 횟수만큼 하게 할 수 있음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내 이름을 </a:t>
            </a:r>
            <a:r>
              <a:rPr lang="en-US" altLang="ko-KR" sz="3200" dirty="0">
                <a:solidFill>
                  <a:schemeClr val="tx1"/>
                </a:solidFill>
              </a:rPr>
              <a:t>n</a:t>
            </a:r>
            <a:r>
              <a:rPr lang="ko-KR" altLang="en-US" sz="3200" dirty="0">
                <a:solidFill>
                  <a:schemeClr val="tx1"/>
                </a:solidFill>
              </a:rPr>
              <a:t>번 나오게 하는 함수를 만든다고 해보자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생각해야 할 것</a:t>
            </a:r>
            <a:r>
              <a:rPr lang="en-US" altLang="ko-KR" sz="3200" dirty="0">
                <a:solidFill>
                  <a:schemeClr val="tx1"/>
                </a:solidFill>
              </a:rPr>
              <a:t>:</a:t>
            </a:r>
          </a:p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함수의 입력 </a:t>
            </a:r>
            <a:r>
              <a:rPr lang="en-US" altLang="ko-KR" sz="3200" dirty="0">
                <a:solidFill>
                  <a:schemeClr val="tx1"/>
                </a:solidFill>
              </a:rPr>
              <a:t>:</a:t>
            </a:r>
            <a:r>
              <a:rPr lang="ko-KR" altLang="en-US" sz="3200" dirty="0">
                <a:solidFill>
                  <a:schemeClr val="tx1"/>
                </a:solidFill>
              </a:rPr>
              <a:t> 출력 횟수 </a:t>
            </a:r>
            <a:r>
              <a:rPr lang="en-US" altLang="ko-KR" sz="3200" dirty="0">
                <a:solidFill>
                  <a:schemeClr val="tx1"/>
                </a:solidFill>
              </a:rPr>
              <a:t>ex)2</a:t>
            </a:r>
          </a:p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함수의 출력</a:t>
            </a:r>
            <a:r>
              <a:rPr lang="en-US" altLang="ko-KR" sz="3200" dirty="0">
                <a:solidFill>
                  <a:schemeClr val="tx1"/>
                </a:solidFill>
              </a:rPr>
              <a:t> : </a:t>
            </a:r>
            <a:r>
              <a:rPr lang="ko-KR" altLang="en-US" sz="3200" dirty="0">
                <a:solidFill>
                  <a:schemeClr val="tx1"/>
                </a:solidFill>
              </a:rPr>
              <a:t>내 이름</a:t>
            </a:r>
            <a:r>
              <a:rPr lang="en-US" altLang="ko-KR" sz="3200" dirty="0">
                <a:solidFill>
                  <a:schemeClr val="tx1"/>
                </a:solidFill>
              </a:rPr>
              <a:t>(</a:t>
            </a:r>
            <a:r>
              <a:rPr lang="ko-KR" altLang="en-US" sz="3200" dirty="0">
                <a:solidFill>
                  <a:schemeClr val="tx1"/>
                </a:solidFill>
              </a:rPr>
              <a:t>횟수만큼</a:t>
            </a:r>
            <a:r>
              <a:rPr lang="en-US" altLang="ko-KR" sz="3200" dirty="0">
                <a:solidFill>
                  <a:schemeClr val="tx1"/>
                </a:solidFill>
              </a:rPr>
              <a:t>)</a:t>
            </a:r>
          </a:p>
          <a:p>
            <a:pPr marL="0" indent="0">
              <a:buNone/>
            </a:pPr>
            <a:r>
              <a:rPr lang="ko-KR" altLang="en-US" sz="3200" dirty="0">
                <a:solidFill>
                  <a:schemeClr val="tx1"/>
                </a:solidFill>
              </a:rPr>
              <a:t>함수의 동작 </a:t>
            </a:r>
            <a:r>
              <a:rPr lang="en-US" altLang="ko-KR" sz="3200" dirty="0">
                <a:solidFill>
                  <a:schemeClr val="tx1"/>
                </a:solidFill>
              </a:rPr>
              <a:t>:</a:t>
            </a:r>
            <a:r>
              <a:rPr lang="ko-KR" altLang="en-US" sz="3200" dirty="0">
                <a:solidFill>
                  <a:schemeClr val="tx1"/>
                </a:solidFill>
              </a:rPr>
              <a:t> 출력 횟수만큼 내 이름 문자열을 출력</a:t>
            </a:r>
            <a:endParaRPr lang="en-US" altLang="ko-KR" sz="3200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76858"/>
          </a:xfrm>
        </p:spPr>
        <p:txBody>
          <a:bodyPr/>
          <a:lstStyle/>
          <a:p>
            <a:r>
              <a:rPr lang="en-US" altLang="ko-KR" b="1" dirty="0">
                <a:latin typeface="Arial Rounded MT Bold" panose="020F0704030504030204" pitchFamily="34" charset="77"/>
              </a:rPr>
              <a:t>1) </a:t>
            </a:r>
            <a:r>
              <a:rPr lang="ko-KR" altLang="en-US" b="1" dirty="0">
                <a:latin typeface="Arial Rounded MT Bold" panose="020F0704030504030204" pitchFamily="34" charset="77"/>
              </a:rPr>
              <a:t>함수</a:t>
            </a:r>
            <a:r>
              <a:rPr lang="en-US" altLang="ko-KR" b="1" dirty="0">
                <a:latin typeface="Arial Rounded MT Bold" panose="020F0704030504030204" pitchFamily="34" charset="77"/>
              </a:rPr>
              <a:t>(</a:t>
            </a:r>
            <a:r>
              <a:rPr lang="en-US" altLang="ko-KR" b="1" cap="none" dirty="0">
                <a:latin typeface="Arial Rounded MT Bold" panose="020F0704030504030204" pitchFamily="34" charset="77"/>
              </a:rPr>
              <a:t>function)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24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B3B21B-F8E5-444A-A799-2BA22B8F2C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8193" y="2141691"/>
            <a:ext cx="5176744" cy="26008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2286001"/>
            <a:ext cx="4363595" cy="359359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어떤 동작을 내가 원하는 횟수만큼 하게 할 수 있음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내 이름을 </a:t>
            </a:r>
            <a:r>
              <a:rPr lang="en-US" altLang="ko-KR" sz="1700" dirty="0">
                <a:solidFill>
                  <a:schemeClr val="tx1"/>
                </a:solidFill>
              </a:rPr>
              <a:t>n</a:t>
            </a:r>
            <a:r>
              <a:rPr lang="ko-KR" altLang="en-US" sz="1700" dirty="0">
                <a:solidFill>
                  <a:schemeClr val="tx1"/>
                </a:solidFill>
              </a:rPr>
              <a:t>번 나오게 하는 함수를 만든다고 해보자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생각해야 할 것</a:t>
            </a:r>
            <a:r>
              <a:rPr lang="en-US" altLang="ko-KR" sz="1700" dirty="0">
                <a:solidFill>
                  <a:schemeClr val="tx1"/>
                </a:solidFill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함수의 입력 </a:t>
            </a:r>
            <a:r>
              <a:rPr lang="en-US" altLang="ko-KR" sz="1700" dirty="0">
                <a:solidFill>
                  <a:schemeClr val="tx1"/>
                </a:solidFill>
              </a:rPr>
              <a:t>:</a:t>
            </a:r>
            <a:r>
              <a:rPr lang="ko-KR" altLang="en-US" sz="1700" dirty="0">
                <a:solidFill>
                  <a:schemeClr val="tx1"/>
                </a:solidFill>
              </a:rPr>
              <a:t> 출력 횟수 </a:t>
            </a:r>
            <a:r>
              <a:rPr lang="en-US" altLang="ko-KR" sz="1700" dirty="0">
                <a:solidFill>
                  <a:schemeClr val="tx1"/>
                </a:solidFill>
              </a:rPr>
              <a:t>ex)2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함수의 출력</a:t>
            </a:r>
            <a:r>
              <a:rPr lang="en-US" altLang="ko-KR" sz="1700" dirty="0">
                <a:solidFill>
                  <a:schemeClr val="tx1"/>
                </a:solidFill>
              </a:rPr>
              <a:t> : </a:t>
            </a:r>
            <a:r>
              <a:rPr lang="ko-KR" altLang="en-US" sz="1700" dirty="0">
                <a:solidFill>
                  <a:schemeClr val="tx1"/>
                </a:solidFill>
              </a:rPr>
              <a:t>내 이름</a:t>
            </a:r>
            <a:r>
              <a:rPr lang="en-US" altLang="ko-KR" sz="1700" dirty="0">
                <a:solidFill>
                  <a:schemeClr val="tx1"/>
                </a:solidFill>
              </a:rPr>
              <a:t>(</a:t>
            </a:r>
            <a:r>
              <a:rPr lang="ko-KR" altLang="en-US" sz="1700" dirty="0">
                <a:solidFill>
                  <a:schemeClr val="tx1"/>
                </a:solidFill>
              </a:rPr>
              <a:t>횟수만큼</a:t>
            </a:r>
            <a:r>
              <a:rPr lang="en-US" altLang="ko-KR" sz="1700" dirty="0">
                <a:solidFill>
                  <a:schemeClr val="tx1"/>
                </a:solidFill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700" dirty="0">
                <a:solidFill>
                  <a:schemeClr val="tx1"/>
                </a:solidFill>
              </a:rPr>
              <a:t>함수의 동작 </a:t>
            </a:r>
            <a:r>
              <a:rPr lang="en-US" altLang="ko-KR" sz="1700" dirty="0">
                <a:solidFill>
                  <a:schemeClr val="tx1"/>
                </a:solidFill>
              </a:rPr>
              <a:t>:</a:t>
            </a:r>
            <a:r>
              <a:rPr lang="ko-KR" altLang="en-US" sz="1700" dirty="0">
                <a:solidFill>
                  <a:schemeClr val="tx1"/>
                </a:solidFill>
              </a:rPr>
              <a:t> 출력 횟수만큼 내 이름 문자열을 출력</a:t>
            </a:r>
            <a:endParaRPr lang="en-US" altLang="ko-KR" sz="1700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br>
              <a:rPr lang="ko-KR" altLang="en-US" sz="1700" dirty="0">
                <a:solidFill>
                  <a:schemeClr val="tx1"/>
                </a:solidFill>
              </a:rPr>
            </a:br>
            <a:endParaRPr lang="en-US" altLang="ko-KR" sz="17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5173837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1) 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함수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function)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96230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449274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2) </a:t>
            </a:r>
            <a:r>
              <a:rPr lang="ko-KR" altLang="en-US" sz="4400" b="1" dirty="0" err="1">
                <a:latin typeface="Arial Rounded MT Bold" panose="020F0704030504030204" pitchFamily="34" charset="77"/>
              </a:rPr>
              <a:t>반환값이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 있는 함수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function)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37405-D580-4B40-A998-764C3175471B}"/>
              </a:ext>
            </a:extLst>
          </p:cNvPr>
          <p:cNvSpPr txBox="1"/>
          <p:nvPr/>
        </p:nvSpPr>
        <p:spPr>
          <a:xfrm>
            <a:off x="1804088" y="1504295"/>
            <a:ext cx="2773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return</a:t>
            </a:r>
            <a:r>
              <a:rPr lang="ko-KR" altLang="en-US" sz="2400" dirty="0"/>
              <a:t>이 있는 함수 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289BCB-C170-4C4B-A754-1816C1A03A3B}"/>
              </a:ext>
            </a:extLst>
          </p:cNvPr>
          <p:cNvSpPr txBox="1"/>
          <p:nvPr/>
        </p:nvSpPr>
        <p:spPr>
          <a:xfrm>
            <a:off x="1804088" y="1965960"/>
            <a:ext cx="835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어떤 주식의 전날 가격 </a:t>
            </a:r>
            <a:r>
              <a:rPr lang="en-US" altLang="ko-KR" sz="2400" dirty="0"/>
              <a:t>30%</a:t>
            </a:r>
            <a:r>
              <a:rPr lang="ko-KR" altLang="en-US" sz="2400" dirty="0"/>
              <a:t>상승 </a:t>
            </a:r>
            <a:r>
              <a:rPr lang="en-US" altLang="ko-KR" sz="2400" dirty="0"/>
              <a:t>30%</a:t>
            </a:r>
            <a:r>
              <a:rPr lang="ko-KR" altLang="en-US" sz="2400" dirty="0"/>
              <a:t>하락 함수를 만들어 보자</a:t>
            </a:r>
            <a:endParaRPr lang="en-US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E1C57A-34D3-0948-B271-2F9FB1A43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666" y="2642154"/>
            <a:ext cx="5305322" cy="2720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9B6E6C-277A-124D-B0B6-C9F5B7D529C7}"/>
              </a:ext>
            </a:extLst>
          </p:cNvPr>
          <p:cNvSpPr txBox="1"/>
          <p:nvPr/>
        </p:nvSpPr>
        <p:spPr>
          <a:xfrm>
            <a:off x="7191632" y="2889290"/>
            <a:ext cx="442371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*</a:t>
            </a:r>
            <a:r>
              <a:rPr lang="ko-KR" altLang="en-US" sz="2400" b="1" dirty="0"/>
              <a:t>함수를 정의할 때 </a:t>
            </a:r>
            <a:r>
              <a:rPr lang="en-US" altLang="ko-KR" sz="2400" b="1" dirty="0"/>
              <a:t>def</a:t>
            </a:r>
            <a:r>
              <a:rPr lang="ko-KR" altLang="en-US" sz="2400" b="1" dirty="0"/>
              <a:t>로 </a:t>
            </a:r>
            <a:r>
              <a:rPr lang="ko-KR" altLang="en-US" sz="2400" b="1" dirty="0" err="1"/>
              <a:t>시작한다는것</a:t>
            </a:r>
            <a:endParaRPr lang="en-US" altLang="ko-KR" sz="2400" b="1" dirty="0"/>
          </a:p>
          <a:p>
            <a:r>
              <a:rPr lang="ko-KR" altLang="en-US" sz="2400" b="1" dirty="0"/>
              <a:t>함수 이름을 정하고 변수를 놓는</a:t>
            </a:r>
            <a:r>
              <a:rPr lang="en-US" altLang="ko-KR" sz="2400" b="1" dirty="0"/>
              <a:t> </a:t>
            </a:r>
            <a:r>
              <a:rPr lang="ko-KR" altLang="en-US" sz="2400" b="1" dirty="0"/>
              <a:t>것</a:t>
            </a:r>
            <a:endParaRPr lang="en-US" altLang="ko-KR" sz="2400" b="1" dirty="0"/>
          </a:p>
          <a:p>
            <a:r>
              <a:rPr lang="en-US" altLang="ko-KR" sz="2400" b="1" dirty="0"/>
              <a:t>return</a:t>
            </a:r>
            <a:r>
              <a:rPr lang="ko-KR" altLang="en-US" sz="2400" b="1" dirty="0"/>
              <a:t>만 알면 됨</a:t>
            </a:r>
            <a:endParaRPr lang="en-US" altLang="ko-KR" sz="2400" b="1" dirty="0"/>
          </a:p>
          <a:p>
            <a:endParaRPr lang="en-US" altLang="ko-K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808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449274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3) 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모듈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module)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04AEC6-7745-E846-AF73-D6EF0D107F53}"/>
              </a:ext>
            </a:extLst>
          </p:cNvPr>
          <p:cNvSpPr txBox="1"/>
          <p:nvPr/>
        </p:nvSpPr>
        <p:spPr>
          <a:xfrm>
            <a:off x="1614379" y="1504295"/>
            <a:ext cx="87238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앞에서 상한가와 하한가를 구하는 함수를 만들어서 </a:t>
            </a:r>
            <a:r>
              <a:rPr lang="en-US" altLang="ko-KR" b="1" dirty="0"/>
              <a:t>IDLE</a:t>
            </a:r>
            <a:r>
              <a:rPr lang="ko-KR" altLang="en-US" b="1" dirty="0"/>
              <a:t>에서 돌려보았다</a:t>
            </a:r>
            <a:r>
              <a:rPr lang="en-US" altLang="ko-KR" b="1" dirty="0"/>
              <a:t>.</a:t>
            </a:r>
          </a:p>
          <a:p>
            <a:r>
              <a:rPr lang="ko-KR" altLang="en-US" b="1" dirty="0"/>
              <a:t>그 </a:t>
            </a:r>
            <a:r>
              <a:rPr lang="en-US" altLang="ko-KR" b="1" dirty="0"/>
              <a:t>IDLE</a:t>
            </a:r>
            <a:r>
              <a:rPr lang="ko-KR" altLang="en-US" b="1" dirty="0" err="1"/>
              <a:t>를</a:t>
            </a:r>
            <a:r>
              <a:rPr lang="ko-KR" altLang="en-US" b="1" dirty="0"/>
              <a:t> 닫으면 해당 함수를 더 사용할 수 없지만 그 함수를 파일로 작성해 모듈로 만들면 계속 사용할 수 있다</a:t>
            </a:r>
            <a:r>
              <a:rPr lang="en-US" altLang="ko-KR" b="1" dirty="0"/>
              <a:t>.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7A41BD-EC80-B54A-B476-00BF60553FB7}"/>
              </a:ext>
            </a:extLst>
          </p:cNvPr>
          <p:cNvSpPr txBox="1"/>
          <p:nvPr/>
        </p:nvSpPr>
        <p:spPr>
          <a:xfrm>
            <a:off x="1614379" y="2825150"/>
            <a:ext cx="3504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새로 파일을 하나 만들어 보세요</a:t>
            </a:r>
            <a:r>
              <a:rPr lang="en-US" altLang="ko-KR" dirty="0"/>
              <a:t>!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1CE0FC0-609D-FA47-BAC4-79F23DE9B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379" y="3212592"/>
            <a:ext cx="4762500" cy="2654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55BF1ED-F461-CA43-93D7-D9D3A3E22811}"/>
              </a:ext>
            </a:extLst>
          </p:cNvPr>
          <p:cNvSpPr txBox="1"/>
          <p:nvPr/>
        </p:nvSpPr>
        <p:spPr>
          <a:xfrm>
            <a:off x="1614379" y="5913639"/>
            <a:ext cx="5423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작성하고 이 파일을 </a:t>
            </a:r>
            <a:r>
              <a:rPr lang="en-US" altLang="ko-KR" dirty="0" err="1"/>
              <a:t>stock.py</a:t>
            </a:r>
            <a:r>
              <a:rPr lang="ko-KR" altLang="en-US" dirty="0"/>
              <a:t>로 저장해주세요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2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449274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3) 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모듈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module)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5E6CFF-3ED5-CD4E-9429-261B401D66E4}"/>
              </a:ext>
            </a:extLst>
          </p:cNvPr>
          <p:cNvSpPr txBox="1"/>
          <p:nvPr/>
        </p:nvSpPr>
        <p:spPr>
          <a:xfrm>
            <a:off x="1442875" y="1598721"/>
            <a:ext cx="23775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새로운 파일 만들기</a:t>
            </a:r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7C6857-5F4C-944E-892C-23FC50FBA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79" y="1965960"/>
            <a:ext cx="1524000" cy="381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818010C-6659-5548-9685-0CC4D2699B78}"/>
              </a:ext>
            </a:extLst>
          </p:cNvPr>
          <p:cNvSpPr txBox="1"/>
          <p:nvPr/>
        </p:nvSpPr>
        <p:spPr>
          <a:xfrm>
            <a:off x="1442875" y="2531626"/>
            <a:ext cx="869379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우리는 아까 </a:t>
            </a:r>
            <a:r>
              <a:rPr lang="en-US" altLang="ko-KR" sz="2000" dirty="0"/>
              <a:t>stock</a:t>
            </a:r>
            <a:r>
              <a:rPr lang="ko-KR" altLang="en-US" sz="2000" dirty="0"/>
              <a:t>이라는 모듈을 만들었고 그것을 사용하려고 가져온 것</a:t>
            </a:r>
            <a:endParaRPr lang="en-US" altLang="ko-KR" sz="2000" dirty="0"/>
          </a:p>
          <a:p>
            <a:r>
              <a:rPr lang="en-US" sz="2000" dirty="0"/>
              <a:t>stock</a:t>
            </a:r>
            <a:r>
              <a:rPr lang="ko-KR" altLang="en-US" sz="2000" dirty="0"/>
              <a:t> 모듈에는 </a:t>
            </a:r>
            <a:r>
              <a:rPr lang="en-US" altLang="ko-KR" sz="2000" dirty="0"/>
              <a:t>author</a:t>
            </a:r>
            <a:r>
              <a:rPr lang="ko-KR" altLang="en-US" sz="2000" dirty="0"/>
              <a:t>라는 변수와 </a:t>
            </a:r>
            <a:r>
              <a:rPr lang="en-US" altLang="ko-KR" sz="2000" dirty="0" err="1"/>
              <a:t>cal_upper</a:t>
            </a:r>
            <a:r>
              <a:rPr lang="ko-KR" altLang="en-US" sz="2000" dirty="0"/>
              <a:t>와 </a:t>
            </a:r>
            <a:r>
              <a:rPr lang="en-US" altLang="ko-KR" sz="2000" dirty="0" err="1"/>
              <a:t>cal_lower</a:t>
            </a:r>
            <a:r>
              <a:rPr lang="ko-KR" altLang="en-US" sz="2000" dirty="0"/>
              <a:t>라는 함수가 있었다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r>
              <a:rPr lang="ko-KR" altLang="en-US" sz="2000" dirty="0"/>
              <a:t>모듈을 </a:t>
            </a:r>
            <a:r>
              <a:rPr lang="en-US" altLang="ko-KR" sz="2000" dirty="0"/>
              <a:t>import</a:t>
            </a:r>
            <a:r>
              <a:rPr lang="ko-KR" altLang="en-US" sz="2000" dirty="0"/>
              <a:t>하면 모듈 내에 구현된 함수나 변수를 사용할 수 있다</a:t>
            </a:r>
            <a:r>
              <a:rPr lang="en-US" altLang="ko-KR" sz="2000" dirty="0"/>
              <a:t>.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8EC4BF-4C60-1B47-B8EA-4440545B3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379" y="3732169"/>
            <a:ext cx="2565400" cy="317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07B9E7-9E2B-FB44-9F61-38207C736D5D}"/>
              </a:ext>
            </a:extLst>
          </p:cNvPr>
          <p:cNvSpPr txBox="1"/>
          <p:nvPr/>
        </p:nvSpPr>
        <p:spPr>
          <a:xfrm>
            <a:off x="1442875" y="4234549"/>
            <a:ext cx="93705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stock</a:t>
            </a:r>
            <a:r>
              <a:rPr lang="ko-KR" altLang="en-US" dirty="0"/>
              <a:t>모듈 내에 있는 </a:t>
            </a:r>
            <a:r>
              <a:rPr lang="en-US" altLang="ko-KR" dirty="0"/>
              <a:t>author</a:t>
            </a:r>
            <a:r>
              <a:rPr lang="ko-KR" altLang="en-US" dirty="0"/>
              <a:t> 변수를 출력하는 명령어이다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이 때 </a:t>
            </a:r>
            <a:r>
              <a:rPr lang="en-US" altLang="ko-KR" dirty="0"/>
              <a:t>author</a:t>
            </a:r>
            <a:r>
              <a:rPr lang="ko-KR" altLang="en-US" dirty="0" err="1"/>
              <a:t>라고</a:t>
            </a:r>
            <a:r>
              <a:rPr lang="ko-KR" altLang="en-US" dirty="0"/>
              <a:t> </a:t>
            </a:r>
            <a:r>
              <a:rPr lang="ko-KR" altLang="en-US" dirty="0" err="1"/>
              <a:t>변수명을</a:t>
            </a:r>
            <a:r>
              <a:rPr lang="ko-KR" altLang="en-US" dirty="0"/>
              <a:t> 바로 적으면 안되고 </a:t>
            </a:r>
            <a:r>
              <a:rPr lang="en-US" altLang="ko-KR" dirty="0" err="1"/>
              <a:t>stock.author</a:t>
            </a:r>
            <a:r>
              <a:rPr lang="ko-KR" altLang="en-US" dirty="0" err="1"/>
              <a:t>라고</a:t>
            </a:r>
            <a:r>
              <a:rPr lang="ko-KR" altLang="en-US" dirty="0"/>
              <a:t> 적어야 한다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모듈 내의 함수나 변수에 접근할 때는 항상 </a:t>
            </a:r>
            <a:r>
              <a:rPr lang="en-US" altLang="ko-KR" dirty="0"/>
              <a:t>‘</a:t>
            </a:r>
            <a:r>
              <a:rPr lang="ko-KR" altLang="en-US" dirty="0" err="1"/>
              <a:t>모듈이름</a:t>
            </a:r>
            <a:r>
              <a:rPr lang="en-US" altLang="ko-KR" dirty="0"/>
              <a:t>.</a:t>
            </a:r>
            <a:r>
              <a:rPr lang="ko-KR" altLang="en-US" dirty="0"/>
              <a:t>함수</a:t>
            </a:r>
            <a:r>
              <a:rPr lang="en-US" altLang="ko-KR" dirty="0"/>
              <a:t>(</a:t>
            </a:r>
            <a:r>
              <a:rPr lang="ko-KR" altLang="en-US" dirty="0"/>
              <a:t>변수</a:t>
            </a:r>
            <a:r>
              <a:rPr lang="en-US" altLang="ko-KR" dirty="0"/>
              <a:t>)</a:t>
            </a:r>
            <a:r>
              <a:rPr lang="ko-KR" altLang="en-US" dirty="0"/>
              <a:t>이름</a:t>
            </a:r>
            <a:r>
              <a:rPr lang="en-US" altLang="ko-KR" dirty="0"/>
              <a:t>’</a:t>
            </a:r>
            <a:r>
              <a:rPr lang="ko-KR" altLang="en-US" dirty="0"/>
              <a:t> 형태로 적어야 한다</a:t>
            </a:r>
            <a:r>
              <a:rPr lang="en-US" altLang="ko-KR" dirty="0"/>
              <a:t>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0792B7-72CB-904B-A3AD-70BC0F7DB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379" y="5585862"/>
            <a:ext cx="2755900" cy="1028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CD0B1E-B577-F140-9CEC-627DD3CB2258}"/>
              </a:ext>
            </a:extLst>
          </p:cNvPr>
          <p:cNvSpPr txBox="1"/>
          <p:nvPr/>
        </p:nvSpPr>
        <p:spPr>
          <a:xfrm>
            <a:off x="4494364" y="5822921"/>
            <a:ext cx="1633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함수를 불러옴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2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449274" cy="1320855"/>
          </a:xfrm>
        </p:spPr>
        <p:txBody>
          <a:bodyPr>
            <a:normAutofit/>
          </a:bodyPr>
          <a:lstStyle/>
          <a:p>
            <a:r>
              <a:rPr lang="en-US" altLang="ko-KR" sz="4400" b="1">
                <a:latin typeface="Arial Rounded MT Bold" panose="020F0704030504030204" pitchFamily="34" charset="77"/>
              </a:rPr>
              <a:t>3) </a:t>
            </a:r>
            <a:r>
              <a:rPr lang="ko-KR" altLang="en-US" sz="4400" b="1">
                <a:latin typeface="Arial Rounded MT Bold" panose="020F0704030504030204" pitchFamily="34" charset="77"/>
              </a:rPr>
              <a:t>모듈</a:t>
            </a:r>
            <a:r>
              <a:rPr lang="en-US" altLang="ko-KR" sz="4400" b="1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>
                <a:latin typeface="Arial Rounded MT Bold" panose="020F0704030504030204" pitchFamily="34" charset="77"/>
              </a:rPr>
              <a:t>module) tip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616C65-25D1-6E4D-A150-F6337DF1BC9B}"/>
              </a:ext>
            </a:extLst>
          </p:cNvPr>
          <p:cNvSpPr txBox="1"/>
          <p:nvPr/>
        </p:nvSpPr>
        <p:spPr>
          <a:xfrm>
            <a:off x="1458097" y="1596628"/>
            <a:ext cx="84850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그냥 함수를 쓰고 그 파일을 저장하면 다 </a:t>
            </a:r>
            <a:r>
              <a:rPr lang="ko-KR" altLang="en-US" dirty="0" err="1"/>
              <a:t>모듈이에요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r>
              <a:rPr lang="en-US" altLang="ko-KR" dirty="0"/>
              <a:t>import</a:t>
            </a:r>
            <a:r>
              <a:rPr lang="ko-KR" altLang="en-US" dirty="0"/>
              <a:t>하고 쓰면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아까 만든 </a:t>
            </a:r>
            <a:r>
              <a:rPr lang="en-US" altLang="ko-KR" dirty="0"/>
              <a:t>stock</a:t>
            </a:r>
            <a:r>
              <a:rPr lang="ko-KR" altLang="en-US" dirty="0"/>
              <a:t>이라는 모듈은</a:t>
            </a:r>
            <a:r>
              <a:rPr lang="en-US" altLang="ko-KR" dirty="0"/>
              <a:t> </a:t>
            </a:r>
            <a:r>
              <a:rPr lang="ko-KR" altLang="en-US" dirty="0"/>
              <a:t>결과가 없어서 맞는지 제대로 된 모듈인지 모르니까</a:t>
            </a:r>
            <a:endParaRPr lang="en-US" altLang="ko-KR" dirty="0"/>
          </a:p>
          <a:p>
            <a:r>
              <a:rPr lang="ko-KR" altLang="en-US" dirty="0"/>
              <a:t>아래와 같이 확인하는 줄을 넣어줘도 좋다</a:t>
            </a:r>
            <a:r>
              <a:rPr lang="en-US" altLang="ko-KR" dirty="0"/>
              <a:t>..</a:t>
            </a:r>
            <a:r>
              <a:rPr lang="ko-KR" altLang="en-US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EE29CF-A849-4840-83E3-8C523BA36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016" y="2537683"/>
            <a:ext cx="3758016" cy="759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481A527-9FC2-0F47-A902-F86BA143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8097" y="3731741"/>
            <a:ext cx="6337300" cy="24194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E01DD0-1F48-6C41-90B0-6787A260D127}"/>
              </a:ext>
            </a:extLst>
          </p:cNvPr>
          <p:cNvSpPr txBox="1"/>
          <p:nvPr/>
        </p:nvSpPr>
        <p:spPr>
          <a:xfrm>
            <a:off x="1458097" y="6151181"/>
            <a:ext cx="3909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수정된 </a:t>
            </a:r>
            <a:r>
              <a:rPr lang="en-US" altLang="ko-KR" dirty="0" err="1"/>
              <a:t>stock.py</a:t>
            </a:r>
            <a:r>
              <a:rPr lang="ko-KR" altLang="en-US" dirty="0"/>
              <a:t>파일을 실행하는 방법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32C228-23BB-084E-8CF8-389F4A7ABB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4435" y="3272305"/>
            <a:ext cx="2255014" cy="400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247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449274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3) 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모듈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module) tip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768C8-CC8D-064B-A627-9CF4C9F58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99" y="1965960"/>
            <a:ext cx="4699687" cy="34357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B547A3-A593-0A44-9DDB-30F47E75AADE}"/>
              </a:ext>
            </a:extLst>
          </p:cNvPr>
          <p:cNvSpPr txBox="1"/>
          <p:nvPr/>
        </p:nvSpPr>
        <p:spPr>
          <a:xfrm>
            <a:off x="6598508" y="2298843"/>
            <a:ext cx="509098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이렇게 하면 </a:t>
            </a:r>
            <a:r>
              <a:rPr lang="en-US" altLang="ko-KR" sz="2400" b="1" dirty="0"/>
              <a:t>module</a:t>
            </a:r>
            <a:r>
              <a:rPr lang="ko-KR" altLang="en-US" sz="2400" b="1" dirty="0"/>
              <a:t>안에서는 함수를 확인하고</a:t>
            </a:r>
            <a:r>
              <a:rPr lang="en-US" altLang="ko-KR" sz="2400" b="1" dirty="0"/>
              <a:t>,</a:t>
            </a:r>
          </a:p>
          <a:p>
            <a:r>
              <a:rPr lang="ko-KR" altLang="en-US" sz="2400" b="1" dirty="0"/>
              <a:t>이 모듈을 </a:t>
            </a:r>
            <a:r>
              <a:rPr lang="en-US" altLang="ko-KR" sz="2400" b="1" dirty="0"/>
              <a:t>Import</a:t>
            </a:r>
            <a:r>
              <a:rPr lang="ko-KR" altLang="en-US" sz="2400" b="1" dirty="0"/>
              <a:t>한 새로운 파일에서는 불필요한 테스트 정보가 </a:t>
            </a:r>
            <a:r>
              <a:rPr lang="ko-KR" altLang="en-US" sz="2400" b="1" dirty="0" err="1"/>
              <a:t>안나오게</a:t>
            </a:r>
            <a:r>
              <a:rPr lang="ko-KR" altLang="en-US" sz="2400" b="1" dirty="0"/>
              <a:t> 할 수 있다</a:t>
            </a:r>
            <a:r>
              <a:rPr lang="en-US" altLang="ko-KR" sz="2400" b="1" dirty="0"/>
              <a:t>.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863739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7" y="645105"/>
            <a:ext cx="9449274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3-1) 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시간 모듈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module) 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C9CF9A-8F31-2342-80F9-3E7729673E82}"/>
              </a:ext>
            </a:extLst>
          </p:cNvPr>
          <p:cNvSpPr txBox="1"/>
          <p:nvPr/>
        </p:nvSpPr>
        <p:spPr>
          <a:xfrm>
            <a:off x="1458098" y="1743538"/>
            <a:ext cx="7685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time</a:t>
            </a:r>
            <a:r>
              <a:rPr lang="ko-KR" altLang="en-US" sz="2400" dirty="0"/>
              <a:t>과 </a:t>
            </a:r>
            <a:r>
              <a:rPr lang="en-US" altLang="ko-KR" sz="2400" dirty="0"/>
              <a:t>datetime</a:t>
            </a:r>
            <a:r>
              <a:rPr lang="ko-KR" altLang="en-US" sz="2400" dirty="0"/>
              <a:t>은 </a:t>
            </a:r>
            <a:r>
              <a:rPr lang="ko-KR" altLang="en-US" sz="2400" dirty="0" err="1"/>
              <a:t>파이썬에</a:t>
            </a:r>
            <a:r>
              <a:rPr lang="ko-KR" altLang="en-US" sz="2400" dirty="0"/>
              <a:t> 기본으로 있는 모듈이다</a:t>
            </a:r>
            <a:r>
              <a:rPr lang="en-US" altLang="ko-KR" sz="2400" dirty="0"/>
              <a:t>.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970D8B-E28A-674F-8AD0-B7ED3BF53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098" y="2452337"/>
            <a:ext cx="3779255" cy="35261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D02DCF-69BE-6D48-A92D-7163155A1B8A}"/>
              </a:ext>
            </a:extLst>
          </p:cNvPr>
          <p:cNvSpPr txBox="1"/>
          <p:nvPr/>
        </p:nvSpPr>
        <p:spPr>
          <a:xfrm>
            <a:off x="5301049" y="2452337"/>
            <a:ext cx="3970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이런식으로</a:t>
            </a:r>
            <a:r>
              <a:rPr lang="ko-KR" altLang="en-US" dirty="0"/>
              <a:t> 여러 개 </a:t>
            </a:r>
            <a:r>
              <a:rPr lang="en-US" altLang="ko-KR" dirty="0"/>
              <a:t>import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190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6" y="645105"/>
            <a:ext cx="10338961" cy="1320855"/>
          </a:xfrm>
        </p:spPr>
        <p:txBody>
          <a:bodyPr>
            <a:normAutofit/>
          </a:bodyPr>
          <a:lstStyle/>
          <a:p>
            <a:r>
              <a:rPr lang="en-US" altLang="ko-KR" sz="4400" b="1" dirty="0">
                <a:latin typeface="Arial Rounded MT Bold" panose="020F0704030504030204" pitchFamily="34" charset="77"/>
              </a:rPr>
              <a:t>3-1) </a:t>
            </a:r>
            <a:r>
              <a:rPr lang="ko-KR" altLang="en-US" sz="4400" b="1" dirty="0">
                <a:latin typeface="Arial Rounded MT Bold" panose="020F0704030504030204" pitchFamily="34" charset="77"/>
              </a:rPr>
              <a:t>시간 모듈</a:t>
            </a:r>
            <a:r>
              <a:rPr lang="en-US" altLang="ko-KR" sz="4400" b="1" dirty="0">
                <a:latin typeface="Arial Rounded MT Bold" panose="020F0704030504030204" pitchFamily="34" charset="77"/>
              </a:rPr>
              <a:t>(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module)</a:t>
            </a:r>
            <a:r>
              <a:rPr lang="ko-KR" altLang="en-US" sz="4400" b="1" cap="none" dirty="0">
                <a:latin typeface="Arial Rounded MT Bold" panose="020F0704030504030204" pitchFamily="34" charset="77"/>
              </a:rPr>
              <a:t>의 </a:t>
            </a:r>
            <a:r>
              <a:rPr lang="en-US" altLang="ko-KR" sz="4400" b="1" cap="none" dirty="0">
                <a:latin typeface="Arial Rounded MT Bold" panose="020F0704030504030204" pitchFamily="34" charset="77"/>
              </a:rPr>
              <a:t>sleep</a:t>
            </a:r>
            <a:r>
              <a:rPr lang="ko-KR" altLang="en-US" sz="4400" b="1" cap="none" dirty="0">
                <a:latin typeface="Arial Rounded MT Bold" panose="020F0704030504030204" pitchFamily="34" charset="77"/>
              </a:rPr>
              <a:t>함수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C9CF9A-8F31-2342-80F9-3E7729673E82}"/>
              </a:ext>
            </a:extLst>
          </p:cNvPr>
          <p:cNvSpPr txBox="1"/>
          <p:nvPr/>
        </p:nvSpPr>
        <p:spPr>
          <a:xfrm>
            <a:off x="1458098" y="1550461"/>
            <a:ext cx="9811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sleep</a:t>
            </a:r>
            <a:r>
              <a:rPr lang="ko-KR" altLang="en-US" sz="2400" dirty="0"/>
              <a:t>함수는 인자로 전달하는 값에 해당하는 초</a:t>
            </a:r>
            <a:r>
              <a:rPr lang="en-US" altLang="ko-KR" sz="2400" dirty="0"/>
              <a:t>(sec)</a:t>
            </a:r>
            <a:r>
              <a:rPr lang="ko-KR" altLang="en-US" sz="2400" dirty="0"/>
              <a:t>동안 코드의 실행을 멈추는 함수이다</a:t>
            </a:r>
            <a:r>
              <a:rPr lang="en-US" altLang="ko-KR" sz="2400" dirty="0"/>
              <a:t>.</a:t>
            </a: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528702-822D-2E4A-BB58-5AD50068BEEE}"/>
              </a:ext>
            </a:extLst>
          </p:cNvPr>
          <p:cNvSpPr txBox="1"/>
          <p:nvPr/>
        </p:nvSpPr>
        <p:spPr>
          <a:xfrm>
            <a:off x="1458098" y="2686650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전구 깜빡이기 할 때 사용 가능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52BAB0-28D6-C741-8B5F-20E3F21BA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30" y="3286813"/>
            <a:ext cx="2628170" cy="11369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D030AE5-B788-CA44-818C-BA282DCE8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868" y="4866331"/>
            <a:ext cx="2971486" cy="13434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E2B669-A439-5B44-8B61-7A2CD6F9F83F}"/>
              </a:ext>
            </a:extLst>
          </p:cNvPr>
          <p:cNvSpPr txBox="1"/>
          <p:nvPr/>
        </p:nvSpPr>
        <p:spPr>
          <a:xfrm>
            <a:off x="5684108" y="4423718"/>
            <a:ext cx="5387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이런 것이 있다 정도로 알아두면 좋을 것 같아요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301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ko-KR" altLang="en-US" sz="8400" b="1" dirty="0">
                <a:solidFill>
                  <a:schemeClr val="tx1"/>
                </a:solidFill>
              </a:rPr>
              <a:t>객체지향 프로그래밍을 할 때 사용됨</a:t>
            </a:r>
            <a:endParaRPr lang="en-US" altLang="ko-KR" sz="8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ko-KR" altLang="en-US" sz="8400" b="1" dirty="0">
                <a:solidFill>
                  <a:schemeClr val="tx1"/>
                </a:solidFill>
              </a:rPr>
              <a:t>객체지향 프로그래밍은 대규모 프로그램을 개발할 때 자주 사용됨</a:t>
            </a:r>
            <a:endParaRPr lang="en-US" altLang="ko-KR" sz="8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8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8400" b="1" dirty="0">
                <a:solidFill>
                  <a:schemeClr val="tx1"/>
                </a:solidFill>
              </a:rPr>
              <a:t>API</a:t>
            </a:r>
            <a:r>
              <a:rPr lang="ko-KR" altLang="en-US" sz="8400" b="1" dirty="0">
                <a:solidFill>
                  <a:schemeClr val="tx1"/>
                </a:solidFill>
              </a:rPr>
              <a:t>가 객체지향 프로그래밍 방식으로 개발 된 경우도 많음</a:t>
            </a:r>
            <a:endParaRPr lang="en-US" altLang="ko-KR" sz="84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1)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</a:rPr>
              <a:t>c</a:t>
            </a:r>
            <a:r>
              <a:rPr lang="en-US" cap="none" dirty="0">
                <a:latin typeface="Arial Rounded MT Bold" panose="020F0704030504030204" pitchFamily="34" charset="77"/>
              </a:rPr>
              <a:t>lass</a:t>
            </a:r>
            <a:r>
              <a:rPr lang="en-US" dirty="0">
                <a:latin typeface="Arial Rounded MT Bold" panose="020F0704030504030204" pitchFamily="34" charset="77"/>
              </a:rPr>
              <a:t>(</a:t>
            </a:r>
            <a:r>
              <a:rPr lang="ko-KR" altLang="en-US" b="1" dirty="0">
                <a:latin typeface="Arial Rounded MT Bold" panose="020F0704030504030204" pitchFamily="34" charset="77"/>
              </a:rPr>
              <a:t>클래스</a:t>
            </a:r>
            <a:r>
              <a:rPr lang="en-US" altLang="ko-KR" dirty="0">
                <a:latin typeface="Arial Rounded MT Bold" panose="020F0704030504030204" pitchFamily="34" charset="77"/>
              </a:rPr>
              <a:t>)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8846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ko-KR" altLang="en-US" dirty="0">
                <a:latin typeface="Arial Rounded MT Bold" panose="020F0704030504030204" pitchFamily="34" charset="77"/>
              </a:rPr>
              <a:t>워밍업</a:t>
            </a:r>
            <a:r>
              <a:rPr lang="en-US" altLang="ko-KR" dirty="0">
                <a:latin typeface="Arial Rounded MT Bold" panose="020F0704030504030204" pitchFamily="34" charset="77"/>
              </a:rPr>
              <a:t>(</a:t>
            </a:r>
            <a:r>
              <a:rPr lang="ko-KR" altLang="en-US" dirty="0">
                <a:latin typeface="Arial Rounded MT Bold" panose="020F0704030504030204" pitchFamily="34" charset="77"/>
              </a:rPr>
              <a:t>함수 복습</a:t>
            </a:r>
            <a:r>
              <a:rPr lang="en-US" altLang="ko-KR" dirty="0">
                <a:latin typeface="Arial Rounded MT Bold" panose="020F0704030504030204" pitchFamily="34" charset="77"/>
              </a:rPr>
              <a:t>)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699DEC-AB31-974F-AC63-6325A0A04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795126"/>
            <a:ext cx="5499100" cy="825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5EA031-9421-B54B-B516-C41106073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859" y="3399303"/>
            <a:ext cx="5878532" cy="1651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F42D252-9F5C-7048-B0E7-85BA97636AEB}"/>
              </a:ext>
            </a:extLst>
          </p:cNvPr>
          <p:cNvSpPr txBox="1"/>
          <p:nvPr/>
        </p:nvSpPr>
        <p:spPr>
          <a:xfrm>
            <a:off x="1251678" y="1329965"/>
            <a:ext cx="4921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변수에 여러가지 정보를 넣은 것</a:t>
            </a:r>
            <a:r>
              <a:rPr lang="en-US" altLang="ko-KR" dirty="0"/>
              <a:t>!</a:t>
            </a:r>
            <a:r>
              <a:rPr lang="ko-KR" altLang="en-US" dirty="0"/>
              <a:t> </a:t>
            </a:r>
            <a:r>
              <a:rPr lang="en-US" altLang="ko-KR" dirty="0"/>
              <a:t>ex) </a:t>
            </a:r>
            <a:r>
              <a:rPr lang="ko-KR" altLang="en-US" dirty="0"/>
              <a:t>명함 정보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BE3799-F36C-614F-9E99-6CD384F71F89}"/>
              </a:ext>
            </a:extLst>
          </p:cNvPr>
          <p:cNvSpPr txBox="1"/>
          <p:nvPr/>
        </p:nvSpPr>
        <p:spPr>
          <a:xfrm>
            <a:off x="1221859" y="2915525"/>
            <a:ext cx="5878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입력받은</a:t>
            </a:r>
            <a:r>
              <a:rPr lang="ko-KR" altLang="en-US" dirty="0"/>
              <a:t> 데이터를 사용해 실제로 정보를 출력하는 함수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009DAA-D251-1145-AC5D-478FF69DE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678" y="5695515"/>
            <a:ext cx="4546600" cy="3683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E12B78C-B671-684B-848E-8D3CA6687DA6}"/>
              </a:ext>
            </a:extLst>
          </p:cNvPr>
          <p:cNvSpPr txBox="1"/>
          <p:nvPr/>
        </p:nvSpPr>
        <p:spPr>
          <a:xfrm>
            <a:off x="1221859" y="531895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확인</a:t>
            </a:r>
            <a:endParaRPr lang="en-US" dirty="0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C98C47A6-4476-374D-A977-58F8D2889E02}"/>
              </a:ext>
            </a:extLst>
          </p:cNvPr>
          <p:cNvSpPr/>
          <p:nvPr/>
        </p:nvSpPr>
        <p:spPr>
          <a:xfrm>
            <a:off x="6195659" y="1460891"/>
            <a:ext cx="1044542" cy="84965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342833-C974-3449-A5C5-5FBA863D1D0E}"/>
              </a:ext>
            </a:extLst>
          </p:cNvPr>
          <p:cNvSpPr txBox="1"/>
          <p:nvPr/>
        </p:nvSpPr>
        <p:spPr>
          <a:xfrm>
            <a:off x="5652638" y="2252489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/>
              <a:t>명까진 </a:t>
            </a:r>
            <a:r>
              <a:rPr lang="ko-KR" altLang="en-US" sz="1400" dirty="0" err="1"/>
              <a:t>해피</a:t>
            </a:r>
            <a:r>
              <a:rPr lang="ko-KR" altLang="en-US" sz="1400" dirty="0"/>
              <a:t> 했죠</a:t>
            </a:r>
            <a:r>
              <a:rPr lang="en-US" altLang="ko-KR" sz="1400" dirty="0"/>
              <a:t>!?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01C352-0076-D748-8698-52B14EFCE0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027" y="1589741"/>
            <a:ext cx="3924300" cy="8382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279B376-FEF4-724D-BB29-A01203F6E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5842" y="2723099"/>
            <a:ext cx="3891821" cy="29214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B8A8667-B6DA-C240-A6C9-3BA0370ACD57}"/>
              </a:ext>
            </a:extLst>
          </p:cNvPr>
          <p:cNvSpPr txBox="1"/>
          <p:nvPr/>
        </p:nvSpPr>
        <p:spPr>
          <a:xfrm>
            <a:off x="7439461" y="1317918"/>
            <a:ext cx="1898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 err="1"/>
              <a:t>명째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 err="1"/>
              <a:t>명째</a:t>
            </a:r>
            <a:r>
              <a:rPr lang="en-US" altLang="ko-KR" dirty="0"/>
              <a:t>…</a:t>
            </a:r>
            <a:r>
              <a:rPr lang="en-US" altLang="ko-KR" dirty="0" err="1"/>
              <a:t>ing</a:t>
            </a:r>
            <a:endParaRPr lang="en-US" dirty="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641BFBA1-9089-124F-849B-0DF654BD7F93}"/>
              </a:ext>
            </a:extLst>
          </p:cNvPr>
          <p:cNvSpPr/>
          <p:nvPr/>
        </p:nvSpPr>
        <p:spPr>
          <a:xfrm>
            <a:off x="8388599" y="3100191"/>
            <a:ext cx="823134" cy="10097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3597A2-0C81-1F44-8C78-3725483DDB2F}"/>
              </a:ext>
            </a:extLst>
          </p:cNvPr>
          <p:cNvSpPr txBox="1"/>
          <p:nvPr/>
        </p:nvSpPr>
        <p:spPr>
          <a:xfrm>
            <a:off x="7541027" y="4147922"/>
            <a:ext cx="4522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사람이 더 많아지고</a:t>
            </a:r>
            <a:endParaRPr lang="en-US" altLang="ko-KR" dirty="0"/>
          </a:p>
          <a:p>
            <a:r>
              <a:rPr lang="ko-KR" altLang="en-US" dirty="0"/>
              <a:t>정보에 전화번호나 직책 같은 정보를  출력하는 기능을 추가하려면</a:t>
            </a:r>
            <a:endParaRPr lang="en-US" altLang="ko-KR" dirty="0"/>
          </a:p>
          <a:p>
            <a:r>
              <a:rPr lang="ko-KR" altLang="en-US" dirty="0"/>
              <a:t>어떻게 해야 할지 알아봅시다</a:t>
            </a:r>
            <a:r>
              <a:rPr lang="en-US" altLang="ko-KR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1648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96B6FC-B066-D245-B52D-3AC1FDF0E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6266" y="1180787"/>
            <a:ext cx="5907071" cy="455655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71708"/>
            <a:ext cx="3384330" cy="394084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객체지향 프로그래밍은 객체를 정의하는 것에서 시작한다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r>
              <a:rPr lang="ko-KR" altLang="en-US" b="1" dirty="0"/>
              <a:t>데이터와 함수를 묶어서 명함 이라는 새로운 객체를 만들고 이것을 사용해 프로그래밍 하는 방식을 의미한다</a:t>
            </a:r>
            <a:r>
              <a:rPr lang="en-US" altLang="ko-KR" b="1" dirty="0"/>
              <a:t>.</a:t>
            </a:r>
          </a:p>
          <a:p>
            <a:pPr marL="0" indent="0">
              <a:buNone/>
            </a:pPr>
            <a:endParaRPr lang="en-US" altLang="ko-KR" b="1" dirty="0"/>
          </a:p>
          <a:p>
            <a:pPr marL="0" indent="0">
              <a:buNone/>
            </a:pPr>
            <a:br>
              <a:rPr lang="ko-KR" altLang="en-US" dirty="0"/>
            </a:br>
            <a:endParaRPr lang="en-US" altLang="ko-KR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9" y="645107"/>
            <a:ext cx="4133121" cy="1640894"/>
          </a:xfrm>
        </p:spPr>
        <p:txBody>
          <a:bodyPr anchor="t">
            <a:normAutofit/>
          </a:bodyPr>
          <a:lstStyle/>
          <a:p>
            <a:r>
              <a:rPr lang="en-US" altLang="ko-KR" sz="3700" dirty="0">
                <a:latin typeface="Arial Rounded MT Bold" panose="020F0704030504030204" pitchFamily="34" charset="77"/>
              </a:rPr>
              <a:t>1)</a:t>
            </a:r>
            <a:r>
              <a:rPr lang="ko-KR" altLang="en-US" sz="3700" dirty="0">
                <a:latin typeface="Arial Rounded MT Bold" panose="020F0704030504030204" pitchFamily="34" charset="77"/>
              </a:rPr>
              <a:t> </a:t>
            </a:r>
            <a:r>
              <a:rPr lang="en-US" sz="3700" dirty="0">
                <a:latin typeface="Arial Rounded MT Bold" panose="020F0704030504030204" pitchFamily="34" charset="77"/>
              </a:rPr>
              <a:t>c</a:t>
            </a:r>
            <a:r>
              <a:rPr lang="en-US" sz="3700" cap="none" dirty="0">
                <a:latin typeface="Arial Rounded MT Bold" panose="020F0704030504030204" pitchFamily="34" charset="77"/>
              </a:rPr>
              <a:t>lass</a:t>
            </a:r>
            <a:r>
              <a:rPr lang="en-US" sz="3700" dirty="0">
                <a:latin typeface="Arial Rounded MT Bold" panose="020F0704030504030204" pitchFamily="34" charset="77"/>
              </a:rPr>
              <a:t>(</a:t>
            </a:r>
            <a:r>
              <a:rPr lang="ko-KR" altLang="en-US" sz="3700" b="1" dirty="0">
                <a:latin typeface="Arial Rounded MT Bold" panose="020F0704030504030204" pitchFamily="34" charset="77"/>
              </a:rPr>
              <a:t>클래스</a:t>
            </a:r>
            <a:r>
              <a:rPr lang="en-US" altLang="ko-KR" sz="3700" dirty="0">
                <a:latin typeface="Arial Rounded MT Bold" panose="020F0704030504030204" pitchFamily="34" charset="77"/>
              </a:rPr>
              <a:t>)</a:t>
            </a:r>
            <a:endParaRPr lang="en-US" sz="3700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54406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2)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</a:rPr>
              <a:t>c</a:t>
            </a:r>
            <a:r>
              <a:rPr lang="en-US" cap="none" dirty="0">
                <a:latin typeface="Arial Rounded MT Bold" panose="020F0704030504030204" pitchFamily="34" charset="77"/>
              </a:rPr>
              <a:t>lass</a:t>
            </a:r>
            <a:r>
              <a:rPr lang="en-US" dirty="0">
                <a:latin typeface="Arial Rounded MT Bold" panose="020F0704030504030204" pitchFamily="34" charset="77"/>
              </a:rPr>
              <a:t>(</a:t>
            </a:r>
            <a:r>
              <a:rPr lang="ko-KR" altLang="en-US" b="1" dirty="0">
                <a:latin typeface="Arial Rounded MT Bold" panose="020F0704030504030204" pitchFamily="34" charset="77"/>
              </a:rPr>
              <a:t>클래스</a:t>
            </a:r>
            <a:r>
              <a:rPr lang="en-US" altLang="ko-KR" dirty="0">
                <a:latin typeface="Arial Rounded MT Bold" panose="020F0704030504030204" pitchFamily="34" charset="77"/>
              </a:rPr>
              <a:t>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ko-KR" altLang="en-US" b="1" dirty="0">
                <a:latin typeface="Arial Rounded MT Bold" panose="020F0704030504030204" pitchFamily="34" charset="77"/>
              </a:rPr>
              <a:t>정의</a:t>
            </a:r>
            <a:endParaRPr lang="en-US" b="1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4F6E23-59D8-1A4F-B943-473C6B82F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518917"/>
            <a:ext cx="7346344" cy="8517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4FB200-38A7-BF43-BD71-6C363FE39539}"/>
              </a:ext>
            </a:extLst>
          </p:cNvPr>
          <p:cNvSpPr txBox="1"/>
          <p:nvPr/>
        </p:nvSpPr>
        <p:spPr>
          <a:xfrm>
            <a:off x="7298266" y="1621626"/>
            <a:ext cx="3967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함수를 정의한 것처럼 </a:t>
            </a:r>
            <a:endParaRPr lang="en-US" altLang="ko-KR" dirty="0"/>
          </a:p>
          <a:p>
            <a:r>
              <a:rPr lang="ko-KR" altLang="en-US" dirty="0"/>
              <a:t>클래스도 사용하기 전에 정의 해야 됨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3F2F7-6325-D545-9C7C-1DD4D2776F39}"/>
              </a:ext>
            </a:extLst>
          </p:cNvPr>
          <p:cNvSpPr txBox="1"/>
          <p:nvPr/>
        </p:nvSpPr>
        <p:spPr>
          <a:xfrm>
            <a:off x="1754761" y="2393680"/>
            <a:ext cx="989245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클래스에는 변수와 함수를 모두 포함 시킬 수 있어요</a:t>
            </a:r>
            <a:r>
              <a:rPr lang="en-US" altLang="ko-KR" dirty="0"/>
              <a:t>!</a:t>
            </a:r>
          </a:p>
          <a:p>
            <a:endParaRPr lang="en-US" dirty="0"/>
          </a:p>
          <a:p>
            <a:r>
              <a:rPr lang="ko-KR" altLang="en-US" dirty="0"/>
              <a:t>클래스를 정의한다는 것은 새로운 데이터 타입을 정의한 것이기 때문에 이를 실제로 사용하려면</a:t>
            </a:r>
            <a:endParaRPr lang="en-US" altLang="ko-KR" dirty="0"/>
          </a:p>
          <a:p>
            <a:r>
              <a:rPr lang="ko-KR" altLang="en-US" dirty="0"/>
              <a:t>인스턴스라는 것을 생성해야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파이썬에서</a:t>
            </a:r>
            <a:r>
              <a:rPr lang="ko-KR" altLang="en-US" dirty="0"/>
              <a:t> 정의된 클래스를 이용해 인스턴스를 생성하려면 클래스 이름 뒤에 </a:t>
            </a:r>
            <a:r>
              <a:rPr lang="en-US" altLang="ko-KR" dirty="0"/>
              <a:t>()</a:t>
            </a:r>
            <a:r>
              <a:rPr lang="ko-KR" altLang="en-US" dirty="0" err="1"/>
              <a:t>를</a:t>
            </a:r>
            <a:r>
              <a:rPr lang="ko-KR" altLang="en-US" dirty="0"/>
              <a:t> 넣으면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00742B-38B6-C04F-9C58-7B3388F73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8" y="4320447"/>
            <a:ext cx="8012666" cy="7764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931BC6-FC5A-F448-BD8A-CC49559FF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678" y="5357866"/>
            <a:ext cx="4241800" cy="368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B8670D-79F6-8A43-ABC8-1803FD1BF53F}"/>
              </a:ext>
            </a:extLst>
          </p:cNvPr>
          <p:cNvSpPr txBox="1"/>
          <p:nvPr/>
        </p:nvSpPr>
        <p:spPr>
          <a:xfrm>
            <a:off x="1754761" y="5944360"/>
            <a:ext cx="7455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 결과는 클래스의 인스턴스가 메모리의 </a:t>
            </a:r>
            <a:r>
              <a:rPr lang="en-US" altLang="ko-KR" dirty="0"/>
              <a:t>0x </a:t>
            </a:r>
            <a:r>
              <a:rPr lang="ko-KR" altLang="en-US" dirty="0" err="1"/>
              <a:t>어쩌구의</a:t>
            </a:r>
            <a:r>
              <a:rPr lang="ko-KR" altLang="en-US" dirty="0"/>
              <a:t> 위치에 저장되고 </a:t>
            </a:r>
            <a:endParaRPr lang="en-US" altLang="ko-KR" dirty="0"/>
          </a:p>
          <a:p>
            <a:r>
              <a:rPr lang="en-US" altLang="ko-KR" dirty="0"/>
              <a:t>card1</a:t>
            </a:r>
            <a:r>
              <a:rPr lang="ko-KR" altLang="en-US" dirty="0"/>
              <a:t>이라는 변수가 이를 바인딩한다는 의미다</a:t>
            </a:r>
            <a:r>
              <a:rPr lang="en-US" altLang="ko-KR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367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3) </a:t>
            </a:r>
            <a:r>
              <a:rPr lang="en-US" sz="4800" dirty="0">
                <a:latin typeface="Arial Rounded MT Bold" panose="020F0704030504030204" pitchFamily="34" charset="77"/>
              </a:rPr>
              <a:t>c</a:t>
            </a:r>
            <a:r>
              <a:rPr lang="en-US" sz="4800" cap="none" dirty="0">
                <a:latin typeface="Arial Rounded MT Bold" panose="020F0704030504030204" pitchFamily="34" charset="77"/>
              </a:rPr>
              <a:t>lass</a:t>
            </a:r>
            <a:r>
              <a:rPr lang="ko-KR" altLang="en-US" sz="4800" dirty="0">
                <a:latin typeface="Arial Rounded MT Bold" panose="020F0704030504030204" pitchFamily="34" charset="77"/>
              </a:rPr>
              <a:t>에 </a:t>
            </a:r>
            <a:r>
              <a:rPr lang="en-US" altLang="ko-KR" sz="4800" dirty="0">
                <a:latin typeface="Arial Rounded MT Bold" panose="020F0704030504030204" pitchFamily="34" charset="77"/>
              </a:rPr>
              <a:t>m</a:t>
            </a:r>
            <a:r>
              <a:rPr lang="en-US" altLang="ko-KR" sz="4800" cap="none" dirty="0">
                <a:latin typeface="Arial Rounded MT Bold" panose="020F0704030504030204" pitchFamily="34" charset="77"/>
              </a:rPr>
              <a:t>ethod</a:t>
            </a:r>
            <a:r>
              <a:rPr lang="ko-KR" altLang="en-US" sz="4800" dirty="0">
                <a:latin typeface="Arial Rounded MT Bold" panose="020F0704030504030204" pitchFamily="34" charset="77"/>
              </a:rPr>
              <a:t> 추가하기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A42886-F749-AC4E-B96D-5240C855D4C3}"/>
              </a:ext>
            </a:extLst>
          </p:cNvPr>
          <p:cNvSpPr txBox="1"/>
          <p:nvPr/>
        </p:nvSpPr>
        <p:spPr>
          <a:xfrm>
            <a:off x="2004203" y="1588559"/>
            <a:ext cx="873739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앞에서 만든 </a:t>
            </a:r>
            <a:r>
              <a:rPr lang="en-US" altLang="ko-KR" dirty="0" err="1"/>
              <a:t>BusinessCard</a:t>
            </a:r>
            <a:r>
              <a:rPr lang="en-US" altLang="ko-KR" dirty="0"/>
              <a:t> </a:t>
            </a:r>
            <a:r>
              <a:rPr lang="ko-KR" altLang="en-US" dirty="0"/>
              <a:t>클래스에는 클래스 내부에 변수나 함수가 없어서</a:t>
            </a:r>
            <a:endParaRPr lang="en-US" altLang="ko-KR" dirty="0"/>
          </a:p>
          <a:p>
            <a:r>
              <a:rPr lang="ko-KR" altLang="en-US" dirty="0"/>
              <a:t>인스턴스로 할 수 있는 일이 없었다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기능을 추가해 보자</a:t>
            </a:r>
            <a:r>
              <a:rPr lang="en-US" altLang="ko-KR" dirty="0"/>
              <a:t>!</a:t>
            </a:r>
          </a:p>
          <a:p>
            <a:endParaRPr lang="en-US" dirty="0"/>
          </a:p>
          <a:p>
            <a:r>
              <a:rPr lang="ko-KR" altLang="en-US" dirty="0"/>
              <a:t>추가할 기능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 err="1"/>
              <a:t>BusinessCard</a:t>
            </a:r>
            <a:r>
              <a:rPr lang="ko-KR" altLang="en-US" dirty="0"/>
              <a:t> 클래스에 사용자로부터 데이터를 입력 받고 저장하는 기능</a:t>
            </a:r>
            <a:endParaRPr lang="en-US" altLang="ko-KR" dirty="0"/>
          </a:p>
          <a:p>
            <a:endParaRPr lang="en-US" dirty="0"/>
          </a:p>
          <a:p>
            <a:r>
              <a:rPr lang="en-US" dirty="0"/>
              <a:t>method</a:t>
            </a:r>
            <a:r>
              <a:rPr lang="ko-KR" altLang="en-US" dirty="0"/>
              <a:t>는 클래스 내부에 정의되어 있는 함수를 뜻한다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 err="1"/>
              <a:t>set_info</a:t>
            </a:r>
            <a:r>
              <a:rPr lang="ko-KR" altLang="en-US" dirty="0"/>
              <a:t>라는 </a:t>
            </a:r>
            <a:r>
              <a:rPr lang="en-US" altLang="ko-KR" dirty="0"/>
              <a:t>method</a:t>
            </a:r>
            <a:r>
              <a:rPr lang="ko-KR" altLang="en-US" dirty="0"/>
              <a:t>추가 </a:t>
            </a:r>
            <a:r>
              <a:rPr lang="en-US" altLang="ko-KR" dirty="0"/>
              <a:t>(method</a:t>
            </a:r>
            <a:r>
              <a:rPr lang="ko-KR" altLang="en-US" dirty="0" err="1"/>
              <a:t>를</a:t>
            </a:r>
            <a:r>
              <a:rPr lang="ko-KR" altLang="en-US" dirty="0"/>
              <a:t> 정의할 때도 </a:t>
            </a:r>
            <a:r>
              <a:rPr lang="en-US" altLang="ko-KR" dirty="0"/>
              <a:t>def</a:t>
            </a:r>
            <a:r>
              <a:rPr lang="ko-KR" altLang="en-US" dirty="0"/>
              <a:t> 키워드를 사용</a:t>
            </a:r>
            <a:r>
              <a:rPr lang="en-US" altLang="ko-KR" dirty="0"/>
              <a:t>)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56E33B-CAF9-CF4B-8DF3-CA6D61E91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4203" y="4398087"/>
            <a:ext cx="5905500" cy="1384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86DDB46-E997-B74B-88EF-667F4260F257}"/>
              </a:ext>
            </a:extLst>
          </p:cNvPr>
          <p:cNvSpPr txBox="1"/>
          <p:nvPr/>
        </p:nvSpPr>
        <p:spPr>
          <a:xfrm>
            <a:off x="2004203" y="5795529"/>
            <a:ext cx="71288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set_info</a:t>
            </a:r>
            <a:r>
              <a:rPr lang="en-US" dirty="0"/>
              <a:t> method</a:t>
            </a:r>
            <a:r>
              <a:rPr lang="ko-KR" altLang="en-US" dirty="0"/>
              <a:t>는 </a:t>
            </a:r>
            <a:r>
              <a:rPr lang="en-US" altLang="ko-KR" dirty="0"/>
              <a:t>4</a:t>
            </a:r>
            <a:r>
              <a:rPr lang="ko-KR" altLang="en-US" dirty="0"/>
              <a:t>개의 인자를 받는다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name, email, </a:t>
            </a:r>
            <a:r>
              <a:rPr lang="en-US" altLang="ko-KR" dirty="0" err="1"/>
              <a:t>addr</a:t>
            </a:r>
            <a:r>
              <a:rPr lang="ko-KR" altLang="en-US" dirty="0"/>
              <a:t>은 </a:t>
            </a:r>
            <a:endParaRPr lang="en-US" altLang="ko-KR" dirty="0"/>
          </a:p>
          <a:p>
            <a:r>
              <a:rPr lang="ko-KR" altLang="en-US" dirty="0"/>
              <a:t>사용자로부터 </a:t>
            </a:r>
            <a:r>
              <a:rPr lang="ko-KR" altLang="en-US" dirty="0" err="1"/>
              <a:t>입력받은</a:t>
            </a:r>
            <a:r>
              <a:rPr lang="ko-KR" altLang="en-US" dirty="0"/>
              <a:t> 데이터를 </a:t>
            </a:r>
            <a:r>
              <a:rPr lang="en-US" altLang="ko-KR" dirty="0"/>
              <a:t>method</a:t>
            </a:r>
            <a:r>
              <a:rPr lang="ko-KR" altLang="en-US" dirty="0"/>
              <a:t>로 전달할 때 사용하는 인자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A730E9-983A-964C-9FBD-B117CF312A96}"/>
              </a:ext>
            </a:extLst>
          </p:cNvPr>
          <p:cNvSpPr txBox="1"/>
          <p:nvPr/>
        </p:nvSpPr>
        <p:spPr>
          <a:xfrm>
            <a:off x="1483687" y="6488668"/>
            <a:ext cx="9946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음</a:t>
            </a:r>
            <a:r>
              <a:rPr lang="en-US" altLang="ko-KR" dirty="0"/>
              <a:t>..</a:t>
            </a:r>
            <a:r>
              <a:rPr lang="ko-KR" altLang="en-US" dirty="0"/>
              <a:t> 일단 클래스 내부에 정의된 함수인 메서드의 첫 번째 인자는 반드시 </a:t>
            </a:r>
            <a:r>
              <a:rPr lang="en-US" altLang="ko-KR" dirty="0"/>
              <a:t>self</a:t>
            </a:r>
            <a:r>
              <a:rPr lang="ko-KR" altLang="en-US" dirty="0"/>
              <a:t>여야 한다고 외우세요</a:t>
            </a:r>
            <a:r>
              <a:rPr lang="en-US" altLang="ko-KR" dirty="0"/>
              <a:t>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162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m</a:t>
            </a:r>
            <a:r>
              <a:rPr lang="en-US" cap="none" dirty="0">
                <a:latin typeface="Arial Rounded MT Bold" panose="020F0704030504030204" pitchFamily="34" charset="77"/>
              </a:rPr>
              <a:t>ethod</a:t>
            </a:r>
            <a:r>
              <a:rPr lang="ko-KR" altLang="en-US" cap="none" dirty="0">
                <a:latin typeface="Arial Rounded MT Bold" panose="020F0704030504030204" pitchFamily="34" charset="77"/>
              </a:rPr>
              <a:t> 살펴보기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4D50F-E3B4-C246-A686-FBE1A17AA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598613"/>
            <a:ext cx="5254690" cy="3686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183271-4320-634E-9E93-3DA09E356CAD}"/>
              </a:ext>
            </a:extLst>
          </p:cNvPr>
          <p:cNvSpPr txBox="1"/>
          <p:nvPr/>
        </p:nvSpPr>
        <p:spPr>
          <a:xfrm>
            <a:off x="6641835" y="1791297"/>
            <a:ext cx="53638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 err="1"/>
              <a:t>set_info</a:t>
            </a:r>
            <a:r>
              <a:rPr lang="en-US" altLang="ko-KR" sz="2800" dirty="0"/>
              <a:t> method</a:t>
            </a:r>
            <a:r>
              <a:rPr lang="ko-KR" altLang="en-US" sz="2800" dirty="0"/>
              <a:t>의 동작은 </a:t>
            </a:r>
            <a:r>
              <a:rPr lang="en-US" altLang="ko-KR" sz="2800" dirty="0"/>
              <a:t>method</a:t>
            </a:r>
            <a:r>
              <a:rPr lang="ko-KR" altLang="en-US" sz="2800" dirty="0"/>
              <a:t>인자인 </a:t>
            </a:r>
            <a:r>
              <a:rPr lang="en-US" altLang="ko-KR" sz="2800" dirty="0"/>
              <a:t>name, email,</a:t>
            </a:r>
          </a:p>
          <a:p>
            <a:r>
              <a:rPr lang="en-US" altLang="ko-KR" sz="2800" dirty="0" err="1"/>
              <a:t>addr</a:t>
            </a:r>
            <a:r>
              <a:rPr lang="ko-KR" altLang="en-US" sz="2800" dirty="0"/>
              <a:t>이라는 변수가 가리키고 있던 값을 </a:t>
            </a:r>
            <a:r>
              <a:rPr lang="en-US" altLang="ko-KR" sz="2800" dirty="0" err="1"/>
              <a:t>self.name</a:t>
            </a:r>
            <a:r>
              <a:rPr lang="en-US" altLang="ko-KR" sz="2800" dirty="0"/>
              <a:t>, </a:t>
            </a:r>
          </a:p>
          <a:p>
            <a:r>
              <a:rPr lang="en-US" altLang="ko-KR" sz="2800" dirty="0" err="1"/>
              <a:t>self.email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self.addr</a:t>
            </a:r>
            <a:r>
              <a:rPr lang="ko-KR" altLang="en-US" sz="2800" dirty="0"/>
              <a:t>이 바인딩하는 것이다</a:t>
            </a:r>
            <a:r>
              <a:rPr lang="en-US" altLang="ko-KR" sz="28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1BF0A3-ABA5-AF48-8038-E20804CBF81C}"/>
              </a:ext>
            </a:extLst>
          </p:cNvPr>
          <p:cNvSpPr txBox="1"/>
          <p:nvPr/>
        </p:nvSpPr>
        <p:spPr>
          <a:xfrm>
            <a:off x="1117600" y="5809933"/>
            <a:ext cx="7645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새롭게 정의된 </a:t>
            </a:r>
            <a:r>
              <a:rPr lang="en-US" altLang="ko-KR" dirty="0" err="1"/>
              <a:t>BusinessCard</a:t>
            </a:r>
            <a:r>
              <a:rPr lang="ko-KR" altLang="en-US" dirty="0"/>
              <a:t> 클래스는 </a:t>
            </a:r>
            <a:r>
              <a:rPr lang="en-US" altLang="ko-KR" dirty="0" err="1"/>
              <a:t>set_info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 err="1"/>
              <a:t>를</a:t>
            </a:r>
            <a:r>
              <a:rPr lang="ko-KR" altLang="en-US" dirty="0"/>
              <a:t> 호출 할 수 있어요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3951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Arial Rounded MT Bold" panose="020F0704030504030204" pitchFamily="34" charset="77"/>
              </a:rPr>
              <a:t>c</a:t>
            </a:r>
            <a:r>
              <a:rPr lang="en-US" sz="4400" cap="none" dirty="0">
                <a:latin typeface="Arial Rounded MT Bold" panose="020F0704030504030204" pitchFamily="34" charset="77"/>
              </a:rPr>
              <a:t>lass</a:t>
            </a:r>
            <a:r>
              <a:rPr lang="ko-KR" altLang="en-US" sz="4400" cap="none" dirty="0">
                <a:latin typeface="Arial Rounded MT Bold" panose="020F0704030504030204" pitchFamily="34" charset="77"/>
              </a:rPr>
              <a:t> 인스턴스를 통한</a:t>
            </a:r>
            <a:r>
              <a:rPr lang="en-US" altLang="ko-KR" sz="4400" cap="none" dirty="0">
                <a:latin typeface="Arial Rounded MT Bold" panose="020F0704030504030204" pitchFamily="34" charset="77"/>
              </a:rPr>
              <a:t> method </a:t>
            </a:r>
            <a:r>
              <a:rPr lang="ko-KR" altLang="en-US" sz="4400" cap="none" dirty="0">
                <a:latin typeface="Arial Rounded MT Bold" panose="020F0704030504030204" pitchFamily="34" charset="77"/>
              </a:rPr>
              <a:t>호출</a:t>
            </a:r>
            <a:endParaRPr lang="en-US" sz="4400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6EBB48-58FB-854A-BB77-29AF79024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7" y="1363662"/>
            <a:ext cx="9329345" cy="7191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217F93-54D3-714A-B195-B835706AF8E0}"/>
              </a:ext>
            </a:extLst>
          </p:cNvPr>
          <p:cNvSpPr txBox="1"/>
          <p:nvPr/>
        </p:nvSpPr>
        <p:spPr>
          <a:xfrm>
            <a:off x="1251677" y="2232941"/>
            <a:ext cx="96025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set_info</a:t>
            </a:r>
            <a:r>
              <a:rPr lang="en-US" dirty="0"/>
              <a:t> method:  method </a:t>
            </a:r>
            <a:r>
              <a:rPr lang="ko-KR" altLang="en-US" dirty="0"/>
              <a:t>인자로 전달된 값을 </a:t>
            </a:r>
            <a:r>
              <a:rPr lang="en-US" altLang="ko-KR" dirty="0" err="1"/>
              <a:t>self.name</a:t>
            </a:r>
            <a:r>
              <a:rPr lang="en-US" altLang="ko-KR" dirty="0"/>
              <a:t>, </a:t>
            </a:r>
            <a:r>
              <a:rPr lang="en-US" altLang="ko-KR" dirty="0" err="1"/>
              <a:t>self.email</a:t>
            </a:r>
            <a:r>
              <a:rPr lang="en-US" altLang="ko-KR" dirty="0"/>
              <a:t>, </a:t>
            </a:r>
            <a:r>
              <a:rPr lang="en-US" altLang="ko-KR" dirty="0" err="1"/>
              <a:t>self.addr</a:t>
            </a:r>
            <a:r>
              <a:rPr lang="ko-KR" altLang="en-US" dirty="0"/>
              <a:t>로 바인딩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현재 사용 가능한 변수 </a:t>
            </a:r>
            <a:r>
              <a:rPr lang="en-US" altLang="ko-KR" dirty="0"/>
              <a:t>:</a:t>
            </a:r>
            <a:r>
              <a:rPr lang="ko-KR" altLang="en-US" dirty="0"/>
              <a:t> 클래스 인스턴스인 </a:t>
            </a:r>
            <a:r>
              <a:rPr lang="en-US" altLang="ko-KR" dirty="0"/>
              <a:t>member1</a:t>
            </a:r>
          </a:p>
          <a:p>
            <a:r>
              <a:rPr lang="en-US" altLang="ko-KR" dirty="0"/>
              <a:t>member1</a:t>
            </a:r>
            <a:r>
              <a:rPr lang="ko-KR" altLang="en-US" dirty="0"/>
              <a:t>을 통해 </a:t>
            </a:r>
            <a:r>
              <a:rPr lang="en-US" altLang="ko-KR" dirty="0" err="1"/>
              <a:t>self.name</a:t>
            </a:r>
            <a:r>
              <a:rPr lang="en-US" altLang="ko-KR" dirty="0"/>
              <a:t>, </a:t>
            </a:r>
            <a:r>
              <a:rPr lang="en-US" altLang="ko-KR" dirty="0" err="1"/>
              <a:t>self.email</a:t>
            </a:r>
            <a:r>
              <a:rPr lang="en-US" altLang="ko-KR" dirty="0"/>
              <a:t>, </a:t>
            </a:r>
            <a:r>
              <a:rPr lang="en-US" altLang="ko-KR" dirty="0" err="1"/>
              <a:t>self.addr</a:t>
            </a:r>
            <a:r>
              <a:rPr lang="ko-KR" altLang="en-US" dirty="0"/>
              <a:t>에 접근</a:t>
            </a:r>
            <a:endParaRPr lang="en-US" altLang="ko-KR" dirty="0"/>
          </a:p>
          <a:p>
            <a:endParaRPr lang="en-US" dirty="0"/>
          </a:p>
          <a:p>
            <a:r>
              <a:rPr lang="en-US" dirty="0" err="1"/>
              <a:t>self.name</a:t>
            </a:r>
            <a:r>
              <a:rPr lang="ko-KR" altLang="en-US" dirty="0"/>
              <a:t>같이 </a:t>
            </a:r>
            <a:r>
              <a:rPr lang="en-US" altLang="ko-KR" dirty="0"/>
              <a:t>self.</a:t>
            </a:r>
            <a:r>
              <a:rPr lang="ko-KR" altLang="en-US" dirty="0" err="1"/>
              <a:t>변수명</a:t>
            </a:r>
            <a:r>
              <a:rPr lang="ko-KR" altLang="en-US" dirty="0"/>
              <a:t> 과 같은 형태를 띄는 변수를 인스턴스 변수라고 한다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인스턴스 변수</a:t>
            </a:r>
            <a:r>
              <a:rPr lang="en-US" altLang="ko-KR" dirty="0"/>
              <a:t>:</a:t>
            </a:r>
            <a:r>
              <a:rPr lang="ko-KR" altLang="en-US" dirty="0"/>
              <a:t> 클래스 인스턴스 내부의 변수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267E93-E772-CF46-B400-5E6E9B4DF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5" y="4692143"/>
            <a:ext cx="7750999" cy="1945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793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1.</a:t>
            </a:r>
            <a:r>
              <a:rPr lang="ko-KR" altLang="en-US" sz="3200" dirty="0">
                <a:solidFill>
                  <a:schemeClr val="tx1"/>
                </a:solidFill>
              </a:rPr>
              <a:t> 인스턴스를 만든다 </a:t>
            </a:r>
            <a:r>
              <a:rPr lang="en-US" altLang="ko-KR" sz="3200" dirty="0">
                <a:solidFill>
                  <a:schemeClr val="tx1"/>
                </a:solidFill>
              </a:rPr>
              <a:t>(member2 = </a:t>
            </a:r>
            <a:r>
              <a:rPr lang="en-US" altLang="ko-KR" sz="3200" dirty="0" err="1">
                <a:solidFill>
                  <a:schemeClr val="tx1"/>
                </a:solidFill>
              </a:rPr>
              <a:t>BusinessCard</a:t>
            </a:r>
            <a:r>
              <a:rPr lang="en-US" altLang="ko-KR" sz="3200" dirty="0">
                <a:solidFill>
                  <a:schemeClr val="tx1"/>
                </a:solidFill>
              </a:rPr>
              <a:t>() )</a:t>
            </a:r>
          </a:p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2. member2</a:t>
            </a:r>
            <a:r>
              <a:rPr lang="ko-KR" altLang="en-US" sz="3200" dirty="0">
                <a:solidFill>
                  <a:schemeClr val="tx1"/>
                </a:solidFill>
              </a:rPr>
              <a:t>라는 인스턴스를 생성한</a:t>
            </a:r>
            <a:r>
              <a:rPr lang="en-US" altLang="ko-KR" sz="3200" dirty="0">
                <a:solidFill>
                  <a:schemeClr val="tx1"/>
                </a:solidFill>
              </a:rPr>
              <a:t> </a:t>
            </a:r>
            <a:r>
              <a:rPr lang="ko-KR" altLang="en-US" sz="3200" dirty="0">
                <a:solidFill>
                  <a:schemeClr val="tx1"/>
                </a:solidFill>
              </a:rPr>
              <a:t>후 </a:t>
            </a:r>
            <a:r>
              <a:rPr lang="en-US" altLang="ko-KR" sz="3200" dirty="0" err="1">
                <a:solidFill>
                  <a:schemeClr val="tx1"/>
                </a:solidFill>
              </a:rPr>
              <a:t>set_info</a:t>
            </a:r>
            <a:r>
              <a:rPr lang="en-US" altLang="ko-KR" sz="3200" dirty="0">
                <a:solidFill>
                  <a:schemeClr val="tx1"/>
                </a:solidFill>
              </a:rPr>
              <a:t> method</a:t>
            </a:r>
            <a:r>
              <a:rPr lang="ko-KR" altLang="en-US" sz="3200" dirty="0" err="1">
                <a:solidFill>
                  <a:schemeClr val="tx1"/>
                </a:solidFill>
              </a:rPr>
              <a:t>를</a:t>
            </a:r>
            <a:r>
              <a:rPr lang="ko-KR" altLang="en-US" sz="3200" dirty="0">
                <a:solidFill>
                  <a:schemeClr val="tx1"/>
                </a:solidFill>
              </a:rPr>
              <a:t> 호출해 인스턴스에 값을 저장한다</a:t>
            </a:r>
            <a:r>
              <a:rPr lang="en-US" altLang="ko-KR" sz="32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r>
              <a:rPr lang="en-US" altLang="ko-KR" sz="3200" dirty="0">
                <a:solidFill>
                  <a:schemeClr val="tx1"/>
                </a:solidFill>
              </a:rPr>
              <a:t>3.member2.name</a:t>
            </a:r>
            <a:r>
              <a:rPr lang="ko-KR" altLang="en-US" sz="3200" dirty="0">
                <a:solidFill>
                  <a:schemeClr val="tx1"/>
                </a:solidFill>
              </a:rPr>
              <a:t>같은 인스턴스 변수를 통해 값에 접근한다</a:t>
            </a:r>
            <a:r>
              <a:rPr lang="en-US" altLang="ko-KR" sz="3200" dirty="0">
                <a:solidFill>
                  <a:schemeClr val="tx1"/>
                </a:solidFill>
              </a:rPr>
              <a:t>.</a:t>
            </a: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ko-KR" altLang="en-US" dirty="0">
                <a:latin typeface="Arial Rounded MT Bold" panose="020F0704030504030204" pitchFamily="34" charset="77"/>
              </a:rPr>
              <a:t>두번째 회원 정보를 저장</a:t>
            </a:r>
            <a:r>
              <a:rPr lang="en-US" altLang="ko-KR" dirty="0">
                <a:latin typeface="Arial Rounded MT Bold" panose="020F0704030504030204" pitchFamily="34" charset="77"/>
              </a:rPr>
              <a:t>?!</a:t>
            </a:r>
            <a:r>
              <a:rPr lang="ko-KR" altLang="en-US" dirty="0">
                <a:latin typeface="Arial Rounded MT Bold" panose="020F0704030504030204" pitchFamily="34" charset="77"/>
              </a:rPr>
              <a:t> 고고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76406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BF5C84-1EE0-304D-886F-EE0122053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981" y="1492248"/>
            <a:ext cx="7787846" cy="4788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6A2B4F-B9AC-8544-A892-754BD45080E2}"/>
              </a:ext>
            </a:extLst>
          </p:cNvPr>
          <p:cNvSpPr txBox="1"/>
          <p:nvPr/>
        </p:nvSpPr>
        <p:spPr>
          <a:xfrm>
            <a:off x="1112108" y="291919"/>
            <a:ext cx="11079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class </a:t>
            </a:r>
            <a:r>
              <a:rPr lang="ko-KR" altLang="en-US" sz="2400" dirty="0"/>
              <a:t>인스턴스인 </a:t>
            </a:r>
            <a:r>
              <a:rPr lang="en-US" altLang="ko-KR" sz="2400" dirty="0"/>
              <a:t>member1</a:t>
            </a:r>
            <a:r>
              <a:rPr lang="ko-KR" altLang="en-US" sz="2400" dirty="0"/>
              <a:t>과 </a:t>
            </a:r>
            <a:r>
              <a:rPr lang="en-US" altLang="ko-KR" sz="2400" dirty="0"/>
              <a:t>2</a:t>
            </a:r>
            <a:r>
              <a:rPr lang="ko-KR" altLang="en-US" sz="2400" dirty="0"/>
              <a:t>의 상태 그림</a:t>
            </a:r>
            <a:endParaRPr lang="en-US" altLang="ko-KR" sz="2400" dirty="0"/>
          </a:p>
          <a:p>
            <a:r>
              <a:rPr lang="en-US" altLang="ko-KR" sz="2400" dirty="0"/>
              <a:t>member1</a:t>
            </a:r>
            <a:r>
              <a:rPr lang="ko-KR" altLang="en-US" sz="2400" dirty="0"/>
              <a:t>과 </a:t>
            </a:r>
            <a:r>
              <a:rPr lang="en-US" altLang="ko-KR" sz="2400" dirty="0"/>
              <a:t>member2</a:t>
            </a:r>
            <a:r>
              <a:rPr lang="ko-KR" altLang="en-US" sz="2400" dirty="0"/>
              <a:t>는 서로 동일한 이름의 인스턴스 변수인 </a:t>
            </a:r>
            <a:r>
              <a:rPr lang="en-US" altLang="ko-KR" sz="2400" dirty="0"/>
              <a:t>name,</a:t>
            </a:r>
            <a:r>
              <a:rPr lang="ko-KR" altLang="en-US" sz="2400" dirty="0"/>
              <a:t> </a:t>
            </a:r>
            <a:r>
              <a:rPr lang="en-US" altLang="ko-KR" sz="2400" dirty="0"/>
              <a:t>email,</a:t>
            </a:r>
            <a:r>
              <a:rPr lang="ko-KR" altLang="en-US" sz="2400" dirty="0"/>
              <a:t> </a:t>
            </a:r>
            <a:r>
              <a:rPr lang="en-US" altLang="ko-KR" sz="2400" dirty="0" err="1"/>
              <a:t>addr</a:t>
            </a:r>
            <a:r>
              <a:rPr lang="ko-KR" altLang="en-US" sz="2400" dirty="0"/>
              <a:t>을 갖고 있지만 각각 다른 데이터를 바인딩하고 있다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7199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ko-KR" altLang="en-US" dirty="0">
                <a:latin typeface="Arial Rounded MT Bold" panose="020F0704030504030204" pitchFamily="34" charset="77"/>
              </a:rPr>
              <a:t>다른 </a:t>
            </a:r>
            <a:r>
              <a:rPr lang="en-US" altLang="ko-KR" dirty="0">
                <a:latin typeface="Arial Rounded MT Bold" panose="020F0704030504030204" pitchFamily="34" charset="77"/>
              </a:rPr>
              <a:t>m</a:t>
            </a:r>
            <a:r>
              <a:rPr lang="en-US" altLang="ko-KR" cap="none" dirty="0">
                <a:latin typeface="Arial Rounded MT Bold" panose="020F0704030504030204" pitchFamily="34" charset="77"/>
              </a:rPr>
              <a:t>ethod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ko-KR" altLang="en-US" dirty="0" err="1">
                <a:latin typeface="Arial Rounded MT Bold" panose="020F0704030504030204" pitchFamily="34" charset="77"/>
              </a:rPr>
              <a:t>추가해보기</a:t>
            </a:r>
            <a:endParaRPr lang="en-US" dirty="0">
              <a:latin typeface="Arial Rounded MT Bold" panose="020F0704030504030204" pitchFamily="34" charset="77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745F9D-6A51-1A42-919D-5987B8466195}"/>
              </a:ext>
            </a:extLst>
          </p:cNvPr>
          <p:cNvSpPr txBox="1">
            <a:spLocks/>
          </p:cNvSpPr>
          <p:nvPr/>
        </p:nvSpPr>
        <p:spPr>
          <a:xfrm>
            <a:off x="1251678" y="1101728"/>
            <a:ext cx="10178322" cy="4407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3200" dirty="0" err="1"/>
              <a:t>print_info</a:t>
            </a:r>
            <a:r>
              <a:rPr lang="en-US" altLang="ko-KR" sz="3200" dirty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734968-6564-6B4E-9DF7-9478BA55E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1791160"/>
            <a:ext cx="7403386" cy="33299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2ECFF0-3DF6-8942-84EE-2656E7968111}"/>
              </a:ext>
            </a:extLst>
          </p:cNvPr>
          <p:cNvSpPr txBox="1"/>
          <p:nvPr/>
        </p:nvSpPr>
        <p:spPr>
          <a:xfrm>
            <a:off x="7512908" y="1857920"/>
            <a:ext cx="391709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p</a:t>
            </a:r>
            <a:r>
              <a:rPr lang="en-US" sz="2400" dirty="0" err="1"/>
              <a:t>rint_info</a:t>
            </a:r>
            <a:r>
              <a:rPr lang="en-US" sz="2400" dirty="0"/>
              <a:t> method</a:t>
            </a:r>
            <a:r>
              <a:rPr lang="ko-KR" altLang="en-US" sz="2400" dirty="0"/>
              <a:t>는 항상 </a:t>
            </a:r>
            <a:r>
              <a:rPr lang="en-US" altLang="ko-KR" sz="2400" dirty="0"/>
              <a:t>self </a:t>
            </a:r>
            <a:r>
              <a:rPr lang="ko-KR" altLang="en-US" sz="2400" dirty="0"/>
              <a:t>인자 하나만 사용함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self</a:t>
            </a:r>
            <a:r>
              <a:rPr lang="ko-KR" altLang="en-US" sz="2400" dirty="0"/>
              <a:t>는 모든 </a:t>
            </a:r>
            <a:r>
              <a:rPr lang="en-US" altLang="ko-KR" sz="2400" dirty="0"/>
              <a:t>class method</a:t>
            </a:r>
            <a:r>
              <a:rPr lang="ko-KR" altLang="en-US" sz="2400" dirty="0"/>
              <a:t>의 기본이므로 사실 인자가 없는 함수임</a:t>
            </a:r>
            <a:endParaRPr lang="en-US" altLang="ko-KR" sz="2400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BC817C-3D3A-CA4E-8214-20CE41B02B6C}"/>
              </a:ext>
            </a:extLst>
          </p:cNvPr>
          <p:cNvSpPr txBox="1"/>
          <p:nvPr/>
        </p:nvSpPr>
        <p:spPr>
          <a:xfrm>
            <a:off x="1251678" y="5160968"/>
            <a:ext cx="96876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set_info</a:t>
            </a:r>
            <a:r>
              <a:rPr lang="ko-KR" altLang="en-US" sz="2400" dirty="0"/>
              <a:t> </a:t>
            </a:r>
            <a:r>
              <a:rPr lang="en-US" altLang="ko-KR" sz="2400" dirty="0"/>
              <a:t>method</a:t>
            </a:r>
            <a:r>
              <a:rPr lang="ko-KR" altLang="en-US" sz="2400" dirty="0"/>
              <a:t>에서 이름을 저장할 때 </a:t>
            </a:r>
            <a:r>
              <a:rPr lang="en-US" altLang="ko-KR" sz="2400" dirty="0" err="1"/>
              <a:t>self.name</a:t>
            </a:r>
            <a:r>
              <a:rPr lang="ko-KR" altLang="en-US" sz="2400" dirty="0"/>
              <a:t>에 </a:t>
            </a:r>
            <a:r>
              <a:rPr lang="ko-KR" altLang="en-US" sz="2400" dirty="0" err="1"/>
              <a:t>저장했으므로</a:t>
            </a:r>
            <a:r>
              <a:rPr lang="ko-KR" altLang="en-US" sz="2400" dirty="0"/>
              <a:t> </a:t>
            </a:r>
            <a:r>
              <a:rPr lang="en-US" altLang="ko-KR" sz="2400" dirty="0" err="1"/>
              <a:t>print_info</a:t>
            </a:r>
            <a:r>
              <a:rPr lang="ko-KR" altLang="en-US" sz="2400" dirty="0"/>
              <a:t> </a:t>
            </a:r>
            <a:r>
              <a:rPr lang="en-US" altLang="ko-KR" sz="2400" dirty="0"/>
              <a:t>method</a:t>
            </a:r>
            <a:r>
              <a:rPr lang="ko-KR" altLang="en-US" sz="2400" dirty="0"/>
              <a:t>에서도 </a:t>
            </a:r>
            <a:r>
              <a:rPr lang="en-US" altLang="ko-KR" sz="2400" dirty="0" err="1"/>
              <a:t>self.name</a:t>
            </a:r>
            <a:r>
              <a:rPr lang="ko-KR" altLang="en-US" sz="2400" dirty="0"/>
              <a:t>을 통해 바로 데이터에 접근하면 됨</a:t>
            </a:r>
            <a:endParaRPr lang="en-US" sz="2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4CC055-420C-D342-BD1C-A7F959517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678" y="6163215"/>
            <a:ext cx="4061727" cy="5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7167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3)c</a:t>
            </a:r>
            <a:r>
              <a:rPr lang="en-US" cap="none" dirty="0">
                <a:latin typeface="Arial Rounded MT Bold" panose="020F0704030504030204" pitchFamily="34" charset="77"/>
              </a:rPr>
              <a:t>lass</a:t>
            </a:r>
            <a:r>
              <a:rPr lang="en-US" dirty="0">
                <a:latin typeface="Arial Rounded MT Bold" panose="020F0704030504030204" pitchFamily="34" charset="77"/>
              </a:rPr>
              <a:t>(</a:t>
            </a:r>
            <a:r>
              <a:rPr lang="ko-KR" altLang="en-US" b="1" dirty="0">
                <a:latin typeface="Arial Rounded MT Bold" panose="020F0704030504030204" pitchFamily="34" charset="77"/>
              </a:rPr>
              <a:t>클래스</a:t>
            </a:r>
            <a:r>
              <a:rPr lang="en-US" altLang="ko-KR" dirty="0">
                <a:latin typeface="Arial Rounded MT Bold" panose="020F0704030504030204" pitchFamily="34" charset="77"/>
              </a:rPr>
              <a:t>) </a:t>
            </a:r>
            <a:r>
              <a:rPr lang="ko-KR" altLang="en-US" b="1" dirty="0" err="1">
                <a:latin typeface="Arial Rounded MT Bold" panose="020F0704030504030204" pitchFamily="34" charset="77"/>
              </a:rPr>
              <a:t>생성자</a:t>
            </a:r>
            <a:endParaRPr lang="en-US" b="1" dirty="0">
              <a:latin typeface="Arial Rounded MT Bold" panose="020F0704030504030204" pitchFamily="34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8DF10E-0C1E-B24A-A63E-211591213FEB}"/>
              </a:ext>
            </a:extLst>
          </p:cNvPr>
          <p:cNvSpPr txBox="1"/>
          <p:nvPr/>
        </p:nvSpPr>
        <p:spPr>
          <a:xfrm>
            <a:off x="1251678" y="1491890"/>
            <a:ext cx="10658687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 err="1"/>
              <a:t>파이썬</a:t>
            </a:r>
            <a:r>
              <a:rPr lang="ko-KR" altLang="en-US" sz="2000" dirty="0"/>
              <a:t> 클래스에는 인스턴스 생성과 동시에 자동으로 호출되는 </a:t>
            </a:r>
            <a:r>
              <a:rPr lang="en-US" altLang="ko-KR" sz="2000" dirty="0"/>
              <a:t>method</a:t>
            </a:r>
            <a:r>
              <a:rPr lang="ko-KR" altLang="en-US" sz="2000" dirty="0"/>
              <a:t>인 생성자가 존재한다</a:t>
            </a:r>
            <a:r>
              <a:rPr lang="en-US" altLang="ko-KR" sz="2000" dirty="0"/>
              <a:t>.</a:t>
            </a:r>
          </a:p>
          <a:p>
            <a:endParaRPr lang="en-US" sz="2000" dirty="0"/>
          </a:p>
          <a:p>
            <a:r>
              <a:rPr lang="en-US" altLang="ko-KR" sz="2000" dirty="0"/>
              <a:t>_ _</a:t>
            </a:r>
            <a:r>
              <a:rPr lang="en-US" altLang="ko-KR" sz="2000" dirty="0" err="1"/>
              <a:t>init</a:t>
            </a:r>
            <a:r>
              <a:rPr lang="en-US" altLang="ko-KR" sz="2000" dirty="0"/>
              <a:t>_ _(self)</a:t>
            </a:r>
            <a:r>
              <a:rPr lang="ko-KR" altLang="en-US" sz="2000" dirty="0"/>
              <a:t> 같은 이름의 </a:t>
            </a:r>
            <a:r>
              <a:rPr lang="en-US" altLang="ko-KR" sz="2000" dirty="0"/>
              <a:t>method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생성자라고</a:t>
            </a:r>
            <a:r>
              <a:rPr lang="ko-KR" altLang="en-US" sz="2000" dirty="0"/>
              <a:t> 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 err="1"/>
              <a:t>파이썬</a:t>
            </a:r>
            <a:r>
              <a:rPr lang="ko-KR" altLang="en-US" sz="2000" dirty="0"/>
              <a:t> 클래스에서 </a:t>
            </a:r>
            <a:r>
              <a:rPr lang="en-US" altLang="ko-KR" sz="2000" dirty="0"/>
              <a:t>_</a:t>
            </a:r>
            <a:r>
              <a:rPr lang="ko-KR" altLang="en-US" sz="2000" dirty="0"/>
              <a:t> </a:t>
            </a:r>
            <a:r>
              <a:rPr lang="en-US" altLang="ko-KR" sz="2000" dirty="0"/>
              <a:t>_</a:t>
            </a:r>
            <a:r>
              <a:rPr lang="ko-KR" altLang="en-US" sz="2000" dirty="0"/>
              <a:t>로 시작하는 함수는 모두 특별한 메서드를 의미한다</a:t>
            </a:r>
            <a:r>
              <a:rPr lang="en-US" altLang="ko-KR" sz="2000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4567D0-62C0-3144-B32C-F8418664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78" y="2951702"/>
            <a:ext cx="4635500" cy="85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C21767-D2B0-E541-A3FD-7C68DC3C88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428" y="4500216"/>
            <a:ext cx="2286000" cy="342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B5EA74-74B5-D74F-B81A-DA4EB3347EC6}"/>
              </a:ext>
            </a:extLst>
          </p:cNvPr>
          <p:cNvSpPr txBox="1"/>
          <p:nvPr/>
        </p:nvSpPr>
        <p:spPr>
          <a:xfrm>
            <a:off x="1283428" y="4013707"/>
            <a:ext cx="6979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MyClass</a:t>
            </a:r>
            <a:r>
              <a:rPr lang="ko-KR" altLang="en-US" dirty="0" err="1"/>
              <a:t>를</a:t>
            </a:r>
            <a:r>
              <a:rPr lang="ko-KR" altLang="en-US" dirty="0"/>
              <a:t> 정의했음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 err="1"/>
              <a:t>MyClass</a:t>
            </a:r>
            <a:r>
              <a:rPr lang="ko-KR" altLang="en-US" dirty="0"/>
              <a:t>의 인스턴스를 생성했음 </a:t>
            </a:r>
            <a:r>
              <a:rPr lang="en-US" altLang="ko-KR" dirty="0" err="1"/>
              <a:t>init</a:t>
            </a:r>
            <a:r>
              <a:rPr lang="en-US" altLang="ko-KR" dirty="0"/>
              <a:t>(initialize)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A9D0A-9D50-4546-9A7D-DD411D3843E0}"/>
              </a:ext>
            </a:extLst>
          </p:cNvPr>
          <p:cNvSpPr txBox="1"/>
          <p:nvPr/>
        </p:nvSpPr>
        <p:spPr>
          <a:xfrm>
            <a:off x="1283428" y="5229935"/>
            <a:ext cx="95849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클래스 </a:t>
            </a:r>
            <a:r>
              <a:rPr lang="ko-KR" altLang="en-US" sz="2000" dirty="0" err="1"/>
              <a:t>생성자를</a:t>
            </a:r>
            <a:r>
              <a:rPr lang="ko-KR" altLang="en-US" sz="2000" dirty="0"/>
              <a:t> 이용해서 </a:t>
            </a:r>
            <a:r>
              <a:rPr lang="en-US" altLang="ko-KR" sz="2000" dirty="0" err="1"/>
              <a:t>BusinessCard</a:t>
            </a:r>
            <a:r>
              <a:rPr lang="en-US" altLang="ko-KR" sz="2000" dirty="0"/>
              <a:t> </a:t>
            </a:r>
            <a:r>
              <a:rPr lang="ko-KR" altLang="en-US" sz="2000" dirty="0"/>
              <a:t>클래스를 수정해 인스턴스 생성과 동시에 명함에 필요한 정보를 </a:t>
            </a:r>
            <a:r>
              <a:rPr lang="ko-KR" altLang="en-US" sz="2000" dirty="0" err="1"/>
              <a:t>입력받아보자</a:t>
            </a:r>
            <a:r>
              <a:rPr lang="en-US" altLang="ko-KR" sz="2000" dirty="0"/>
              <a:t>!</a:t>
            </a:r>
          </a:p>
          <a:p>
            <a:endParaRPr lang="en-US" sz="2000" dirty="0"/>
          </a:p>
          <a:p>
            <a:r>
              <a:rPr lang="en-US" sz="2000" dirty="0"/>
              <a:t>data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입력받는</a:t>
            </a:r>
            <a:r>
              <a:rPr lang="ko-KR" altLang="en-US" sz="2000" dirty="0"/>
              <a:t> 역할인 </a:t>
            </a:r>
            <a:r>
              <a:rPr lang="en-US" altLang="ko-KR" sz="2000" dirty="0" err="1"/>
              <a:t>set_info</a:t>
            </a:r>
            <a:r>
              <a:rPr lang="en-US" altLang="ko-KR" sz="2000" dirty="0"/>
              <a:t> method</a:t>
            </a:r>
            <a:r>
              <a:rPr lang="ko-KR" altLang="en-US" sz="2000" dirty="0" err="1"/>
              <a:t>를</a:t>
            </a:r>
            <a:r>
              <a:rPr lang="ko-KR" altLang="en-US" sz="2000" dirty="0"/>
              <a:t> </a:t>
            </a:r>
            <a:r>
              <a:rPr lang="en-US" altLang="ko-KR" sz="2000" dirty="0"/>
              <a:t>__</a:t>
            </a:r>
            <a:r>
              <a:rPr lang="en-US" altLang="ko-KR" sz="2000" dirty="0" err="1"/>
              <a:t>init</a:t>
            </a:r>
            <a:r>
              <a:rPr lang="en-US" altLang="ko-KR" sz="2000" dirty="0"/>
              <a:t>__ method</a:t>
            </a:r>
            <a:r>
              <a:rPr lang="ko-KR" altLang="en-US" sz="2000" dirty="0"/>
              <a:t>로 이름만 바꿔주면 됨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54862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440797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ko-KR" sz="32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77"/>
              </a:rPr>
              <a:t>3)c</a:t>
            </a:r>
            <a:r>
              <a:rPr lang="en-US" cap="none" dirty="0">
                <a:latin typeface="Arial Rounded MT Bold" panose="020F0704030504030204" pitchFamily="34" charset="77"/>
              </a:rPr>
              <a:t>lass</a:t>
            </a:r>
            <a:r>
              <a:rPr lang="en-US" dirty="0">
                <a:latin typeface="Arial Rounded MT Bold" panose="020F0704030504030204" pitchFamily="34" charset="77"/>
              </a:rPr>
              <a:t>(</a:t>
            </a:r>
            <a:r>
              <a:rPr lang="ko-KR" altLang="en-US" b="1" dirty="0">
                <a:latin typeface="Arial Rounded MT Bold" panose="020F0704030504030204" pitchFamily="34" charset="77"/>
              </a:rPr>
              <a:t>클래스</a:t>
            </a:r>
            <a:r>
              <a:rPr lang="en-US" altLang="ko-KR" b="1" dirty="0">
                <a:latin typeface="Arial Rounded MT Bold" panose="020F0704030504030204" pitchFamily="34" charset="77"/>
              </a:rPr>
              <a:t>)</a:t>
            </a:r>
            <a:r>
              <a:rPr lang="ko-KR" altLang="en-US" b="1" dirty="0">
                <a:latin typeface="Arial Rounded MT Bold" panose="020F0704030504030204" pitchFamily="34" charset="77"/>
              </a:rPr>
              <a:t> </a:t>
            </a:r>
            <a:r>
              <a:rPr lang="ko-KR" altLang="en-US" b="1" dirty="0" err="1">
                <a:latin typeface="Arial Rounded MT Bold" panose="020F0704030504030204" pitchFamily="34" charset="77"/>
              </a:rPr>
              <a:t>생성자</a:t>
            </a:r>
            <a:endParaRPr lang="en-US" b="1" dirty="0">
              <a:latin typeface="Arial Rounded MT Bold" panose="020F0704030504030204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29F1B5-9621-3C4E-B93D-D3B38BF24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39" y="1598613"/>
            <a:ext cx="5405114" cy="29408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8C7861C-0845-E541-837C-AA29755949D5}"/>
              </a:ext>
            </a:extLst>
          </p:cNvPr>
          <p:cNvSpPr txBox="1"/>
          <p:nvPr/>
        </p:nvSpPr>
        <p:spPr>
          <a:xfrm>
            <a:off x="6704053" y="1689851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결과는 같음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FFE101-DB6B-9849-B89E-822E69782A30}"/>
              </a:ext>
            </a:extLst>
          </p:cNvPr>
          <p:cNvSpPr txBox="1"/>
          <p:nvPr/>
        </p:nvSpPr>
        <p:spPr>
          <a:xfrm>
            <a:off x="1298939" y="4911710"/>
            <a:ext cx="10063973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/>
              <a:t>객체를 생성할 때 </a:t>
            </a:r>
            <a:r>
              <a:rPr lang="ko-KR" altLang="en-US" sz="2000" dirty="0" err="1"/>
              <a:t>변수들에게</a:t>
            </a:r>
            <a:r>
              <a:rPr lang="ko-KR" altLang="en-US" sz="2000" dirty="0"/>
              <a:t> 초기값을 줄 수 있어야 하는데 그 역할을 하는게 </a:t>
            </a:r>
            <a:r>
              <a:rPr lang="ko-KR" altLang="en-US" sz="2000" dirty="0" err="1"/>
              <a:t>생성자임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--&gt;</a:t>
            </a:r>
            <a:r>
              <a:rPr lang="ko-KR" altLang="en-US" sz="2000" dirty="0"/>
              <a:t> 클래스로부터 인스턴스가 생성될 </a:t>
            </a:r>
            <a:r>
              <a:rPr lang="ko-KR" altLang="en-US" sz="2000" dirty="0" err="1"/>
              <a:t>떄</a:t>
            </a:r>
            <a:r>
              <a:rPr lang="ko-KR" altLang="en-US" sz="2000" dirty="0"/>
              <a:t> 자동으로 실행되도록 </a:t>
            </a:r>
            <a:r>
              <a:rPr lang="ko-KR" altLang="en-US" sz="2000" dirty="0" err="1"/>
              <a:t>약속되어있는</a:t>
            </a:r>
            <a:r>
              <a:rPr lang="ko-KR" altLang="en-US" sz="2000" dirty="0"/>
              <a:t> </a:t>
            </a:r>
            <a:r>
              <a:rPr lang="en-US" altLang="ko-KR" sz="2000" dirty="0"/>
              <a:t>method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637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B2C06-58AE-AB4A-886E-FD0100DD7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98613"/>
            <a:ext cx="10178322" cy="5090054"/>
          </a:xfrm>
        </p:spPr>
        <p:txBody>
          <a:bodyPr>
            <a:normAutofit fontScale="32500" lnSpcReduction="20000"/>
          </a:bodyPr>
          <a:lstStyle/>
          <a:p>
            <a:r>
              <a:rPr lang="ko-KR" altLang="en-US" sz="6000" b="1" dirty="0"/>
              <a:t>클래스</a:t>
            </a:r>
            <a:r>
              <a:rPr lang="en-US" altLang="ko-KR" sz="6000" b="1" dirty="0"/>
              <a:t>(</a:t>
            </a:r>
            <a:r>
              <a:rPr lang="en-US" sz="6000" b="1" dirty="0"/>
              <a:t>Class) - </a:t>
            </a:r>
            <a:r>
              <a:rPr lang="ko-KR" altLang="en-US" sz="6000" b="1" dirty="0"/>
              <a:t>같은 종류</a:t>
            </a:r>
            <a:r>
              <a:rPr lang="en-US" altLang="ko-KR" sz="6000" b="1" dirty="0"/>
              <a:t>(</a:t>
            </a:r>
            <a:r>
              <a:rPr lang="ko-KR" altLang="en-US" sz="6000" b="1" dirty="0"/>
              <a:t>또는 문제 해결을 위한</a:t>
            </a:r>
            <a:r>
              <a:rPr lang="en-US" altLang="ko-KR" sz="6000" b="1" dirty="0"/>
              <a:t>)</a:t>
            </a:r>
            <a:r>
              <a:rPr lang="ko-KR" altLang="en-US" sz="6000" b="1" dirty="0"/>
              <a:t>의 집단에 속하는 속성</a:t>
            </a:r>
            <a:r>
              <a:rPr lang="en-US" altLang="ko-KR" sz="6000" b="1" dirty="0"/>
              <a:t>(</a:t>
            </a:r>
            <a:r>
              <a:rPr lang="en-US" sz="6000" b="1" dirty="0"/>
              <a:t>attribute)</a:t>
            </a:r>
            <a:r>
              <a:rPr lang="ko-KR" altLang="en-US" sz="6000" b="1" dirty="0"/>
              <a:t>과 행위</a:t>
            </a:r>
            <a:r>
              <a:rPr lang="en-US" altLang="ko-KR" sz="6000" b="1" dirty="0"/>
              <a:t>(</a:t>
            </a:r>
            <a:r>
              <a:rPr lang="en-US" sz="6000" b="1" dirty="0"/>
              <a:t>behavior)</a:t>
            </a:r>
            <a:r>
              <a:rPr lang="ko-KR" altLang="en-US" sz="6000" b="1" dirty="0" err="1"/>
              <a:t>를</a:t>
            </a:r>
            <a:r>
              <a:rPr lang="ko-KR" altLang="en-US" sz="6000" b="1" dirty="0"/>
              <a:t> 정의한 것으로 객체지향 프로그램의 기본적인 사용자 정의 </a:t>
            </a:r>
            <a:r>
              <a:rPr lang="ko-KR" altLang="en-US" sz="6000" b="1" dirty="0" err="1"/>
              <a:t>데이터형</a:t>
            </a:r>
            <a:r>
              <a:rPr lang="en-US" altLang="ko-KR" sz="6000" b="1" dirty="0"/>
              <a:t>(</a:t>
            </a:r>
            <a:r>
              <a:rPr lang="en-US" sz="6000" b="1" dirty="0"/>
              <a:t>user define data type)</a:t>
            </a:r>
            <a:r>
              <a:rPr lang="ko-KR" altLang="en-US" sz="6000" b="1" dirty="0"/>
              <a:t>이라고 할 수 있다</a:t>
            </a:r>
            <a:r>
              <a:rPr lang="en-US" altLang="ko-KR" sz="6000" b="1" dirty="0"/>
              <a:t>. </a:t>
            </a:r>
            <a:r>
              <a:rPr lang="ko-KR" altLang="en-US" sz="6000" b="1" dirty="0"/>
              <a:t> 다른 클래스 또는 외부 요소와 독립적으로 디자인하여야 한다</a:t>
            </a:r>
            <a:r>
              <a:rPr lang="en-US" altLang="ko-KR" sz="6000" b="1" dirty="0"/>
              <a:t>.</a:t>
            </a:r>
          </a:p>
          <a:p>
            <a:endParaRPr lang="en-US" altLang="ko-KR" sz="6000" b="1" dirty="0"/>
          </a:p>
          <a:p>
            <a:r>
              <a:rPr lang="ko-KR" altLang="en-US" sz="6000" b="1" dirty="0"/>
              <a:t>객체</a:t>
            </a:r>
            <a:r>
              <a:rPr lang="en-US" altLang="ko-KR" sz="6000" b="1" dirty="0"/>
              <a:t>(</a:t>
            </a:r>
            <a:r>
              <a:rPr lang="en-US" sz="6000" b="1" dirty="0"/>
              <a:t>Object) - </a:t>
            </a:r>
            <a:r>
              <a:rPr lang="ko-KR" altLang="en-US" sz="6000" b="1" dirty="0"/>
              <a:t>클래스의 인스턴스</a:t>
            </a:r>
            <a:r>
              <a:rPr lang="en-US" altLang="ko-KR" sz="6000" b="1" dirty="0"/>
              <a:t>(</a:t>
            </a:r>
            <a:r>
              <a:rPr lang="ko-KR" altLang="en-US" sz="6000" b="1" dirty="0"/>
              <a:t>실제로 메모리상에 할당된 것</a:t>
            </a:r>
            <a:r>
              <a:rPr lang="en-US" altLang="ko-KR" sz="6000" b="1" dirty="0"/>
              <a:t>)</a:t>
            </a:r>
            <a:r>
              <a:rPr lang="ko-KR" altLang="en-US" sz="6000" b="1" dirty="0"/>
              <a:t>이다</a:t>
            </a:r>
            <a:r>
              <a:rPr lang="en-US" altLang="ko-KR" sz="6000" b="1" dirty="0"/>
              <a:t>. </a:t>
            </a:r>
            <a:r>
              <a:rPr lang="ko-KR" altLang="en-US" sz="6000" b="1" dirty="0"/>
              <a:t>객체는 자신 고유의 속성</a:t>
            </a:r>
            <a:r>
              <a:rPr lang="en-US" altLang="ko-KR" sz="6000" b="1" dirty="0"/>
              <a:t>(</a:t>
            </a:r>
            <a:r>
              <a:rPr lang="en-US" sz="6000" b="1" dirty="0"/>
              <a:t>attribute)</a:t>
            </a:r>
            <a:r>
              <a:rPr lang="ko-KR" altLang="en-US" sz="6000" b="1" dirty="0"/>
              <a:t>을 가지며 클래스에서 정의한 행위</a:t>
            </a:r>
            <a:r>
              <a:rPr lang="en-US" altLang="ko-KR" sz="6000" b="1" dirty="0"/>
              <a:t>(</a:t>
            </a:r>
            <a:r>
              <a:rPr lang="en-US" sz="6000" b="1" dirty="0"/>
              <a:t>behavior)</a:t>
            </a:r>
            <a:r>
              <a:rPr lang="ko-KR" altLang="en-US" sz="6000" b="1" dirty="0" err="1"/>
              <a:t>를</a:t>
            </a:r>
            <a:r>
              <a:rPr lang="ko-KR" altLang="en-US" sz="6000" b="1" dirty="0"/>
              <a:t> 수행할 수 있다</a:t>
            </a:r>
            <a:r>
              <a:rPr lang="en-US" altLang="ko-KR" sz="6000" b="1" dirty="0"/>
              <a:t>. </a:t>
            </a:r>
            <a:r>
              <a:rPr lang="ko-KR" altLang="en-US" sz="6000" b="1" dirty="0"/>
              <a:t>객체의 행위는 클래스에 정의된 행위에 대한 정의를 공유함으로써 메모리를 경제적으로 사용한다</a:t>
            </a:r>
            <a:r>
              <a:rPr lang="en-US" altLang="ko-KR" sz="6000" b="1" dirty="0"/>
              <a:t>.</a:t>
            </a:r>
          </a:p>
          <a:p>
            <a:endParaRPr lang="en-US" altLang="ko-KR" sz="6000" b="1" dirty="0"/>
          </a:p>
          <a:p>
            <a:r>
              <a:rPr lang="ko-KR" altLang="en-US" sz="6000" b="1" dirty="0"/>
              <a:t>메서드</a:t>
            </a:r>
            <a:r>
              <a:rPr lang="en-US" altLang="ko-KR" sz="6000" b="1" dirty="0"/>
              <a:t>(</a:t>
            </a:r>
            <a:r>
              <a:rPr lang="en-US" sz="6000" b="1" dirty="0"/>
              <a:t>Method), </a:t>
            </a:r>
            <a:r>
              <a:rPr lang="ko-KR" altLang="en-US" sz="6000" b="1" dirty="0"/>
              <a:t>메시지</a:t>
            </a:r>
            <a:r>
              <a:rPr lang="en-US" altLang="ko-KR" sz="6000" b="1" dirty="0"/>
              <a:t>(</a:t>
            </a:r>
            <a:r>
              <a:rPr lang="en-US" sz="6000" b="1" dirty="0"/>
              <a:t>Message) - </a:t>
            </a:r>
            <a:r>
              <a:rPr lang="ko-KR" altLang="en-US" sz="6000" b="1" dirty="0"/>
              <a:t>클래스로부터 생성된 객체를 사용하는 방법으로서 객체에 명령을 내리는 </a:t>
            </a:r>
            <a:r>
              <a:rPr lang="ko-KR" altLang="en-US" sz="6000" b="1" dirty="0" err="1"/>
              <a:t>메시지라</a:t>
            </a:r>
            <a:r>
              <a:rPr lang="ko-KR" altLang="en-US" sz="6000" b="1" dirty="0"/>
              <a:t> 할 수 있다</a:t>
            </a:r>
            <a:r>
              <a:rPr lang="en-US" altLang="ko-KR" sz="6000" b="1" dirty="0"/>
              <a:t>. </a:t>
            </a:r>
            <a:r>
              <a:rPr lang="ko-KR" altLang="en-US" sz="6000" b="1" dirty="0"/>
              <a:t>메서드는 한 객체의 서브루틴</a:t>
            </a:r>
            <a:r>
              <a:rPr lang="en-US" altLang="ko-KR" sz="6000" b="1" dirty="0"/>
              <a:t>(</a:t>
            </a:r>
            <a:r>
              <a:rPr lang="en-US" sz="6000" b="1" dirty="0"/>
              <a:t>subroutine) </a:t>
            </a:r>
            <a:r>
              <a:rPr lang="ko-KR" altLang="en-US" sz="6000" b="1" dirty="0"/>
              <a:t>형태로 객체의 속성을 조작하는 데 사용된다</a:t>
            </a:r>
            <a:r>
              <a:rPr lang="en-US" altLang="ko-KR" sz="6000" b="1" dirty="0"/>
              <a:t>. </a:t>
            </a:r>
            <a:r>
              <a:rPr lang="ko-KR" altLang="en-US" sz="6000" b="1" dirty="0"/>
              <a:t>또 객체 간의 통신은 메시지를 통해 이루어진다</a:t>
            </a:r>
            <a:r>
              <a:rPr lang="en-US" altLang="ko-KR" sz="6000" b="1" dirty="0"/>
              <a:t>.</a:t>
            </a:r>
          </a:p>
          <a:p>
            <a:pPr marL="0" indent="0">
              <a:buNone/>
            </a:pPr>
            <a:br>
              <a:rPr lang="ko-KR" altLang="en-US" sz="3200" dirty="0"/>
            </a:br>
            <a:endParaRPr lang="en-US" altLang="ko-KR" sz="3200" b="1" dirty="0">
              <a:solidFill>
                <a:schemeClr val="tx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56702BE-5264-614E-809D-0ADF70DB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</p:spPr>
        <p:txBody>
          <a:bodyPr/>
          <a:lstStyle/>
          <a:p>
            <a:r>
              <a:rPr lang="en-US" altLang="ko-KR" dirty="0">
                <a:latin typeface="Arial Rounded MT Bold" panose="020F0704030504030204" pitchFamily="34" charset="77"/>
              </a:rPr>
              <a:t>1)</a:t>
            </a:r>
            <a:r>
              <a:rPr lang="ko-KR" altLang="en-US" dirty="0">
                <a:latin typeface="Arial Rounded MT Bold" panose="020F0704030504030204" pitchFamily="34" charset="77"/>
              </a:rPr>
              <a:t> </a:t>
            </a:r>
            <a:r>
              <a:rPr lang="en-US" dirty="0">
                <a:latin typeface="Arial Rounded MT Bold" panose="020F0704030504030204" pitchFamily="34" charset="77"/>
              </a:rPr>
              <a:t>c</a:t>
            </a:r>
            <a:r>
              <a:rPr lang="en-US" cap="none" dirty="0">
                <a:latin typeface="Arial Rounded MT Bold" panose="020F0704030504030204" pitchFamily="34" charset="77"/>
              </a:rPr>
              <a:t>lass</a:t>
            </a:r>
            <a:r>
              <a:rPr lang="en-US" dirty="0">
                <a:latin typeface="Arial Rounded MT Bold" panose="020F0704030504030204" pitchFamily="34" charset="77"/>
              </a:rPr>
              <a:t>(</a:t>
            </a:r>
            <a:r>
              <a:rPr lang="ko-KR" altLang="en-US" b="1" dirty="0">
                <a:latin typeface="Arial Rounded MT Bold" panose="020F0704030504030204" pitchFamily="34" charset="77"/>
              </a:rPr>
              <a:t>클래스</a:t>
            </a:r>
            <a:r>
              <a:rPr lang="en-US" altLang="ko-KR" dirty="0">
                <a:latin typeface="Arial Rounded MT Bold" panose="020F0704030504030204" pitchFamily="34" charset="77"/>
              </a:rPr>
              <a:t>)</a:t>
            </a:r>
            <a:endParaRPr lang="en-US" dirty="0">
              <a:latin typeface="Arial Rounded MT Bold" panose="020F070403050403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7699367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14064</TotalTime>
  <Words>1292</Words>
  <Application>Microsoft Macintosh PowerPoint</Application>
  <PresentationFormat>Widescreen</PresentationFormat>
  <Paragraphs>187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휴먼매직체</vt:lpstr>
      <vt:lpstr>맑은 고딕</vt:lpstr>
      <vt:lpstr>Arial</vt:lpstr>
      <vt:lpstr>Arial Rounded MT Bold</vt:lpstr>
      <vt:lpstr>Calibri</vt:lpstr>
      <vt:lpstr>Gill Sans MT</vt:lpstr>
      <vt:lpstr>Impact</vt:lpstr>
      <vt:lpstr>Badge</vt:lpstr>
      <vt:lpstr>python -3</vt:lpstr>
      <vt:lpstr>PURPOSE</vt:lpstr>
      <vt:lpstr>함수(function)와 모듈(module)</vt:lpstr>
      <vt:lpstr>1) 함수(function)</vt:lpstr>
      <vt:lpstr>1) 함수(function)</vt:lpstr>
      <vt:lpstr>2) 반환값이 있는 함수(function)</vt:lpstr>
      <vt:lpstr>3) 모듈(module)</vt:lpstr>
      <vt:lpstr>3) 모듈(module)</vt:lpstr>
      <vt:lpstr>3) 모듈(module) tip</vt:lpstr>
      <vt:lpstr>3) 모듈(module) tip</vt:lpstr>
      <vt:lpstr>3-1) 시간 모듈(module) </vt:lpstr>
      <vt:lpstr>3-1) 시간 모듈(module)의 sleep함수</vt:lpstr>
      <vt:lpstr>1) class(클래스)</vt:lpstr>
      <vt:lpstr>워밍업(함수 복습)</vt:lpstr>
      <vt:lpstr>1) class(클래스)</vt:lpstr>
      <vt:lpstr>2) class(클래스) 정의</vt:lpstr>
      <vt:lpstr>3) class에 method 추가하기</vt:lpstr>
      <vt:lpstr>method 살펴보기</vt:lpstr>
      <vt:lpstr>class 인스턴스를 통한 method 호출</vt:lpstr>
      <vt:lpstr>두번째 회원 정보를 저장?! 고고</vt:lpstr>
      <vt:lpstr>PowerPoint Presentation</vt:lpstr>
      <vt:lpstr>다른 method 추가해보기</vt:lpstr>
      <vt:lpstr>3)class(클래스) 생성자</vt:lpstr>
      <vt:lpstr>3)class(클래스) 생성자</vt:lpstr>
      <vt:lpstr>1) class(클래스)</vt:lpstr>
    </vt:vector>
  </TitlesOfParts>
  <Company/>
  <LinksUpToDate>false</LinksUpToDate>
  <SharedDoc>false</SharedDoc>
  <HyperlinksChanged>false</HyperlinksChanged>
  <AppVersion>16.0013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-1</dc:title>
  <dc:creator>김규란</dc:creator>
  <cp:lastModifiedBy>김규란</cp:lastModifiedBy>
  <cp:revision>83</cp:revision>
  <dcterms:created xsi:type="dcterms:W3CDTF">2018-04-22T09:09:03Z</dcterms:created>
  <dcterms:modified xsi:type="dcterms:W3CDTF">2018-05-22T06:24:51Z</dcterms:modified>
</cp:coreProperties>
</file>